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6"/>
  </p:notesMasterIdLst>
  <p:sldIdLst>
    <p:sldId id="11092478" r:id="rId4"/>
    <p:sldId id="8612023" r:id="rId5"/>
    <p:sldId id="11092479" r:id="rId7"/>
    <p:sldId id="8611924" r:id="rId8"/>
    <p:sldId id="8612025" r:id="rId9"/>
    <p:sldId id="8612026" r:id="rId10"/>
    <p:sldId id="8612027" r:id="rId11"/>
    <p:sldId id="8612028" r:id="rId12"/>
    <p:sldId id="8612015" r:id="rId13"/>
    <p:sldId id="8612029" r:id="rId14"/>
    <p:sldId id="8612030" r:id="rId15"/>
    <p:sldId id="8612031" r:id="rId16"/>
    <p:sldId id="8612032" r:id="rId17"/>
    <p:sldId id="8612004" r:id="rId18"/>
    <p:sldId id="8612033" r:id="rId19"/>
    <p:sldId id="8611926" r:id="rId20"/>
    <p:sldId id="8612034" r:id="rId21"/>
    <p:sldId id="8611962" r:id="rId22"/>
    <p:sldId id="8611963" r:id="rId23"/>
    <p:sldId id="8612035" r:id="rId24"/>
    <p:sldId id="8612036" r:id="rId25"/>
    <p:sldId id="8612037" r:id="rId26"/>
    <p:sldId id="8612038" r:id="rId27"/>
    <p:sldId id="8612039" r:id="rId28"/>
    <p:sldId id="8612042" r:id="rId29"/>
    <p:sldId id="8612043" r:id="rId30"/>
    <p:sldId id="8612040" r:id="rId31"/>
    <p:sldId id="8611975" r:id="rId32"/>
    <p:sldId id="8612044" r:id="rId33"/>
    <p:sldId id="8612045" r:id="rId34"/>
    <p:sldId id="8612046" r:id="rId35"/>
    <p:sldId id="8612021" r:id="rId36"/>
    <p:sldId id="8612047" r:id="rId37"/>
    <p:sldId id="8612048" r:id="rId38"/>
    <p:sldId id="8612082" r:id="rId39"/>
    <p:sldId id="8612049" r:id="rId40"/>
    <p:sldId id="8612050" r:id="rId41"/>
    <p:sldId id="8612083" r:id="rId42"/>
    <p:sldId id="8612052" r:id="rId43"/>
    <p:sldId id="8612053" r:id="rId44"/>
    <p:sldId id="8612084" r:id="rId45"/>
    <p:sldId id="8612057" r:id="rId46"/>
    <p:sldId id="8612024" r:id="rId47"/>
    <p:sldId id="8612060" r:id="rId48"/>
    <p:sldId id="8612061" r:id="rId49"/>
    <p:sldId id="8612062" r:id="rId50"/>
    <p:sldId id="8612063" r:id="rId51"/>
    <p:sldId id="8612085" r:id="rId52"/>
    <p:sldId id="8612086" r:id="rId53"/>
    <p:sldId id="8612087" r:id="rId54"/>
    <p:sldId id="8612088" r:id="rId55"/>
    <p:sldId id="8612089" r:id="rId56"/>
    <p:sldId id="8612069" r:id="rId57"/>
    <p:sldId id="8612099" r:id="rId58"/>
    <p:sldId id="8612100" r:id="rId59"/>
    <p:sldId id="8612101" r:id="rId60"/>
    <p:sldId id="8612102" r:id="rId61"/>
    <p:sldId id="8612103" r:id="rId62"/>
    <p:sldId id="8612104" r:id="rId63"/>
    <p:sldId id="8612105" r:id="rId64"/>
    <p:sldId id="8612081" r:id="rId65"/>
    <p:sldId id="8612091" r:id="rId66"/>
    <p:sldId id="8612095" r:id="rId67"/>
    <p:sldId id="8612092" r:id="rId68"/>
    <p:sldId id="8612093" r:id="rId69"/>
    <p:sldId id="8612094" r:id="rId70"/>
    <p:sldId id="8612097" r:id="rId71"/>
    <p:sldId id="8612098" r:id="rId72"/>
    <p:sldId id="8612096" r:id="rId73"/>
    <p:sldId id="8612090" r:id="rId7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4F4"/>
    <a:srgbClr val="E8EEFB"/>
    <a:srgbClr val="2A5FDC"/>
    <a:srgbClr val="285B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6233" autoAdjust="0"/>
  </p:normalViewPr>
  <p:slideViewPr>
    <p:cSldViewPr snapToGrid="0" showGuides="1">
      <p:cViewPr varScale="1">
        <p:scale>
          <a:sx n="67" d="100"/>
          <a:sy n="67" d="100"/>
        </p:scale>
        <p:origin x="644" y="4"/>
      </p:cViewPr>
      <p:guideLst>
        <p:guide pos="3840"/>
        <p:guide orient="horz" pos="2160"/>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3" d="100"/>
          <a:sy n="83" d="100"/>
        </p:scale>
        <p:origin x="3060" y="7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10E162-917F-4470-89CA-A6740450F91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2D64CF-A961-46B3-8FF9-433E2024C97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78E24B5-153F-49DD-8DC2-609C5B5A814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泛在智联是指通过先进的信息通信技术，实现人、机、物之间的广泛连接和智能化交互。它不仅仅是简单的连接，更是通过智能化的手段，使连接的设备和系统具备感知、分析、决策和执行的能力，从而形成一个高度智能化的网络环境。</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从发展亮点看，数字文化产业异军突起。文化新业态</a:t>
            </a:r>
            <a:endParaRPr lang="zh-CN" altLang="en-US" dirty="0"/>
          </a:p>
          <a:p>
            <a:r>
              <a:rPr lang="zh-CN" altLang="en-US" dirty="0"/>
              <a:t>特征较为明显的</a:t>
            </a:r>
            <a:r>
              <a:rPr lang="en-US" altLang="zh-CN" dirty="0"/>
              <a:t>16</a:t>
            </a:r>
            <a:r>
              <a:rPr lang="zh-CN" altLang="en-US" dirty="0"/>
              <a:t>个行业小类，实现营业收入</a:t>
            </a:r>
            <a:r>
              <a:rPr lang="en-US" altLang="zh-CN" dirty="0"/>
              <a:t>59082</a:t>
            </a:r>
            <a:r>
              <a:rPr lang="zh-CN" altLang="en-US" dirty="0"/>
              <a:t>亿元，比上年增长</a:t>
            </a:r>
            <a:r>
              <a:rPr lang="en-US" altLang="zh-CN" dirty="0"/>
              <a:t>9.8%</a:t>
            </a:r>
            <a:r>
              <a:rPr lang="zh-CN" altLang="en-US" dirty="0"/>
              <a:t>，快于全部规模以上文化企业</a:t>
            </a:r>
            <a:r>
              <a:rPr lang="en-US" altLang="zh-CN" dirty="0"/>
              <a:t>3.8</a:t>
            </a:r>
            <a:r>
              <a:rPr lang="zh-CN" altLang="en-US" dirty="0"/>
              <a:t>个百分点。其中，娱乐用智能无人飞行器制造、互联网广告服务、互联网文化娱乐平台、多媒体游戏动漫和数字出版软件开发、互联网搜索服务、其他文化艺术业等</a:t>
            </a:r>
            <a:r>
              <a:rPr lang="en-US" altLang="zh-CN" dirty="0"/>
              <a:t>6</a:t>
            </a:r>
            <a:r>
              <a:rPr lang="zh-CN" altLang="en-US" dirty="0"/>
              <a:t>个行业小类营业收入同比实现两位数增长。值得关注的是，国内游戏市场销售收入</a:t>
            </a:r>
            <a:r>
              <a:rPr lang="en-US" altLang="zh-CN" dirty="0"/>
              <a:t>3257.83</a:t>
            </a:r>
            <a:r>
              <a:rPr lang="zh-CN" altLang="en-US" dirty="0"/>
              <a:t>亿元，再创新高。</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数字化全面赋能农业农村现代化发展。从技术创新看，农业科技创新整体进入世界第一方阵。数字技术在优质种源共享、智能灌溉、智慧种植、智慧农田监管、畜牧风险管控等农业生产中的应用进一步拓展，无人机、物联网等新技术在农业生产中加快推广应用，农业大数据综合服务云平台加快构建，覆盖生产、加工、流通、销售等关键环节。从区域发展看，各地区运用人工智能、物联网、区块链存证及可视化交互等先进技术，充分盘活农业生产的数据要素，并同步构建农产品质量安全追溯体系，实现从种到销的全过程信息化监管，让数字化服务普惠千家万户。从发展亮点看，农村电商焕发创新活力。着力打造“农村电商</a:t>
            </a:r>
            <a:r>
              <a:rPr lang="en-US" altLang="zh-CN" dirty="0"/>
              <a:t>+</a:t>
            </a:r>
            <a:r>
              <a:rPr lang="zh-CN" altLang="en-US" dirty="0"/>
              <a:t>产业带”，提升农村电商产业链供应链韧性和协同效能。“数商兴农”打通“农产品上行”通道，商务部举行多场重点对接会聚合农业需求和产能，推动农村和农产品网络零售额分别达到</a:t>
            </a:r>
            <a:r>
              <a:rPr lang="en-US" altLang="zh-CN" dirty="0"/>
              <a:t>2.65 </a:t>
            </a:r>
            <a:r>
              <a:rPr lang="zh-CN" altLang="en-US" dirty="0"/>
              <a:t>万亿元和</a:t>
            </a:r>
            <a:r>
              <a:rPr lang="en-US" altLang="zh-CN" dirty="0"/>
              <a:t>0.68 </a:t>
            </a:r>
            <a:r>
              <a:rPr lang="zh-CN" altLang="en-US" dirty="0"/>
              <a:t>万亿元，同比分别增长</a:t>
            </a:r>
            <a:r>
              <a:rPr lang="en-US" altLang="zh-CN" dirty="0"/>
              <a:t>6.4%</a:t>
            </a:r>
            <a:r>
              <a:rPr lang="zh-CN" altLang="en-US" dirty="0"/>
              <a:t>和</a:t>
            </a:r>
            <a:r>
              <a:rPr lang="en-US" altLang="zh-CN" dirty="0"/>
              <a:t>15.8%</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u="none" strike="noStrike" baseline="0" dirty="0">
                <a:latin typeface="FZFSK--GBK1-0"/>
              </a:rPr>
              <a:t>数字经济投融资回升向好。数字技术产业投资增速回升。</a:t>
            </a:r>
            <a:r>
              <a:rPr lang="en-US" altLang="zh-CN" sz="1200" b="0" i="0" u="none" strike="noStrike" baseline="0" dirty="0">
                <a:latin typeface="TimesNewRomanPSMT"/>
              </a:rPr>
              <a:t>2024</a:t>
            </a:r>
            <a:r>
              <a:rPr lang="zh-CN" altLang="en-US" sz="1200" b="0" i="0" u="none" strike="noStrike" baseline="0" dirty="0">
                <a:latin typeface="FZFSK--GBK1-0"/>
              </a:rPr>
              <a:t>年，电子信息制造业投资同比增长</a:t>
            </a:r>
            <a:r>
              <a:rPr lang="en-US" altLang="zh-CN" sz="1200" b="0" i="0" u="none" strike="noStrike" baseline="0" dirty="0">
                <a:latin typeface="TimesNewRomanPSMT"/>
              </a:rPr>
              <a:t>12.0%</a:t>
            </a:r>
            <a:r>
              <a:rPr lang="zh-CN" altLang="en-US" sz="1200" b="0" i="0" u="none" strike="noStrike" baseline="0" dirty="0">
                <a:latin typeface="FZFSK--GBK1-0"/>
              </a:rPr>
              <a:t>，高出</a:t>
            </a:r>
            <a:r>
              <a:rPr lang="en-US" altLang="zh-CN" sz="1200" b="0" i="0" u="none" strike="noStrike" baseline="0" dirty="0">
                <a:latin typeface="TimesNewRomanPSMT"/>
              </a:rPr>
              <a:t>2024</a:t>
            </a:r>
            <a:r>
              <a:rPr lang="zh-CN" altLang="en-US" sz="1200" b="0" i="0" u="none" strike="noStrike" baseline="0" dirty="0">
                <a:latin typeface="FZFSK--GBK1-0"/>
              </a:rPr>
              <a:t>年全部固定资产投资增速</a:t>
            </a:r>
            <a:r>
              <a:rPr lang="en-US" altLang="zh-CN" sz="1200" b="0" i="0" u="none" strike="noStrike" baseline="0" dirty="0">
                <a:latin typeface="TimesNewRomanPSMT"/>
              </a:rPr>
              <a:t>8.8</a:t>
            </a:r>
            <a:r>
              <a:rPr lang="zh-CN" altLang="en-US" sz="1200" b="0" i="0" u="none" strike="noStrike" baseline="0" dirty="0">
                <a:latin typeface="FZFSK--GBK1-0"/>
              </a:rPr>
              <a:t>个百分点；信息服务业投资同比增长</a:t>
            </a:r>
            <a:r>
              <a:rPr lang="en-US" altLang="zh-CN" sz="1200" b="0" i="0" u="none" strike="noStrike" baseline="0" dirty="0">
                <a:latin typeface="TimesNewRomanPSMT"/>
              </a:rPr>
              <a:t>10.3%</a:t>
            </a:r>
            <a:r>
              <a:rPr lang="zh-CN" altLang="en-US" sz="1200" b="0" i="0" u="none" strike="noStrike" baseline="0" dirty="0">
                <a:latin typeface="FZFSK--GBK1-0"/>
              </a:rPr>
              <a:t>，高出</a:t>
            </a:r>
            <a:r>
              <a:rPr lang="en-US" altLang="zh-CN" sz="1200" b="0" i="0" u="none" strike="noStrike" baseline="0" dirty="0">
                <a:latin typeface="TimesNewRomanPSMT"/>
              </a:rPr>
              <a:t>2024</a:t>
            </a:r>
            <a:r>
              <a:rPr lang="zh-CN" altLang="en-US" sz="1200" b="0" i="0" u="none" strike="noStrike" baseline="0" dirty="0">
                <a:latin typeface="FZFSK--GBK1-0"/>
              </a:rPr>
              <a:t>年全部固定资产投资增速</a:t>
            </a:r>
            <a:r>
              <a:rPr lang="en-US" altLang="zh-CN" sz="1200" b="0" i="0" u="none" strike="noStrike" baseline="0" dirty="0">
                <a:latin typeface="TimesNewRomanPSMT"/>
              </a:rPr>
              <a:t>7.1</a:t>
            </a:r>
            <a:r>
              <a:rPr lang="zh-CN" altLang="en-US" sz="1200" b="0" i="0" u="none" strike="noStrike" baseline="0" dirty="0">
                <a:latin typeface="FZFSK--GBK1-0"/>
              </a:rPr>
              <a:t>个百分点。各地积极开展投融资活动，辽宁、四川设立数字经济专项资金，开展供需对接活动。新兴领域投融资持续活跃。“两重”“两新”政策拉动叠加年轻群体对</a:t>
            </a:r>
            <a:r>
              <a:rPr lang="zh-CN" altLang="en-US" dirty="0"/>
              <a:t>数字产品需求旺盛，推动市场信心和社会预期持续升温，带动人工智能等新兴领域保持较高投融资热度，为数字经济发展持续注入活力。</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数字医疗健康更加普惠可及。异地就医直接结算病种、机构扩围成效显著，门诊慢特病费用跨省直接结算病种由原来的</a:t>
            </a:r>
            <a:r>
              <a:rPr lang="en-US" altLang="zh-CN" dirty="0"/>
              <a:t>5</a:t>
            </a:r>
            <a:r>
              <a:rPr lang="zh-CN" altLang="en-US" dirty="0"/>
              <a:t>种扩大到</a:t>
            </a:r>
            <a:r>
              <a:rPr lang="en-US" altLang="zh-CN" dirty="0"/>
              <a:t>10</a:t>
            </a:r>
            <a:r>
              <a:rPr lang="zh-CN" altLang="en-US" dirty="0"/>
              <a:t>种。异地就医结算实现县域可及。截至</a:t>
            </a:r>
            <a:r>
              <a:rPr lang="en-US" altLang="zh-CN" dirty="0"/>
              <a:t>2024</a:t>
            </a:r>
            <a:r>
              <a:rPr lang="zh-CN" altLang="en-US" dirty="0"/>
              <a:t>年底，跨省联网定点医药机构达</a:t>
            </a:r>
            <a:r>
              <a:rPr lang="en-US" altLang="zh-CN" dirty="0"/>
              <a:t>64.4</a:t>
            </a:r>
            <a:r>
              <a:rPr lang="zh-CN" altLang="en-US" dirty="0"/>
              <a:t>万家，较</a:t>
            </a:r>
            <a:r>
              <a:rPr lang="en-US" altLang="zh-CN" dirty="0"/>
              <a:t>2023</a:t>
            </a:r>
            <a:r>
              <a:rPr lang="zh-CN" altLang="en-US" dirty="0"/>
              <a:t>年增长</a:t>
            </a:r>
            <a:r>
              <a:rPr lang="en-US" altLang="zh-CN" dirty="0"/>
              <a:t>17%</a:t>
            </a:r>
            <a:r>
              <a:rPr lang="zh-CN" altLang="en-US" dirty="0"/>
              <a:t>，其中跨省联网定点医疗机构</a:t>
            </a:r>
            <a:r>
              <a:rPr lang="en-US" altLang="zh-CN" dirty="0"/>
              <a:t>23.03</a:t>
            </a:r>
            <a:r>
              <a:rPr lang="zh-CN" altLang="en-US" dirty="0"/>
              <a:t>万家，跨省联网定点零售药店</a:t>
            </a:r>
            <a:r>
              <a:rPr lang="en-US" altLang="zh-CN" dirty="0"/>
              <a:t>41.37</a:t>
            </a:r>
            <a:r>
              <a:rPr lang="zh-CN" altLang="en-US" dirty="0"/>
              <a:t>万家。</a:t>
            </a:r>
            <a:r>
              <a:rPr lang="en-US" altLang="zh-CN" dirty="0"/>
              <a:t>2024</a:t>
            </a:r>
            <a:r>
              <a:rPr lang="zh-CN" altLang="en-US" dirty="0"/>
              <a:t>年，跨省异地就医直接结算人次达</a:t>
            </a:r>
            <a:r>
              <a:rPr lang="en-US" altLang="zh-CN" dirty="0"/>
              <a:t>2.38</a:t>
            </a:r>
            <a:r>
              <a:rPr lang="zh-CN" altLang="en-US" dirty="0"/>
              <a:t>亿，同比增长</a:t>
            </a:r>
            <a:r>
              <a:rPr lang="en-US" altLang="zh-CN" dirty="0"/>
              <a:t>84.7%</a:t>
            </a:r>
            <a:r>
              <a:rPr lang="zh-CN" altLang="en-US" dirty="0"/>
              <a:t>；住院费用跨省直接结算</a:t>
            </a:r>
            <a:r>
              <a:rPr lang="en-US" altLang="zh-CN" dirty="0"/>
              <a:t>1433.56</a:t>
            </a:r>
            <a:r>
              <a:rPr lang="zh-CN" altLang="en-US" dirty="0"/>
              <a:t>万人次，门诊费用跨省直接结算</a:t>
            </a:r>
            <a:r>
              <a:rPr lang="en-US" altLang="zh-CN" dirty="0"/>
              <a:t>2.24</a:t>
            </a:r>
            <a:r>
              <a:rPr lang="zh-CN" altLang="en-US" dirty="0"/>
              <a:t>亿人次。截至</a:t>
            </a:r>
            <a:r>
              <a:rPr lang="en-US" altLang="zh-CN" dirty="0"/>
              <a:t>2024</a:t>
            </a:r>
            <a:r>
              <a:rPr lang="zh-CN" altLang="en-US" dirty="0"/>
              <a:t>年</a:t>
            </a:r>
            <a:r>
              <a:rPr lang="en-US" altLang="zh-CN" dirty="0"/>
              <a:t>11</a:t>
            </a:r>
            <a:r>
              <a:rPr lang="zh-CN" altLang="en-US" dirty="0"/>
              <a:t>月，全国有</a:t>
            </a:r>
            <a:r>
              <a:rPr lang="en-US" altLang="zh-CN" dirty="0"/>
              <a:t>24</a:t>
            </a:r>
            <a:r>
              <a:rPr lang="zh-CN" altLang="en-US" dirty="0"/>
              <a:t>个省份医疗机构检查检验结果互认项目超过</a:t>
            </a:r>
            <a:r>
              <a:rPr lang="en-US" altLang="zh-CN" dirty="0"/>
              <a:t>100</a:t>
            </a:r>
            <a:r>
              <a:rPr lang="zh-CN" altLang="en-US" dirty="0"/>
              <a:t>项。线上医保购药和医疗大模型创新不断提升互联网医疗服务水平。截至</a:t>
            </a:r>
            <a:r>
              <a:rPr lang="en-US" altLang="zh-CN" dirty="0"/>
              <a:t>2024</a:t>
            </a:r>
            <a:r>
              <a:rPr lang="zh-CN" altLang="en-US" dirty="0"/>
              <a:t>年底，互联网医疗用户规模达</a:t>
            </a:r>
            <a:r>
              <a:rPr lang="en-US" altLang="zh-CN" dirty="0"/>
              <a:t>4.18</a:t>
            </a:r>
            <a:r>
              <a:rPr lang="zh-CN" altLang="en-US" dirty="0"/>
              <a:t>亿人，同比增长</a:t>
            </a:r>
            <a:r>
              <a:rPr lang="en-US" altLang="zh-CN" dirty="0"/>
              <a:t>372</a:t>
            </a:r>
            <a:r>
              <a:rPr lang="zh-CN" altLang="en-US" dirty="0"/>
              <a:t>万人，占网民整体的</a:t>
            </a:r>
            <a:r>
              <a:rPr lang="en-US" altLang="zh-CN" dirty="0"/>
              <a:t>37.7%</a:t>
            </a:r>
            <a:r>
              <a:rPr lang="zh-CN" altLang="en-US" dirty="0"/>
              <a:t>；互联网医院达</a:t>
            </a:r>
            <a:r>
              <a:rPr lang="en-US" altLang="zh-CN" dirty="0"/>
              <a:t>3340</a:t>
            </a:r>
            <a:r>
              <a:rPr lang="zh-CN" altLang="en-US" dirty="0"/>
              <a:t>所，每年提供互联网诊疗服务量超</a:t>
            </a:r>
            <a:r>
              <a:rPr lang="en-US" altLang="zh-CN" dirty="0"/>
              <a:t>1</a:t>
            </a:r>
            <a:r>
              <a:rPr lang="zh-CN" altLang="en-US" dirty="0"/>
              <a:t>亿诊疗人次。远程医疗服务网络覆盖所有市县，并向社区和乡村基层延伸覆盖，全国</a:t>
            </a:r>
            <a:r>
              <a:rPr lang="en-US" altLang="zh-CN" dirty="0"/>
              <a:t>70%</a:t>
            </a:r>
            <a:r>
              <a:rPr lang="zh-CN" altLang="en-US" dirty="0"/>
              <a:t>的卫生院和上级医院建立远程医疗协作关系</a:t>
            </a:r>
            <a:r>
              <a:rPr lang="en-US" altLang="zh-CN" dirty="0"/>
              <a:t>[56]</a:t>
            </a:r>
            <a:r>
              <a:rPr lang="zh-CN" altLang="en-US" dirty="0"/>
              <a:t>。医保领域第一批“高效办成一件事”</a:t>
            </a:r>
            <a:r>
              <a:rPr lang="en-US" altLang="zh-CN" dirty="0"/>
              <a:t>12</a:t>
            </a:r>
            <a:r>
              <a:rPr lang="zh-CN" altLang="en-US" dirty="0"/>
              <a:t>件重点事项全部完成。医保基金数字化监管不断强化，通过智能监管子系统挽回医保基金损失</a:t>
            </a:r>
            <a:r>
              <a:rPr lang="en-US" altLang="zh-CN" dirty="0"/>
              <a:t>31</a:t>
            </a:r>
            <a:r>
              <a:rPr lang="zh-CN" altLang="en-US" dirty="0"/>
              <a:t>亿元</a:t>
            </a:r>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r>
              <a:rPr lang="zh-CN" altLang="en-US" dirty="0"/>
              <a:t> **关键路径**               	 **政策支持**                                                                 	 **实施路径**                                                                 	</a:t>
            </a:r>
            <a:endParaRPr lang="zh-CN" altLang="en-US" dirty="0"/>
          </a:p>
          <a:p>
            <a:r>
              <a:rPr lang="zh-CN" altLang="en-US" dirty="0"/>
              <a:t> **加强数字基础设施建设**   	 </a:t>
            </a:r>
            <a:r>
              <a:rPr lang="en-US" altLang="zh-CN" dirty="0"/>
              <a:t>《“</a:t>
            </a:r>
            <a:r>
              <a:rPr lang="zh-CN" altLang="en-US" dirty="0"/>
              <a:t>十四五”数字经济发展规划</a:t>
            </a:r>
            <a:r>
              <a:rPr lang="en-US" altLang="zh-CN" dirty="0"/>
              <a:t>》</a:t>
            </a:r>
            <a:r>
              <a:rPr lang="zh-CN" altLang="en-US" dirty="0"/>
              <a:t>提出加快信息网络基础设施建设，推进云网协同和算网融合发展。 	 统筹“东数西算”工程与城市算力建设，优化算力资源布局，推动国家数据基础设施建设，完善统一标准规范。 	</a:t>
            </a:r>
            <a:endParaRPr lang="zh-CN" altLang="en-US" dirty="0"/>
          </a:p>
          <a:p>
            <a:r>
              <a:rPr lang="zh-CN" altLang="en-US" dirty="0"/>
              <a:t> **推动数字产业化**         	 </a:t>
            </a:r>
            <a:r>
              <a:rPr lang="en-US" altLang="zh-CN" dirty="0"/>
              <a:t>《“</a:t>
            </a:r>
            <a:r>
              <a:rPr lang="zh-CN" altLang="en-US" dirty="0"/>
              <a:t>十四五”数字经济发展规划</a:t>
            </a:r>
            <a:r>
              <a:rPr lang="en-US" altLang="zh-CN" dirty="0"/>
              <a:t>》</a:t>
            </a:r>
            <a:r>
              <a:rPr lang="zh-CN" altLang="en-US" dirty="0"/>
              <a:t>强调提升核心产业竞争力，培育壮大人工智能、大数据、区块链等新兴产业。 	 加大对数字技术研发投入，支持数字企业创新，培育数字经济产业集群，推动数字技术与实体经济深度融合。 	</a:t>
            </a:r>
            <a:endParaRPr lang="zh-CN" altLang="en-US" dirty="0"/>
          </a:p>
          <a:p>
            <a:r>
              <a:rPr lang="zh-CN" altLang="en-US" dirty="0"/>
              <a:t> **推进产业数字化转型**     	 </a:t>
            </a:r>
            <a:r>
              <a:rPr lang="en-US" altLang="zh-CN" dirty="0"/>
              <a:t>《</a:t>
            </a:r>
            <a:r>
              <a:rPr lang="zh-CN" altLang="en-US" dirty="0"/>
              <a:t>关于深化新一代信息技术与制造业融合发展的指导意见</a:t>
            </a:r>
            <a:r>
              <a:rPr lang="en-US" altLang="zh-CN" dirty="0"/>
              <a:t>》</a:t>
            </a:r>
            <a:r>
              <a:rPr lang="zh-CN" altLang="en-US" dirty="0"/>
              <a:t>提出加快制造业数字化转型。 	 推动传统制造业企业数字化改造，鼓励企业上云上平台，支持工业互联网平台建设，推广智能制造模式。 	</a:t>
            </a:r>
            <a:endParaRPr lang="zh-CN" altLang="en-US" dirty="0"/>
          </a:p>
          <a:p>
            <a:r>
              <a:rPr lang="zh-CN" altLang="en-US" dirty="0"/>
              <a:t> **促进数据要素市场化**     	 </a:t>
            </a:r>
            <a:r>
              <a:rPr lang="en-US" altLang="zh-CN" dirty="0"/>
              <a:t>《</a:t>
            </a:r>
            <a:r>
              <a:rPr lang="zh-CN" altLang="en-US" dirty="0"/>
              <a:t>关于构建更加完善的要素市场化配置体制机制的意见</a:t>
            </a:r>
            <a:r>
              <a:rPr lang="en-US" altLang="zh-CN" dirty="0"/>
              <a:t>》</a:t>
            </a:r>
            <a:r>
              <a:rPr lang="zh-CN" altLang="en-US" dirty="0"/>
              <a:t>提出加快培育数据要素市场。 	 建立健全数据产权制度，完善数据交易规则和监管机制，推动公共数据开放共享，促进数据要素流通。 	</a:t>
            </a:r>
            <a:endParaRPr lang="zh-CN" altLang="en-US" dirty="0"/>
          </a:p>
          <a:p>
            <a:r>
              <a:rPr lang="zh-CN" altLang="en-US" dirty="0"/>
              <a:t> **加强数字技术创新**       	</a:t>
            </a:r>
            <a:r>
              <a:rPr lang="en-US" altLang="zh-CN" dirty="0"/>
              <a:t>《 “</a:t>
            </a:r>
            <a:r>
              <a:rPr lang="zh-CN" altLang="en-US" dirty="0"/>
              <a:t>十四五”国家科技创新规划</a:t>
            </a:r>
            <a:r>
              <a:rPr lang="en-US" altLang="zh-CN" dirty="0"/>
              <a:t>》</a:t>
            </a:r>
            <a:r>
              <a:rPr lang="zh-CN" altLang="en-US" dirty="0"/>
              <a:t>提出加强数字技术领域关键核心技术攻关。 	 鼓励高校、科研机构与企业合作，开展前沿数字技术研发，支持开源社区发展，培养数字技术人才。 	</a:t>
            </a:r>
            <a:endParaRPr lang="zh-CN" altLang="en-US" dirty="0"/>
          </a:p>
          <a:p>
            <a:r>
              <a:rPr lang="zh-CN" altLang="en-US" dirty="0"/>
              <a:t> **提升数字公共服务水平**   	 </a:t>
            </a:r>
            <a:r>
              <a:rPr lang="en-US" altLang="zh-CN" dirty="0"/>
              <a:t>《</a:t>
            </a:r>
            <a:r>
              <a:rPr lang="zh-CN" altLang="en-US" dirty="0"/>
              <a:t>数字中国建设发展报告</a:t>
            </a:r>
            <a:r>
              <a:rPr lang="en-US" altLang="zh-CN" dirty="0"/>
              <a:t>》</a:t>
            </a:r>
            <a:r>
              <a:rPr lang="zh-CN" altLang="en-US" dirty="0"/>
              <a:t>提出提升数字政府和数字社会建设水平。 	 推进政务服务数字化，优化政务服务流程，建设智慧城市和数字乡村，提升公共服务智能化水平。 	</a:t>
            </a:r>
            <a:endParaRPr lang="zh-CN" altLang="en-US" dirty="0"/>
          </a:p>
          <a:p>
            <a:r>
              <a:rPr lang="zh-CN" altLang="en-US" dirty="0"/>
              <a:t> **强化数字经济安全保障**   	 </a:t>
            </a:r>
            <a:r>
              <a:rPr lang="en-US" altLang="zh-CN" dirty="0"/>
              <a:t>《</a:t>
            </a:r>
            <a:r>
              <a:rPr lang="zh-CN" altLang="en-US" dirty="0"/>
              <a:t>网络安全法</a:t>
            </a:r>
            <a:r>
              <a:rPr lang="en-US" altLang="zh-CN" dirty="0"/>
              <a:t>》《</a:t>
            </a:r>
            <a:r>
              <a:rPr lang="zh-CN" altLang="en-US" dirty="0"/>
              <a:t>数据安全法</a:t>
            </a:r>
            <a:r>
              <a:rPr lang="en-US" altLang="zh-CN" dirty="0"/>
              <a:t>》《</a:t>
            </a:r>
            <a:r>
              <a:rPr lang="zh-CN" altLang="en-US" dirty="0"/>
              <a:t>个人信息保护法</a:t>
            </a:r>
            <a:r>
              <a:rPr lang="en-US" altLang="zh-CN" dirty="0"/>
              <a:t>》</a:t>
            </a:r>
            <a:r>
              <a:rPr lang="zh-CN" altLang="en-US" dirty="0"/>
              <a:t>等法律法规为数字经济安全提供保障。 	 加强网络安全防护能力建设，完善数据安全管理制度，推动信息安全产业发展，保障数字经济安全稳定运行。 	</a:t>
            </a:r>
            <a:endParaRPr lang="zh-CN" altLang="en-US" dirty="0"/>
          </a:p>
        </p:txBody>
      </p:sp>
      <p:sp>
        <p:nvSpPr>
          <p:cNvPr id="4" name="灯片编号占位符 3"/>
          <p:cNvSpPr>
            <a:spLocks noGrp="1"/>
          </p:cNvSpPr>
          <p:nvPr>
            <p:ph type="sldNum" sz="quarter" idx="5"/>
          </p:nvPr>
        </p:nvSpPr>
        <p:spPr/>
        <p:txBody>
          <a:bodyPr/>
          <a:lstStyle/>
          <a:p>
            <a:fld id="{4A2D64CF-A961-46B3-8FF9-433E2024C97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C0ED3C0-697D-4A5D-A775-6C5D3086245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D60F47-21BC-4237-90B5-D9D8F019EA9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C0ED3C0-697D-4A5D-A775-6C5D3086245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CD60F47-21BC-4237-90B5-D9D8F019EA9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C0ED3C0-697D-4A5D-A775-6C5D3086245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D60F47-21BC-4237-90B5-D9D8F019EA9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C0ED3C0-697D-4A5D-A775-6C5D3086245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CD60F47-21BC-4237-90B5-D9D8F019EA9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C0ED3C0-697D-4A5D-A775-6C5D3086245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D60F47-21BC-4237-90B5-D9D8F019EA9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C0ED3C0-697D-4A5D-A775-6C5D3086245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D60F47-21BC-4237-90B5-D9D8F019EA9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C0ED3C0-697D-4A5D-A775-6C5D3086245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D60F47-21BC-4237-90B5-D9D8F019EA9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C0ED3C0-697D-4A5D-A775-6C5D3086245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D60F47-21BC-4237-90B5-D9D8F019EA9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6" name="矩形 5"/>
          <p:cNvSpPr/>
          <p:nvPr userDrawn="1"/>
        </p:nvSpPr>
        <p:spPr>
          <a:xfrm>
            <a:off x="325841" y="386072"/>
            <a:ext cx="368670" cy="368670"/>
          </a:xfrm>
          <a:prstGeom prst="rect">
            <a:avLst/>
          </a:prstGeom>
          <a:solidFill>
            <a:srgbClr val="0067A4"/>
          </a:solidFill>
          <a:ln>
            <a:noFill/>
          </a:ln>
          <a:effectLst>
            <a:outerShdw blurRad="1016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321128" y="896256"/>
            <a:ext cx="11522529" cy="0"/>
          </a:xfrm>
          <a:prstGeom prst="line">
            <a:avLst/>
          </a:prstGeom>
          <a:ln w="12700">
            <a:solidFill>
              <a:schemeClr val="bg1">
                <a:lumMod val="65000"/>
                <a:alpha val="31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3000">
        <p:fade/>
      </p:transition>
    </mc:Choice>
    <mc:Fallback>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8BEF044-0632-4DEB-B8DE-C28EE6C88E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5F16C1C-BECD-47B1-B753-E10872E1B8F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0ED3C0-697D-4A5D-A775-6C5D3086245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D60F47-21BC-4237-90B5-D9D8F019EA9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BEF044-0632-4DEB-B8DE-C28EE6C88E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F16C1C-BECD-47B1-B753-E10872E1B8F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7.xml"/><Relationship Id="rId6" Type="http://schemas.openxmlformats.org/officeDocument/2006/relationships/tags" Target="../tags/tag10.xml"/><Relationship Id="rId5" Type="http://schemas.openxmlformats.org/officeDocument/2006/relationships/image" Target="../media/image3.jpeg"/><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4.jpeg"/><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xml"/><Relationship Id="rId1" Type="http://schemas.openxmlformats.org/officeDocument/2006/relationships/tags" Target="../tags/tag2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2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9.xml"/><Relationship Id="rId6" Type="http://schemas.openxmlformats.org/officeDocument/2006/relationships/tags" Target="../tags/tag42.xml"/><Relationship Id="rId5" Type="http://schemas.openxmlformats.org/officeDocument/2006/relationships/image" Target="../media/image3.jpeg"/><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tags" Target="../tags/tag47.xml"/><Relationship Id="rId5" Type="http://schemas.openxmlformats.org/officeDocument/2006/relationships/image" Target="../media/image3.jpeg"/><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tags" Target="../tags/tag49.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7.xml"/><Relationship Id="rId6" Type="http://schemas.openxmlformats.org/officeDocument/2006/relationships/tags" Target="../tags/tag53.xml"/><Relationship Id="rId5" Type="http://schemas.openxmlformats.org/officeDocument/2006/relationships/image" Target="../media/image3.jpeg"/><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8.jpeg"/><Relationship Id="rId2" Type="http://schemas.openxmlformats.org/officeDocument/2006/relationships/tags" Target="../tags/tag55.xml"/><Relationship Id="rId1" Type="http://schemas.openxmlformats.org/officeDocument/2006/relationships/tags" Target="../tags/tag54.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tags" Target="../tags/tag5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jpeg"/><Relationship Id="rId1" Type="http://schemas.openxmlformats.org/officeDocument/2006/relationships/tags" Target="../tags/tag57.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2.xml"/><Relationship Id="rId1" Type="http://schemas.openxmlformats.org/officeDocument/2006/relationships/image" Target="../media/image11.jpe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82.xml"/><Relationship Id="rId1" Type="http://schemas.openxmlformats.org/officeDocument/2006/relationships/image" Target="../media/image13.jpe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4.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5.jpe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6.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8.png"/><Relationship Id="rId1" Type="http://schemas.openxmlformats.org/officeDocument/2006/relationships/image" Target="../media/image1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9.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95.xml"/><Relationship Id="rId1" Type="http://schemas.openxmlformats.org/officeDocument/2006/relationships/image" Target="../media/image20.jpe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4.xml"/><Relationship Id="rId2" Type="http://schemas.openxmlformats.org/officeDocument/2006/relationships/tags" Target="../tags/tag96.xml"/><Relationship Id="rId1" Type="http://schemas.openxmlformats.org/officeDocument/2006/relationships/image" Target="../media/image21.jpe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4.xml"/><Relationship Id="rId2" Type="http://schemas.openxmlformats.org/officeDocument/2006/relationships/tags" Target="../tags/tag97.xml"/><Relationship Id="rId1" Type="http://schemas.openxmlformats.org/officeDocument/2006/relationships/image" Target="../media/image22.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4.xml"/><Relationship Id="rId2" Type="http://schemas.openxmlformats.org/officeDocument/2006/relationships/tags" Target="../tags/tag98.xml"/><Relationship Id="rId1" Type="http://schemas.openxmlformats.org/officeDocument/2006/relationships/image" Target="../media/image23.jpe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4.xml"/><Relationship Id="rId2" Type="http://schemas.openxmlformats.org/officeDocument/2006/relationships/tags" Target="../tags/tag114.xml"/><Relationship Id="rId1" Type="http://schemas.openxmlformats.org/officeDocument/2006/relationships/image" Target="../media/image24.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hyperlink" Target="http://www.news.cn/politics/20240206/2b4f0f28353547659a120b9d8d50fb3c/c.html" TargetMode="External"/><Relationship Id="rId1" Type="http://schemas.openxmlformats.org/officeDocument/2006/relationships/hyperlink" Target="https://news.sina.com.cn/zx/gj/2024-12-01/doc-incxwqye7203708.shtml" TargetMode="Externa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hyperlink" Target="http://www.news.cn/politics/20240206/2b4f0f28353547659a120b9d8d50fb3c/c.html" TargetMode="External"/><Relationship Id="rId2" Type="http://schemas.openxmlformats.org/officeDocument/2006/relationships/hyperlink" Target="https://news.sina.com.cn/zx/gj/2024-12-01/doc-incxwqye7203708.shtml" TargetMode="External"/><Relationship Id="rId1" Type="http://schemas.openxmlformats.org/officeDocument/2006/relationships/hyperlink" Target="http://www.changtai.gov.cn/cms/siteresource/article.shtml?id=830569132770740004&amp;siteId=60426226332790001"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hyperlink" Target="http://www.ce.cn/xwzx/gnsz/gdxw/202401/25/t20240125_38879687.shtml" TargetMode="External"/><Relationship Id="rId3" Type="http://schemas.openxmlformats.org/officeDocument/2006/relationships/hyperlink" Target="http://www.jccq.gov.cn/mobile/zwzx_mobile/sxyw_mobile/202504/t20250421_2132250.shtml" TargetMode="External"/><Relationship Id="rId2" Type="http://schemas.openxmlformats.org/officeDocument/2006/relationships/hyperlink" Target="http://www.news.cn/politics/20240206/2b4f0f28353547659a120b9d8d50fb3c/c.html" TargetMode="External"/><Relationship Id="rId1" Type="http://schemas.openxmlformats.org/officeDocument/2006/relationships/hyperlink" Target="https://www.chinanews.com/ll/2024/01-23/10151063.shtml" TargetMode="Externa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hyperlink" Target="http://www.jccq.gov.cn/mobile/zwzx_mobile/sxyw_mobile/202504/t20250421_2132250.shtml" TargetMode="External"/><Relationship Id="rId2" Type="http://schemas.openxmlformats.org/officeDocument/2006/relationships/hyperlink" Target="https://finance.sina.com.cn/jjxw/2025-05-15/doc-inewrqqc5413026.shtml" TargetMode="External"/><Relationship Id="rId1" Type="http://schemas.openxmlformats.org/officeDocument/2006/relationships/hyperlink" Target="http://www.news.cn/politics/20240206/2b4f0f28353547659a120b9d8d50fb3c/c.html" TargetMode="External"/></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hyperlink" Target="http://www.news.cn/politics/20240206/2b4f0f28353547659a120b9d8d50fb3c/c.html" TargetMode="External"/><Relationship Id="rId2" Type="http://schemas.openxmlformats.org/officeDocument/2006/relationships/hyperlink" Target="http://www.ce.cn/xwzx/gnsz/gdxw/202401/25/t20240125_38879687.shtml" TargetMode="External"/><Relationship Id="rId1" Type="http://schemas.openxmlformats.org/officeDocument/2006/relationships/hyperlink" Target="https://www.chinanews.com/ll/2024/01-23/10151063.shtml" TargetMode="Externa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hyperlink" Target="https://www.itangsoft.com/baike/show-1908111.html" TargetMode="External"/><Relationship Id="rId3" Type="http://schemas.openxmlformats.org/officeDocument/2006/relationships/hyperlink" Target="http://www.360doc.com/content/23/0724/06/26934091_1089798827.shtml" TargetMode="External"/><Relationship Id="rId2" Type="http://schemas.openxmlformats.org/officeDocument/2006/relationships/hyperlink" Target="https://www.sohu.com/a/847575713_122168136" TargetMode="External"/><Relationship Id="rId1" Type="http://schemas.openxmlformats.org/officeDocument/2006/relationships/hyperlink" Target="https://news.qq.com/rain/a/20240328A03E2000" TargetMode="Externa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hyperlink" Target="https://m.jinchutou.com/shtml/view-574246086.html" TargetMode="External"/><Relationship Id="rId1" Type="http://schemas.openxmlformats.org/officeDocument/2006/relationships/hyperlink" Target="https://www.sohu.com/a/847575713_122168136" TargetMode="External"/></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hyperlink" Target="https://www.sohu.com/a/847575713_122168136" TargetMode="External"/><Relationship Id="rId3" Type="http://schemas.openxmlformats.org/officeDocument/2006/relationships/hyperlink" Target="https://blog.csdn.net/JiYan_blue/article/details/139165328" TargetMode="External"/><Relationship Id="rId2" Type="http://schemas.openxmlformats.org/officeDocument/2006/relationships/hyperlink" Target="https://m.jinchutou.com/shtml/view-574246086.html" TargetMode="External"/><Relationship Id="rId1" Type="http://schemas.openxmlformats.org/officeDocument/2006/relationships/hyperlink" Target="http://www.360doc.com/content/23/0724/06/26934091_1089798827.shtml" TargetMode="Externa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hyperlink" Target="https://www.sohu.com/a/847575713_122168136" TargetMode="External"/><Relationship Id="rId1" Type="http://schemas.openxmlformats.org/officeDocument/2006/relationships/hyperlink" Target="https://news.qq.com/rain/a/20240328A03E2000" TargetMode="Externa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hyperlink" Target="http://www.360doc.com/content/23/0724/06/26934091_1089798827.shtml" TargetMode="External"/><Relationship Id="rId1" Type="http://schemas.openxmlformats.org/officeDocument/2006/relationships/hyperlink" Target="https://www.sohu.com/a/847575713_122168136" TargetMode="External"/></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hyperlink" Target="https://www.cnrencai.com/lunwen/cankaowenxian/867118.html" TargetMode="External"/><Relationship Id="rId3" Type="http://schemas.openxmlformats.org/officeDocument/2006/relationships/hyperlink" Target="https://www.lunwenfw.com/article/e1cc250e2cca3fda30c46cf4.html" TargetMode="External"/><Relationship Id="rId2" Type="http://schemas.openxmlformats.org/officeDocument/2006/relationships/hyperlink" Target="https://www.taodocs.com/p-1001883432.html" TargetMode="External"/><Relationship Id="rId1" Type="http://schemas.openxmlformats.org/officeDocument/2006/relationships/hyperlink" Target="https://wenku.baidu.com/aggs/b72e7e1aff00bed5b9f31df0.html" TargetMode="Externa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hyperlink" Target="https://www.cnrencai.com/lunwen/cankaowenxian/867118.html" TargetMode="External"/><Relationship Id="rId2" Type="http://schemas.openxmlformats.org/officeDocument/2006/relationships/hyperlink" Target="https://www.taodocs.com/p-1001883432.html" TargetMode="External"/><Relationship Id="rId1" Type="http://schemas.openxmlformats.org/officeDocument/2006/relationships/hyperlink" Target="https://wenku.baidu.com/aggs/b72e7e1aff00bed5b9f31df0.html" TargetMode="External"/></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hyperlink" Target="https://blog.csdn.net/JiYan_blue/article/details/139165328" TargetMode="External"/><Relationship Id="rId2" Type="http://schemas.openxmlformats.org/officeDocument/2006/relationships/hyperlink" Target="https://www.sohu.com/a/847575713_122168136" TargetMode="External"/><Relationship Id="rId1" Type="http://schemas.openxmlformats.org/officeDocument/2006/relationships/hyperlink" Target="https://m.jinchutou.com/shtml/view-574246086.html" TargetMode="External"/></Relationships>
</file>

<file path=ppt/slides/_rels/slide70.xml.rels><?xml version="1.0" encoding="UTF-8" standalone="yes"?>
<Relationships xmlns="http://schemas.openxmlformats.org/package/2006/relationships"><Relationship Id="rId8" Type="http://schemas.openxmlformats.org/officeDocument/2006/relationships/slideLayout" Target="../slideLayouts/slideLayout19.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p:cNvSpPr/>
          <p:nvPr/>
        </p:nvSpPr>
        <p:spPr>
          <a:xfrm rot="16200000">
            <a:off x="2466975" y="-2714624"/>
            <a:ext cx="7258056" cy="12191999"/>
          </a:xfrm>
          <a:custGeom>
            <a:avLst/>
            <a:gdLst>
              <a:gd name="connsiteX0" fmla="*/ 0 w 7207250"/>
              <a:gd name="connsiteY0" fmla="*/ 0 h 6858000"/>
              <a:gd name="connsiteX1" fmla="*/ 7207250 w 7207250"/>
              <a:gd name="connsiteY1" fmla="*/ 0 h 6858000"/>
              <a:gd name="connsiteX2" fmla="*/ 7155651 w 7207250"/>
              <a:gd name="connsiteY2" fmla="*/ 133246 h 6858000"/>
              <a:gd name="connsiteX3" fmla="*/ 6651625 w 7207250"/>
              <a:gd name="connsiteY3" fmla="*/ 3429000 h 6858000"/>
              <a:gd name="connsiteX4" fmla="*/ 7155651 w 7207250"/>
              <a:gd name="connsiteY4" fmla="*/ 6724754 h 6858000"/>
              <a:gd name="connsiteX5" fmla="*/ 7207250 w 7207250"/>
              <a:gd name="connsiteY5" fmla="*/ 6858000 h 6858000"/>
              <a:gd name="connsiteX6" fmla="*/ 0 w 7207250"/>
              <a:gd name="connsiteY6" fmla="*/ 6858000 h 6858000"/>
              <a:gd name="connsiteX7" fmla="*/ 51600 w 7207250"/>
              <a:gd name="connsiteY7" fmla="*/ 6724754 h 6858000"/>
              <a:gd name="connsiteX8" fmla="*/ 555625 w 7207250"/>
              <a:gd name="connsiteY8" fmla="*/ 3429000 h 6858000"/>
              <a:gd name="connsiteX9" fmla="*/ 51600 w 7207250"/>
              <a:gd name="connsiteY9" fmla="*/ 133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07250" h="6858000">
                <a:moveTo>
                  <a:pt x="0" y="0"/>
                </a:moveTo>
                <a:lnTo>
                  <a:pt x="7207250" y="0"/>
                </a:lnTo>
                <a:lnTo>
                  <a:pt x="7155651" y="133246"/>
                </a:lnTo>
                <a:cubicBezTo>
                  <a:pt x="6844238" y="976703"/>
                  <a:pt x="6651625" y="2141928"/>
                  <a:pt x="6651625" y="3429000"/>
                </a:cubicBezTo>
                <a:cubicBezTo>
                  <a:pt x="6651625" y="4716072"/>
                  <a:pt x="6844238" y="5881297"/>
                  <a:pt x="7155651" y="6724754"/>
                </a:cubicBezTo>
                <a:lnTo>
                  <a:pt x="7207250" y="6858000"/>
                </a:lnTo>
                <a:lnTo>
                  <a:pt x="0" y="6858000"/>
                </a:lnTo>
                <a:lnTo>
                  <a:pt x="51600" y="6724754"/>
                </a:lnTo>
                <a:cubicBezTo>
                  <a:pt x="363013" y="5881297"/>
                  <a:pt x="555625" y="4716072"/>
                  <a:pt x="555625" y="3429000"/>
                </a:cubicBezTo>
                <a:cubicBezTo>
                  <a:pt x="555625" y="2141928"/>
                  <a:pt x="363013" y="976703"/>
                  <a:pt x="51600" y="133246"/>
                </a:cubicBezTo>
                <a:close/>
              </a:path>
            </a:pathLst>
          </a:custGeom>
          <a:solidFill>
            <a:srgbClr val="293C43">
              <a:alpha val="12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34" name="图片 33"/>
          <p:cNvPicPr>
            <a:picLocks noChangeAspect="1"/>
          </p:cNvPicPr>
          <p:nvPr/>
        </p:nvPicPr>
        <p:blipFill>
          <a:blip r:embed="rId1">
            <a:extLst>
              <a:ext uri="{28A0092B-C50C-407E-A947-70E740481C1C}">
                <a14:useLocalDpi xmlns:a14="http://schemas.microsoft.com/office/drawing/2010/main" val="0"/>
              </a:ext>
            </a:extLst>
          </a:blip>
          <a:srcRect t="6095" b="6095"/>
          <a:stretch>
            <a:fillRect/>
          </a:stretch>
        </p:blipFill>
        <p:spPr>
          <a:xfrm>
            <a:off x="2" y="241302"/>
            <a:ext cx="12191999" cy="6375396"/>
          </a:xfrm>
          <a:custGeom>
            <a:avLst/>
            <a:gdLst>
              <a:gd name="connsiteX0" fmla="*/ 12191999 w 12191999"/>
              <a:gd name="connsiteY0" fmla="*/ 0 h 6375396"/>
              <a:gd name="connsiteX1" fmla="*/ 11955117 w 12191999"/>
              <a:gd name="connsiteY1" fmla="*/ 45643 h 6375396"/>
              <a:gd name="connsiteX2" fmla="*/ 6096000 w 12191999"/>
              <a:gd name="connsiteY2" fmla="*/ 491495 h 6375396"/>
              <a:gd name="connsiteX3" fmla="*/ 236882 w 12191999"/>
              <a:gd name="connsiteY3" fmla="*/ 45643 h 6375396"/>
              <a:gd name="connsiteX4" fmla="*/ 0 w 12191999"/>
              <a:gd name="connsiteY4" fmla="*/ 0 h 6375396"/>
              <a:gd name="connsiteX5" fmla="*/ 0 w 12191999"/>
              <a:gd name="connsiteY5" fmla="*/ 6375396 h 6375396"/>
              <a:gd name="connsiteX6" fmla="*/ 8 w 12191999"/>
              <a:gd name="connsiteY6" fmla="*/ 6375396 h 6375396"/>
              <a:gd name="connsiteX7" fmla="*/ 236882 w 12191999"/>
              <a:gd name="connsiteY7" fmla="*/ 6329753 h 6375396"/>
              <a:gd name="connsiteX8" fmla="*/ 6096000 w 12191999"/>
              <a:gd name="connsiteY8" fmla="*/ 5883902 h 6375396"/>
              <a:gd name="connsiteX9" fmla="*/ 11955117 w 12191999"/>
              <a:gd name="connsiteY9" fmla="*/ 6329753 h 6375396"/>
              <a:gd name="connsiteX10" fmla="*/ 12191991 w 12191999"/>
              <a:gd name="connsiteY10" fmla="*/ 6375396 h 6375396"/>
              <a:gd name="connsiteX11" fmla="*/ 12191999 w 12191999"/>
              <a:gd name="connsiteY11" fmla="*/ 6375396 h 637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1999" h="6375396">
                <a:moveTo>
                  <a:pt x="12191999" y="0"/>
                </a:moveTo>
                <a:lnTo>
                  <a:pt x="11955117" y="45643"/>
                </a:lnTo>
                <a:cubicBezTo>
                  <a:pt x="10455639" y="321113"/>
                  <a:pt x="8384128" y="491495"/>
                  <a:pt x="6096000" y="491495"/>
                </a:cubicBezTo>
                <a:cubicBezTo>
                  <a:pt x="3807872" y="491495"/>
                  <a:pt x="1736362" y="321113"/>
                  <a:pt x="236882" y="45643"/>
                </a:cubicBezTo>
                <a:lnTo>
                  <a:pt x="0" y="0"/>
                </a:lnTo>
                <a:lnTo>
                  <a:pt x="0" y="6375396"/>
                </a:lnTo>
                <a:lnTo>
                  <a:pt x="8" y="6375396"/>
                </a:lnTo>
                <a:lnTo>
                  <a:pt x="236882" y="6329753"/>
                </a:lnTo>
                <a:cubicBezTo>
                  <a:pt x="1736362" y="6054283"/>
                  <a:pt x="3807872" y="5883902"/>
                  <a:pt x="6096000" y="5883902"/>
                </a:cubicBezTo>
                <a:cubicBezTo>
                  <a:pt x="8384128" y="5883902"/>
                  <a:pt x="10455639" y="6054283"/>
                  <a:pt x="11955117" y="6329753"/>
                </a:cubicBezTo>
                <a:lnTo>
                  <a:pt x="12191991" y="6375396"/>
                </a:lnTo>
                <a:lnTo>
                  <a:pt x="12191999" y="6375396"/>
                </a:lnTo>
                <a:close/>
              </a:path>
            </a:pathLst>
          </a:custGeom>
        </p:spPr>
      </p:pic>
      <p:sp>
        <p:nvSpPr>
          <p:cNvPr id="20" name="任意多边形: 形状 19"/>
          <p:cNvSpPr/>
          <p:nvPr/>
        </p:nvSpPr>
        <p:spPr>
          <a:xfrm rot="16200000">
            <a:off x="2908302" y="-2666998"/>
            <a:ext cx="6375398" cy="12191998"/>
          </a:xfrm>
          <a:custGeom>
            <a:avLst/>
            <a:gdLst>
              <a:gd name="connsiteX0" fmla="*/ 0 w 7207250"/>
              <a:gd name="connsiteY0" fmla="*/ 0 h 6858000"/>
              <a:gd name="connsiteX1" fmla="*/ 7207250 w 7207250"/>
              <a:gd name="connsiteY1" fmla="*/ 0 h 6858000"/>
              <a:gd name="connsiteX2" fmla="*/ 7155651 w 7207250"/>
              <a:gd name="connsiteY2" fmla="*/ 133246 h 6858000"/>
              <a:gd name="connsiteX3" fmla="*/ 6651625 w 7207250"/>
              <a:gd name="connsiteY3" fmla="*/ 3429000 h 6858000"/>
              <a:gd name="connsiteX4" fmla="*/ 7155651 w 7207250"/>
              <a:gd name="connsiteY4" fmla="*/ 6724754 h 6858000"/>
              <a:gd name="connsiteX5" fmla="*/ 7207250 w 7207250"/>
              <a:gd name="connsiteY5" fmla="*/ 6858000 h 6858000"/>
              <a:gd name="connsiteX6" fmla="*/ 0 w 7207250"/>
              <a:gd name="connsiteY6" fmla="*/ 6858000 h 6858000"/>
              <a:gd name="connsiteX7" fmla="*/ 51600 w 7207250"/>
              <a:gd name="connsiteY7" fmla="*/ 6724754 h 6858000"/>
              <a:gd name="connsiteX8" fmla="*/ 555625 w 7207250"/>
              <a:gd name="connsiteY8" fmla="*/ 3429000 h 6858000"/>
              <a:gd name="connsiteX9" fmla="*/ 51600 w 7207250"/>
              <a:gd name="connsiteY9" fmla="*/ 133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07250" h="6858000">
                <a:moveTo>
                  <a:pt x="0" y="0"/>
                </a:moveTo>
                <a:lnTo>
                  <a:pt x="7207250" y="0"/>
                </a:lnTo>
                <a:lnTo>
                  <a:pt x="7155651" y="133246"/>
                </a:lnTo>
                <a:cubicBezTo>
                  <a:pt x="6844238" y="976703"/>
                  <a:pt x="6651625" y="2141928"/>
                  <a:pt x="6651625" y="3429000"/>
                </a:cubicBezTo>
                <a:cubicBezTo>
                  <a:pt x="6651625" y="4716072"/>
                  <a:pt x="6844238" y="5881297"/>
                  <a:pt x="7155651" y="6724754"/>
                </a:cubicBezTo>
                <a:lnTo>
                  <a:pt x="7207250" y="6858000"/>
                </a:lnTo>
                <a:lnTo>
                  <a:pt x="0" y="6858000"/>
                </a:lnTo>
                <a:lnTo>
                  <a:pt x="51600" y="6724754"/>
                </a:lnTo>
                <a:cubicBezTo>
                  <a:pt x="363013" y="5881297"/>
                  <a:pt x="555625" y="4716072"/>
                  <a:pt x="555625" y="3429000"/>
                </a:cubicBezTo>
                <a:cubicBezTo>
                  <a:pt x="555625" y="2141928"/>
                  <a:pt x="363013" y="976703"/>
                  <a:pt x="51600" y="133246"/>
                </a:cubicBezTo>
                <a:close/>
              </a:path>
            </a:pathLst>
          </a:custGeom>
          <a:gradFill flip="none" rotWithShape="1">
            <a:gsLst>
              <a:gs pos="21000">
                <a:srgbClr val="285BDB"/>
              </a:gs>
              <a:gs pos="77000">
                <a:srgbClr val="285BDB">
                  <a:alpha val="0"/>
                </a:srgbClr>
              </a:gs>
              <a:gs pos="59000">
                <a:srgbClr val="285BDB">
                  <a:alpha val="66000"/>
                </a:srgbClr>
              </a:gs>
            </a:gsLst>
            <a:lin ang="54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7" name="TextBox-37" hidden="1"/>
          <p:cNvSpPr txBox="1"/>
          <p:nvPr/>
        </p:nvSpPr>
        <p:spPr>
          <a:xfrm>
            <a:off x="5753503" y="-816942"/>
            <a:ext cx="1321066" cy="1107996"/>
          </a:xfrm>
          <a:prstGeom prst="rect">
            <a:avLst/>
          </a:prstGeom>
          <a:noFill/>
        </p:spPr>
        <p:txBody>
          <a:bodyPr wrap="square" lIns="0" tIns="0" rIns="0" bIns="0" rtlCol="0">
            <a:spAutoFit/>
          </a:bodyPr>
          <a:lstStyle/>
          <a:p>
            <a:pPr algn="ctr"/>
            <a:r>
              <a:rPr lang="zh-CN" altLang="en-US" sz="7200" dirty="0">
                <a:solidFill>
                  <a:schemeClr val="bg1"/>
                </a:solidFill>
                <a:latin typeface="思源黑体 CN Medium" panose="020B0600000000000000" pitchFamily="34" charset="-122"/>
                <a:ea typeface="思源黑体 CN Medium" panose="020B0600000000000000" pitchFamily="34" charset="-122"/>
                <a:cs typeface="阿里巴巴普惠体 H" panose="00020600040101010101" pitchFamily="18" charset="-122"/>
                <a:sym typeface="思源黑体 CN Medium" panose="020B0600000000000000" pitchFamily="34" charset="-122"/>
              </a:rPr>
              <a:t>“</a:t>
            </a:r>
            <a:endParaRPr lang="zh-CN" altLang="en-US" sz="7200" dirty="0">
              <a:solidFill>
                <a:schemeClr val="bg1"/>
              </a:solidFill>
              <a:latin typeface="思源黑体 CN Medium" panose="020B0600000000000000" pitchFamily="34" charset="-122"/>
              <a:ea typeface="思源黑体 CN Medium" panose="020B0600000000000000" pitchFamily="34" charset="-122"/>
              <a:cs typeface="阿里巴巴普惠体 H" panose="00020600040101010101" pitchFamily="18" charset="-122"/>
              <a:sym typeface="思源黑体 CN Medium" panose="020B0600000000000000" pitchFamily="34" charset="-122"/>
            </a:endParaRPr>
          </a:p>
        </p:txBody>
      </p:sp>
      <p:sp>
        <p:nvSpPr>
          <p:cNvPr id="53" name="任意多边形: 形状 52"/>
          <p:cNvSpPr/>
          <p:nvPr/>
        </p:nvSpPr>
        <p:spPr>
          <a:xfrm rot="16200000">
            <a:off x="7216938" y="2066441"/>
            <a:ext cx="351178" cy="72293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5" name="任意多边形: 形状 54"/>
          <p:cNvSpPr/>
          <p:nvPr/>
        </p:nvSpPr>
        <p:spPr>
          <a:xfrm rot="16200000">
            <a:off x="676438" y="4718731"/>
            <a:ext cx="351178" cy="72293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TextBox 17"/>
          <p:cNvSpPr txBox="1"/>
          <p:nvPr/>
        </p:nvSpPr>
        <p:spPr>
          <a:xfrm>
            <a:off x="1062709" y="4522852"/>
            <a:ext cx="5458012" cy="328936"/>
          </a:xfrm>
          <a:prstGeom prst="rect">
            <a:avLst/>
          </a:prstGeom>
          <a:noFill/>
        </p:spPr>
        <p:txBody>
          <a:bodyPr wrap="square" rtlCol="0">
            <a:spAutoFit/>
          </a:bodyPr>
          <a:lstStyle/>
          <a:p>
            <a:pPr algn="dist">
              <a:lnSpc>
                <a:spcPct val="120000"/>
              </a:lnSpc>
            </a:pPr>
            <a:r>
              <a:rPr lang="en-US" altLang="zh-CN" sz="1400" dirty="0">
                <a:solidFill>
                  <a:schemeClr val="bg1"/>
                </a:solidFill>
                <a:latin typeface="思源黑体 CN Medium" panose="020B0600000000000000" pitchFamily="34" charset="-122"/>
                <a:ea typeface="思源黑体 CN Medium" panose="020B0600000000000000" pitchFamily="34" charset="-122"/>
                <a:cs typeface="阿里巴巴普惠体 M" panose="00020600040101010101" pitchFamily="18" charset="-122"/>
                <a:sym typeface="思源黑体 CN Medium" panose="020B0600000000000000" pitchFamily="34" charset="-122"/>
              </a:rPr>
              <a:t> The Development Path of Digital Economy</a:t>
            </a:r>
            <a:endParaRPr lang="en-US" altLang="zh-CN" sz="1400" dirty="0">
              <a:solidFill>
                <a:schemeClr val="bg1"/>
              </a:solidFill>
              <a:latin typeface="思源黑体 CN Medium" panose="020B0600000000000000" pitchFamily="34" charset="-122"/>
              <a:ea typeface="思源黑体 CN Medium" panose="020B0600000000000000" pitchFamily="34" charset="-122"/>
              <a:cs typeface="阿里巴巴普惠体 M" panose="00020600040101010101" pitchFamily="18" charset="-122"/>
              <a:sym typeface="思源黑体 CN Medium" panose="020B0600000000000000" pitchFamily="34" charset="-122"/>
            </a:endParaRPr>
          </a:p>
        </p:txBody>
      </p:sp>
      <p:grpSp>
        <p:nvGrpSpPr>
          <p:cNvPr id="5" name="图形"/>
          <p:cNvGrpSpPr/>
          <p:nvPr/>
        </p:nvGrpSpPr>
        <p:grpSpPr>
          <a:xfrm>
            <a:off x="1739899" y="5430498"/>
            <a:ext cx="4937126" cy="365125"/>
            <a:chOff x="1001" y="7481"/>
            <a:chExt cx="6130" cy="575"/>
          </a:xfrm>
        </p:grpSpPr>
        <p:sp>
          <p:nvSpPr>
            <p:cNvPr id="6" name="图形"/>
            <p:cNvSpPr/>
            <p:nvPr>
              <p:custDataLst>
                <p:tags r:id="rId2"/>
              </p:custDataLst>
            </p:nvPr>
          </p:nvSpPr>
          <p:spPr>
            <a:xfrm>
              <a:off x="4124" y="7489"/>
              <a:ext cx="1267" cy="56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rgbClr val="285BDB"/>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rPr>
                <a:t>时间</a:t>
              </a:r>
              <a:endParaRPr kumimoji="0" lang="zh-CN" altLang="en-US" sz="1400" i="0" u="none" strike="noStrike" kern="1200" cap="none" spc="0" normalizeH="0" baseline="0" noProof="0" dirty="0">
                <a:ln>
                  <a:noFill/>
                </a:ln>
                <a:solidFill>
                  <a:srgbClr val="285BDB"/>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endParaRPr>
            </a:p>
          </p:txBody>
        </p:sp>
        <p:sp>
          <p:nvSpPr>
            <p:cNvPr id="7" name="图形"/>
            <p:cNvSpPr/>
            <p:nvPr>
              <p:custDataLst>
                <p:tags r:id="rId3"/>
              </p:custDataLst>
            </p:nvPr>
          </p:nvSpPr>
          <p:spPr>
            <a:xfrm>
              <a:off x="1001" y="7481"/>
              <a:ext cx="1243" cy="56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srgbClr val="285BDB"/>
                  </a:solidFill>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rPr>
                <a:t>讲座人</a:t>
              </a:r>
              <a:endParaRPr kumimoji="0" lang="zh-CN" altLang="en-US" sz="1400" i="0" u="none" strike="noStrike" kern="1200" cap="none" spc="0" normalizeH="0" baseline="0" noProof="0" dirty="0">
                <a:ln>
                  <a:noFill/>
                </a:ln>
                <a:solidFill>
                  <a:srgbClr val="285BDB"/>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endParaRPr>
            </a:p>
          </p:txBody>
        </p:sp>
        <p:sp>
          <p:nvSpPr>
            <p:cNvPr id="8" name="图形"/>
            <p:cNvSpPr/>
            <p:nvPr>
              <p:custDataLst>
                <p:tags r:id="rId4"/>
              </p:custDataLst>
            </p:nvPr>
          </p:nvSpPr>
          <p:spPr>
            <a:xfrm>
              <a:off x="2690" y="7577"/>
              <a:ext cx="1625" cy="387"/>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rPr>
                <a:t>韩士专</a:t>
              </a:r>
              <a:r>
                <a:rPr lang="zh-CN" altLang="en-US" sz="1600" b="1" dirty="0">
                  <a:solidFill>
                    <a:schemeClr val="bg1"/>
                  </a:solidFill>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rPr>
                <a:t>教授</a:t>
              </a:r>
              <a:endParaRPr kumimoji="0" lang="zh-CN" altLang="en-US" sz="16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endParaRPr>
            </a:p>
          </p:txBody>
        </p:sp>
        <p:sp>
          <p:nvSpPr>
            <p:cNvPr id="9" name="图形"/>
            <p:cNvSpPr/>
            <p:nvPr>
              <p:custDataLst>
                <p:tags r:id="rId5"/>
              </p:custDataLst>
            </p:nvPr>
          </p:nvSpPr>
          <p:spPr>
            <a:xfrm>
              <a:off x="5860" y="7633"/>
              <a:ext cx="1271" cy="387"/>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rPr>
                <a:t>2025.8.6</a:t>
              </a:r>
              <a:endParaRPr kumimoji="0" lang="zh-CN" altLang="en-US" sz="16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endParaRPr>
            </a:p>
          </p:txBody>
        </p:sp>
        <p:cxnSp>
          <p:nvCxnSpPr>
            <p:cNvPr id="10" name="图形"/>
            <p:cNvCxnSpPr/>
            <p:nvPr>
              <p:custDataLst>
                <p:tags r:id="rId6"/>
              </p:custDataLst>
            </p:nvPr>
          </p:nvCxnSpPr>
          <p:spPr>
            <a:xfrm>
              <a:off x="2412" y="7577"/>
              <a:ext cx="0" cy="405"/>
            </a:xfrm>
            <a:prstGeom prst="line">
              <a:avLst/>
            </a:prstGeom>
            <a:ln w="63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图形"/>
            <p:cNvCxnSpPr/>
            <p:nvPr>
              <p:custDataLst>
                <p:tags r:id="rId7"/>
              </p:custDataLst>
            </p:nvPr>
          </p:nvCxnSpPr>
          <p:spPr>
            <a:xfrm>
              <a:off x="5572" y="7645"/>
              <a:ext cx="0" cy="405"/>
            </a:xfrm>
            <a:prstGeom prst="line">
              <a:avLst/>
            </a:prstGeom>
            <a:ln w="63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1025844" y="1229396"/>
            <a:ext cx="11556681" cy="2912319"/>
            <a:chOff x="1025844" y="1502608"/>
            <a:chExt cx="11556681" cy="2912319"/>
          </a:xfrm>
        </p:grpSpPr>
        <p:sp>
          <p:nvSpPr>
            <p:cNvPr id="13" name="文本框 12"/>
            <p:cNvSpPr txBox="1"/>
            <p:nvPr/>
          </p:nvSpPr>
          <p:spPr>
            <a:xfrm>
              <a:off x="1025844" y="1502608"/>
              <a:ext cx="10689906" cy="1569660"/>
            </a:xfrm>
            <a:prstGeom prst="rect">
              <a:avLst/>
            </a:prstGeom>
            <a:noFill/>
          </p:spPr>
          <p:txBody>
            <a:bodyPr wrap="square" rtlCol="0">
              <a:spAutoFit/>
            </a:bodyPr>
            <a:lstStyle/>
            <a:p>
              <a:r>
                <a:rPr lang="zh-CN" altLang="en-US" sz="9600" b="1" dirty="0">
                  <a:gradFill>
                    <a:gsLst>
                      <a:gs pos="1000">
                        <a:srgbClr val="285BDB"/>
                      </a:gs>
                      <a:gs pos="24000">
                        <a:srgbClr val="FFFFFF"/>
                      </a:gs>
                    </a:gsLst>
                    <a:lin ang="5400000" scaled="0"/>
                  </a:gradFill>
                  <a:latin typeface="思源宋体 CN Heavy" panose="02020900000000000000" charset="-122"/>
                  <a:ea typeface="思源宋体 CN Heavy" panose="02020900000000000000" charset="-122"/>
                  <a:sym typeface="思源黑体 CN Medium" panose="020B0600000000000000" pitchFamily="34" charset="-122"/>
                </a:rPr>
                <a:t>数字经济</a:t>
              </a:r>
              <a:r>
                <a:rPr lang="zh-CN" altLang="en-US" sz="8800" dirty="0">
                  <a:gradFill>
                    <a:gsLst>
                      <a:gs pos="1000">
                        <a:srgbClr val="285BDB"/>
                      </a:gs>
                      <a:gs pos="24000">
                        <a:srgbClr val="FFFFFF"/>
                      </a:gs>
                    </a:gsLst>
                    <a:lin ang="5400000" scaled="0"/>
                  </a:gradFill>
                  <a:latin typeface="思源宋体 CN Heavy" panose="02020900000000000000" charset="-122"/>
                  <a:ea typeface="思源宋体 CN Heavy" panose="02020900000000000000" charset="-122"/>
                  <a:sym typeface="思源黑体 CN Medium" panose="020B0600000000000000" pitchFamily="34" charset="-122"/>
                </a:rPr>
                <a:t>发展路径</a:t>
              </a:r>
              <a:endParaRPr lang="zh-CN" altLang="en-US" sz="9000" b="1" dirty="0">
                <a:solidFill>
                  <a:schemeClr val="bg1"/>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4" name="文本框 13"/>
            <p:cNvSpPr txBox="1"/>
            <p:nvPr/>
          </p:nvSpPr>
          <p:spPr>
            <a:xfrm>
              <a:off x="1059711" y="2715056"/>
              <a:ext cx="11522814" cy="1569660"/>
            </a:xfrm>
            <a:prstGeom prst="rect">
              <a:avLst/>
            </a:prstGeom>
            <a:noFill/>
          </p:spPr>
          <p:txBody>
            <a:bodyPr wrap="square" rtlCol="0">
              <a:spAutoFit/>
            </a:bodyPr>
            <a:lstStyle/>
            <a:p>
              <a:r>
                <a:rPr lang="zh-CN" altLang="en-US" sz="9600" dirty="0">
                  <a:gradFill>
                    <a:gsLst>
                      <a:gs pos="1000">
                        <a:srgbClr val="285BDB"/>
                      </a:gs>
                      <a:gs pos="24000">
                        <a:srgbClr val="FFFFFF"/>
                      </a:gs>
                    </a:gsLst>
                    <a:lin ang="5400000" scaled="0"/>
                  </a:gradFill>
                  <a:latin typeface="思源宋体 CN Heavy" panose="02020900000000000000" charset="-122"/>
                  <a:ea typeface="思源宋体 CN Heavy" panose="02020900000000000000" charset="-122"/>
                  <a:sym typeface="思源黑体 CN Medium" panose="020B0600000000000000" pitchFamily="34" charset="-122"/>
                </a:rPr>
                <a:t>与新优势的塑造</a:t>
              </a:r>
              <a:endParaRPr lang="zh-CN" altLang="en-US" sz="9000" dirty="0">
                <a:solidFill>
                  <a:schemeClr val="bg1"/>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7" name="文本框 16"/>
            <p:cNvSpPr txBox="1"/>
            <p:nvPr/>
          </p:nvSpPr>
          <p:spPr>
            <a:xfrm>
              <a:off x="5099868" y="3956019"/>
              <a:ext cx="184731" cy="458908"/>
            </a:xfrm>
            <a:prstGeom prst="rect">
              <a:avLst/>
            </a:prstGeom>
            <a:noFill/>
          </p:spPr>
          <p:txBody>
            <a:bodyPr wrap="none" rtlCol="0">
              <a:spAutoFit/>
            </a:bodyPr>
            <a:lstStyle/>
            <a:p>
              <a:pPr>
                <a:lnSpc>
                  <a:spcPct val="150000"/>
                </a:lnSpc>
              </a:pPr>
              <a:endParaRPr lang="zh-CN" altLang="en-US" dirty="0">
                <a:solidFill>
                  <a:schemeClr val="bg1"/>
                </a:solidFill>
                <a:latin typeface="思源宋体 CN Heavy" panose="02020900000000000000" charset="-122"/>
                <a:ea typeface="思源宋体 CN Heavy" panose="02020900000000000000" charset="-122"/>
                <a:sym typeface="思源黑体 CN Medium" panose="020B06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a:extLst>
              <a:ext uri="{28A0092B-C50C-407E-A947-70E740481C1C}">
                <a14:useLocalDpi xmlns:a14="http://schemas.microsoft.com/office/drawing/2010/main" val="0"/>
              </a:ext>
            </a:extLst>
          </a:blip>
          <a:srcRect l="30024" r="26663"/>
          <a:stretch>
            <a:fillRect/>
          </a:stretch>
        </p:blipFill>
        <p:spPr>
          <a:xfrm>
            <a:off x="7736378" y="0"/>
            <a:ext cx="4455622" cy="6858000"/>
          </a:xfrm>
          <a:custGeom>
            <a:avLst/>
            <a:gdLst>
              <a:gd name="connsiteX0" fmla="*/ 0 w 4455622"/>
              <a:gd name="connsiteY0" fmla="*/ 0 h 6858000"/>
              <a:gd name="connsiteX1" fmla="*/ 4455622 w 4455622"/>
              <a:gd name="connsiteY1" fmla="*/ 0 h 6858000"/>
              <a:gd name="connsiteX2" fmla="*/ 4455622 w 4455622"/>
              <a:gd name="connsiteY2" fmla="*/ 6858000 h 6858000"/>
              <a:gd name="connsiteX3" fmla="*/ 0 w 445562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55622" h="6858000">
                <a:moveTo>
                  <a:pt x="0" y="0"/>
                </a:moveTo>
                <a:lnTo>
                  <a:pt x="4455622" y="0"/>
                </a:lnTo>
                <a:lnTo>
                  <a:pt x="4455622" y="6858000"/>
                </a:lnTo>
                <a:lnTo>
                  <a:pt x="0" y="6858000"/>
                </a:lnTo>
                <a:close/>
              </a:path>
            </a:pathLst>
          </a:custGeom>
        </p:spPr>
      </p:pic>
      <p:sp>
        <p:nvSpPr>
          <p:cNvPr id="4" name="矩形: 圆角 3"/>
          <p:cNvSpPr/>
          <p:nvPr/>
        </p:nvSpPr>
        <p:spPr>
          <a:xfrm flipH="1">
            <a:off x="7736378" y="0"/>
            <a:ext cx="4455622" cy="6858000"/>
          </a:xfrm>
          <a:prstGeom prst="roundRect">
            <a:avLst>
              <a:gd name="adj" fmla="val 0"/>
            </a:avLst>
          </a:prstGeom>
          <a:gradFill flip="none" rotWithShape="1">
            <a:gsLst>
              <a:gs pos="43100">
                <a:srgbClr val="285BDB">
                  <a:alpha val="88000"/>
                </a:srgbClr>
              </a:gs>
              <a:gs pos="0">
                <a:srgbClr val="285BDB"/>
              </a:gs>
              <a:gs pos="100000">
                <a:srgbClr val="285BDB">
                  <a:alpha val="43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5" name="矩形: 圆角 4"/>
          <p:cNvSpPr/>
          <p:nvPr/>
        </p:nvSpPr>
        <p:spPr>
          <a:xfrm>
            <a:off x="533400" y="1088571"/>
            <a:ext cx="11125200" cy="4793474"/>
          </a:xfrm>
          <a:prstGeom prst="roundRect">
            <a:avLst>
              <a:gd name="adj" fmla="val 50000"/>
            </a:avLst>
          </a:prstGeom>
          <a:solidFill>
            <a:schemeClr val="bg1"/>
          </a:soli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mn-ea"/>
            </a:endParaRPr>
          </a:p>
        </p:txBody>
      </p:sp>
      <p:cxnSp>
        <p:nvCxnSpPr>
          <p:cNvPr id="6" name="直接连接符 5"/>
          <p:cNvCxnSpPr/>
          <p:nvPr/>
        </p:nvCxnSpPr>
        <p:spPr>
          <a:xfrm>
            <a:off x="11067631" y="438150"/>
            <a:ext cx="674918"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1170730" y="1935381"/>
            <a:ext cx="3012769" cy="3012769"/>
          </a:xfrm>
          <a:prstGeom prst="ellipse">
            <a:avLst/>
          </a:prstGeom>
          <a:solidFill>
            <a:srgbClr val="2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0" name="弧形 9"/>
          <p:cNvSpPr/>
          <p:nvPr/>
        </p:nvSpPr>
        <p:spPr>
          <a:xfrm>
            <a:off x="925405" y="1690056"/>
            <a:ext cx="3503420" cy="3503420"/>
          </a:xfrm>
          <a:prstGeom prst="arc">
            <a:avLst/>
          </a:prstGeom>
          <a:ln>
            <a:solidFill>
              <a:srgbClr val="285BD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1" name="椭圆 10"/>
          <p:cNvSpPr/>
          <p:nvPr/>
        </p:nvSpPr>
        <p:spPr>
          <a:xfrm>
            <a:off x="4359688" y="3446341"/>
            <a:ext cx="146357" cy="146356"/>
          </a:xfrm>
          <a:prstGeom prst="ellipse">
            <a:avLst/>
          </a:prstGeom>
          <a:solidFill>
            <a:srgbClr val="285BD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5" name="文本框 14"/>
          <p:cNvSpPr txBox="1"/>
          <p:nvPr>
            <p:custDataLst>
              <p:tags r:id="rId2"/>
            </p:custDataLst>
          </p:nvPr>
        </p:nvSpPr>
        <p:spPr>
          <a:xfrm flipH="1">
            <a:off x="4783700" y="2625244"/>
            <a:ext cx="6195783" cy="923330"/>
          </a:xfrm>
          <a:prstGeom prst="rect">
            <a:avLst/>
          </a:prstGeom>
          <a:noFill/>
        </p:spPr>
        <p:txBody>
          <a:bodyPr vert="horz" wrap="square" rtlCol="0">
            <a:spAutoFit/>
          </a:bodyPr>
          <a:lstStyle/>
          <a:p>
            <a:pPr algn="dist"/>
            <a:r>
              <a:rPr lang="zh-CN" altLang="en-US" sz="5400" dirty="0">
                <a:solidFill>
                  <a:srgbClr val="285BDB"/>
                </a:solidFill>
                <a:latin typeface="思源宋体 CN Heavy" panose="02020900000000000000" charset="-122"/>
                <a:ea typeface="思源宋体 CN Heavy" panose="02020900000000000000" charset="-122"/>
                <a:sym typeface="思源黑体 CN Medium" panose="020B0600000000000000" pitchFamily="34" charset="-122"/>
              </a:rPr>
              <a:t>数字经济发展背景</a:t>
            </a:r>
            <a:endParaRPr lang="zh-CN" altLang="en-US" sz="5400" dirty="0">
              <a:solidFill>
                <a:srgbClr val="285BDB"/>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6" name="文本框 15"/>
          <p:cNvSpPr txBox="1"/>
          <p:nvPr>
            <p:custDataLst>
              <p:tags r:id="rId3"/>
            </p:custDataLst>
          </p:nvPr>
        </p:nvSpPr>
        <p:spPr>
          <a:xfrm flipH="1">
            <a:off x="4820830" y="1940441"/>
            <a:ext cx="6284079" cy="830997"/>
          </a:xfrm>
          <a:prstGeom prst="rect">
            <a:avLst/>
          </a:prstGeom>
          <a:noFill/>
        </p:spPr>
        <p:txBody>
          <a:bodyPr vert="horz" wrap="square" rtlCol="0">
            <a:spAutoFit/>
          </a:bodyPr>
          <a:lstStyle/>
          <a:p>
            <a:pPr algn="r"/>
            <a:r>
              <a:rPr lang="en-US" altLang="zh-CN" sz="2400" kern="100" dirty="0">
                <a:solidFill>
                  <a:srgbClr val="285BDB"/>
                </a:solidFill>
                <a:latin typeface="思源宋体 CN Heavy" panose="02020900000000000000" charset="-122"/>
                <a:ea typeface="思源宋体 CN Heavy" panose="02020900000000000000" charset="-122"/>
                <a:cs typeface="汉仪旗黑-50S" panose="00020600040101010101" charset="-122"/>
              </a:rPr>
              <a:t>Background of the development of the digital economy</a:t>
            </a:r>
            <a:endParaRPr lang="zh-CN" altLang="en-US" sz="2400" kern="100" dirty="0">
              <a:solidFill>
                <a:srgbClr val="285BDB"/>
              </a:solidFill>
              <a:latin typeface="思源宋体 CN Heavy" panose="02020900000000000000" charset="-122"/>
              <a:ea typeface="思源宋体 CN Heavy" panose="02020900000000000000" charset="-122"/>
              <a:cs typeface="汉仪旗黑-50S" panose="00020600040101010101" charset="-122"/>
            </a:endParaRPr>
          </a:p>
        </p:txBody>
      </p:sp>
      <p:sp>
        <p:nvSpPr>
          <p:cNvPr id="17" name="PA-文本框 88"/>
          <p:cNvSpPr txBox="1"/>
          <p:nvPr>
            <p:custDataLst>
              <p:tags r:id="rId4"/>
            </p:custDataLst>
          </p:nvPr>
        </p:nvSpPr>
        <p:spPr>
          <a:xfrm>
            <a:off x="5116862" y="4131305"/>
            <a:ext cx="5239031" cy="252762"/>
          </a:xfrm>
          <a:prstGeom prst="rect">
            <a:avLst/>
          </a:prstGeom>
          <a:noFill/>
        </p:spPr>
        <p:txBody>
          <a:bodyPr wrap="square" lIns="0" tIns="0" rIns="0" bIns="0" rtlCol="0">
            <a:spAutoFit/>
          </a:bodyPr>
          <a:lstStyle/>
          <a:p>
            <a:pPr algn="dist" hangingPunct="0">
              <a:lnSpc>
                <a:spcPct val="130000"/>
              </a:lnSpc>
            </a:pPr>
            <a:r>
              <a:rPr lang="en-US" altLang="zh-CN"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mn-lt"/>
              </a:rPr>
              <a:t> The Development Path of Digital Economy</a:t>
            </a:r>
            <a:endParaRPr lang="en-US" altLang="zh-CN"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mn-lt"/>
            </a:endParaRPr>
          </a:p>
        </p:txBody>
      </p:sp>
      <p:sp>
        <p:nvSpPr>
          <p:cNvPr id="19" name="任意多边形: 形状 18"/>
          <p:cNvSpPr/>
          <p:nvPr/>
        </p:nvSpPr>
        <p:spPr>
          <a:xfrm rot="5400000" flipV="1">
            <a:off x="10341316" y="5693885"/>
            <a:ext cx="355828" cy="944588"/>
          </a:xfrm>
          <a:custGeom>
            <a:avLst/>
            <a:gdLst>
              <a:gd name="connsiteX0" fmla="*/ 615788 w 659098"/>
              <a:gd name="connsiteY0" fmla="*/ 1663038 h 1749657"/>
              <a:gd name="connsiteX1" fmla="*/ 659098 w 659098"/>
              <a:gd name="connsiteY1" fmla="*/ 1706348 h 1749657"/>
              <a:gd name="connsiteX2" fmla="*/ 615788 w 659098"/>
              <a:gd name="connsiteY2" fmla="*/ 1749657 h 1749657"/>
              <a:gd name="connsiteX3" fmla="*/ 572478 w 659098"/>
              <a:gd name="connsiteY3" fmla="*/ 1706348 h 1749657"/>
              <a:gd name="connsiteX4" fmla="*/ 615788 w 659098"/>
              <a:gd name="connsiteY4" fmla="*/ 1663038 h 1749657"/>
              <a:gd name="connsiteX5" fmla="*/ 424962 w 659098"/>
              <a:gd name="connsiteY5" fmla="*/ 1663038 h 1749657"/>
              <a:gd name="connsiteX6" fmla="*/ 468272 w 659098"/>
              <a:gd name="connsiteY6" fmla="*/ 1706348 h 1749657"/>
              <a:gd name="connsiteX7" fmla="*/ 424962 w 659098"/>
              <a:gd name="connsiteY7" fmla="*/ 1749657 h 1749657"/>
              <a:gd name="connsiteX8" fmla="*/ 381652 w 659098"/>
              <a:gd name="connsiteY8" fmla="*/ 1706348 h 1749657"/>
              <a:gd name="connsiteX9" fmla="*/ 424962 w 659098"/>
              <a:gd name="connsiteY9" fmla="*/ 1663038 h 1749657"/>
              <a:gd name="connsiteX10" fmla="*/ 234136 w 659098"/>
              <a:gd name="connsiteY10" fmla="*/ 1663038 h 1749657"/>
              <a:gd name="connsiteX11" fmla="*/ 277446 w 659098"/>
              <a:gd name="connsiteY11" fmla="*/ 1706348 h 1749657"/>
              <a:gd name="connsiteX12" fmla="*/ 234136 w 659098"/>
              <a:gd name="connsiteY12" fmla="*/ 1749657 h 1749657"/>
              <a:gd name="connsiteX13" fmla="*/ 190826 w 659098"/>
              <a:gd name="connsiteY13" fmla="*/ 1706348 h 1749657"/>
              <a:gd name="connsiteX14" fmla="*/ 234136 w 659098"/>
              <a:gd name="connsiteY14" fmla="*/ 1663038 h 1749657"/>
              <a:gd name="connsiteX15" fmla="*/ 43310 w 659098"/>
              <a:gd name="connsiteY15" fmla="*/ 1663038 h 1749657"/>
              <a:gd name="connsiteX16" fmla="*/ 86619 w 659098"/>
              <a:gd name="connsiteY16" fmla="*/ 1706348 h 1749657"/>
              <a:gd name="connsiteX17" fmla="*/ 43310 w 659098"/>
              <a:gd name="connsiteY17" fmla="*/ 1749657 h 1749657"/>
              <a:gd name="connsiteX18" fmla="*/ 0 w 659098"/>
              <a:gd name="connsiteY18" fmla="*/ 1706348 h 1749657"/>
              <a:gd name="connsiteX19" fmla="*/ 43310 w 659098"/>
              <a:gd name="connsiteY19" fmla="*/ 1663038 h 1749657"/>
              <a:gd name="connsiteX20" fmla="*/ 615788 w 659098"/>
              <a:gd name="connsiteY20" fmla="*/ 1385865 h 1749657"/>
              <a:gd name="connsiteX21" fmla="*/ 659098 w 659098"/>
              <a:gd name="connsiteY21" fmla="*/ 1429175 h 1749657"/>
              <a:gd name="connsiteX22" fmla="*/ 615788 w 659098"/>
              <a:gd name="connsiteY22" fmla="*/ 1472484 h 1749657"/>
              <a:gd name="connsiteX23" fmla="*/ 572478 w 659098"/>
              <a:gd name="connsiteY23" fmla="*/ 1429175 h 1749657"/>
              <a:gd name="connsiteX24" fmla="*/ 615788 w 659098"/>
              <a:gd name="connsiteY24" fmla="*/ 1385865 h 1749657"/>
              <a:gd name="connsiteX25" fmla="*/ 424962 w 659098"/>
              <a:gd name="connsiteY25" fmla="*/ 1385865 h 1749657"/>
              <a:gd name="connsiteX26" fmla="*/ 468272 w 659098"/>
              <a:gd name="connsiteY26" fmla="*/ 1429175 h 1749657"/>
              <a:gd name="connsiteX27" fmla="*/ 424962 w 659098"/>
              <a:gd name="connsiteY27" fmla="*/ 1472484 h 1749657"/>
              <a:gd name="connsiteX28" fmla="*/ 381652 w 659098"/>
              <a:gd name="connsiteY28" fmla="*/ 1429175 h 1749657"/>
              <a:gd name="connsiteX29" fmla="*/ 424962 w 659098"/>
              <a:gd name="connsiteY29" fmla="*/ 1385865 h 1749657"/>
              <a:gd name="connsiteX30" fmla="*/ 234136 w 659098"/>
              <a:gd name="connsiteY30" fmla="*/ 1385865 h 1749657"/>
              <a:gd name="connsiteX31" fmla="*/ 277446 w 659098"/>
              <a:gd name="connsiteY31" fmla="*/ 1429175 h 1749657"/>
              <a:gd name="connsiteX32" fmla="*/ 234136 w 659098"/>
              <a:gd name="connsiteY32" fmla="*/ 1472484 h 1749657"/>
              <a:gd name="connsiteX33" fmla="*/ 190826 w 659098"/>
              <a:gd name="connsiteY33" fmla="*/ 1429175 h 1749657"/>
              <a:gd name="connsiteX34" fmla="*/ 234136 w 659098"/>
              <a:gd name="connsiteY34" fmla="*/ 1385865 h 1749657"/>
              <a:gd name="connsiteX35" fmla="*/ 43310 w 659098"/>
              <a:gd name="connsiteY35" fmla="*/ 1385865 h 1749657"/>
              <a:gd name="connsiteX36" fmla="*/ 86619 w 659098"/>
              <a:gd name="connsiteY36" fmla="*/ 1429175 h 1749657"/>
              <a:gd name="connsiteX37" fmla="*/ 43310 w 659098"/>
              <a:gd name="connsiteY37" fmla="*/ 1472484 h 1749657"/>
              <a:gd name="connsiteX38" fmla="*/ 0 w 659098"/>
              <a:gd name="connsiteY38" fmla="*/ 1429175 h 1749657"/>
              <a:gd name="connsiteX39" fmla="*/ 43310 w 659098"/>
              <a:gd name="connsiteY39" fmla="*/ 1385865 h 1749657"/>
              <a:gd name="connsiteX40" fmla="*/ 615788 w 659098"/>
              <a:gd name="connsiteY40" fmla="*/ 1108692 h 1749657"/>
              <a:gd name="connsiteX41" fmla="*/ 659098 w 659098"/>
              <a:gd name="connsiteY41" fmla="*/ 1152002 h 1749657"/>
              <a:gd name="connsiteX42" fmla="*/ 615788 w 659098"/>
              <a:gd name="connsiteY42" fmla="*/ 1195311 h 1749657"/>
              <a:gd name="connsiteX43" fmla="*/ 572478 w 659098"/>
              <a:gd name="connsiteY43" fmla="*/ 1152002 h 1749657"/>
              <a:gd name="connsiteX44" fmla="*/ 615788 w 659098"/>
              <a:gd name="connsiteY44" fmla="*/ 1108692 h 1749657"/>
              <a:gd name="connsiteX45" fmla="*/ 424962 w 659098"/>
              <a:gd name="connsiteY45" fmla="*/ 1108692 h 1749657"/>
              <a:gd name="connsiteX46" fmla="*/ 468272 w 659098"/>
              <a:gd name="connsiteY46" fmla="*/ 1152002 h 1749657"/>
              <a:gd name="connsiteX47" fmla="*/ 424962 w 659098"/>
              <a:gd name="connsiteY47" fmla="*/ 1195311 h 1749657"/>
              <a:gd name="connsiteX48" fmla="*/ 381652 w 659098"/>
              <a:gd name="connsiteY48" fmla="*/ 1152002 h 1749657"/>
              <a:gd name="connsiteX49" fmla="*/ 424962 w 659098"/>
              <a:gd name="connsiteY49" fmla="*/ 1108692 h 1749657"/>
              <a:gd name="connsiteX50" fmla="*/ 234136 w 659098"/>
              <a:gd name="connsiteY50" fmla="*/ 1108692 h 1749657"/>
              <a:gd name="connsiteX51" fmla="*/ 277446 w 659098"/>
              <a:gd name="connsiteY51" fmla="*/ 1152002 h 1749657"/>
              <a:gd name="connsiteX52" fmla="*/ 234136 w 659098"/>
              <a:gd name="connsiteY52" fmla="*/ 1195311 h 1749657"/>
              <a:gd name="connsiteX53" fmla="*/ 190826 w 659098"/>
              <a:gd name="connsiteY53" fmla="*/ 1152002 h 1749657"/>
              <a:gd name="connsiteX54" fmla="*/ 234136 w 659098"/>
              <a:gd name="connsiteY54" fmla="*/ 1108692 h 1749657"/>
              <a:gd name="connsiteX55" fmla="*/ 43310 w 659098"/>
              <a:gd name="connsiteY55" fmla="*/ 1108692 h 1749657"/>
              <a:gd name="connsiteX56" fmla="*/ 86619 w 659098"/>
              <a:gd name="connsiteY56" fmla="*/ 1152002 h 1749657"/>
              <a:gd name="connsiteX57" fmla="*/ 43310 w 659098"/>
              <a:gd name="connsiteY57" fmla="*/ 1195311 h 1749657"/>
              <a:gd name="connsiteX58" fmla="*/ 0 w 659098"/>
              <a:gd name="connsiteY58" fmla="*/ 1152002 h 1749657"/>
              <a:gd name="connsiteX59" fmla="*/ 43310 w 659098"/>
              <a:gd name="connsiteY59" fmla="*/ 1108692 h 1749657"/>
              <a:gd name="connsiteX60" fmla="*/ 615788 w 659098"/>
              <a:gd name="connsiteY60" fmla="*/ 831519 h 1749657"/>
              <a:gd name="connsiteX61" fmla="*/ 659098 w 659098"/>
              <a:gd name="connsiteY61" fmla="*/ 874829 h 1749657"/>
              <a:gd name="connsiteX62" fmla="*/ 615788 w 659098"/>
              <a:gd name="connsiteY62" fmla="*/ 918138 h 1749657"/>
              <a:gd name="connsiteX63" fmla="*/ 572478 w 659098"/>
              <a:gd name="connsiteY63" fmla="*/ 874829 h 1749657"/>
              <a:gd name="connsiteX64" fmla="*/ 615788 w 659098"/>
              <a:gd name="connsiteY64" fmla="*/ 831519 h 1749657"/>
              <a:gd name="connsiteX65" fmla="*/ 424962 w 659098"/>
              <a:gd name="connsiteY65" fmla="*/ 831519 h 1749657"/>
              <a:gd name="connsiteX66" fmla="*/ 468272 w 659098"/>
              <a:gd name="connsiteY66" fmla="*/ 874829 h 1749657"/>
              <a:gd name="connsiteX67" fmla="*/ 424962 w 659098"/>
              <a:gd name="connsiteY67" fmla="*/ 918138 h 1749657"/>
              <a:gd name="connsiteX68" fmla="*/ 381652 w 659098"/>
              <a:gd name="connsiteY68" fmla="*/ 874829 h 1749657"/>
              <a:gd name="connsiteX69" fmla="*/ 424962 w 659098"/>
              <a:gd name="connsiteY69" fmla="*/ 831519 h 1749657"/>
              <a:gd name="connsiteX70" fmla="*/ 234136 w 659098"/>
              <a:gd name="connsiteY70" fmla="*/ 831519 h 1749657"/>
              <a:gd name="connsiteX71" fmla="*/ 277446 w 659098"/>
              <a:gd name="connsiteY71" fmla="*/ 874829 h 1749657"/>
              <a:gd name="connsiteX72" fmla="*/ 234136 w 659098"/>
              <a:gd name="connsiteY72" fmla="*/ 918138 h 1749657"/>
              <a:gd name="connsiteX73" fmla="*/ 190826 w 659098"/>
              <a:gd name="connsiteY73" fmla="*/ 874829 h 1749657"/>
              <a:gd name="connsiteX74" fmla="*/ 234136 w 659098"/>
              <a:gd name="connsiteY74" fmla="*/ 831519 h 1749657"/>
              <a:gd name="connsiteX75" fmla="*/ 43310 w 659098"/>
              <a:gd name="connsiteY75" fmla="*/ 831519 h 1749657"/>
              <a:gd name="connsiteX76" fmla="*/ 86619 w 659098"/>
              <a:gd name="connsiteY76" fmla="*/ 874829 h 1749657"/>
              <a:gd name="connsiteX77" fmla="*/ 43310 w 659098"/>
              <a:gd name="connsiteY77" fmla="*/ 918138 h 1749657"/>
              <a:gd name="connsiteX78" fmla="*/ 0 w 659098"/>
              <a:gd name="connsiteY78" fmla="*/ 874829 h 1749657"/>
              <a:gd name="connsiteX79" fmla="*/ 43310 w 659098"/>
              <a:gd name="connsiteY79" fmla="*/ 831519 h 1749657"/>
              <a:gd name="connsiteX80" fmla="*/ 43310 w 659098"/>
              <a:gd name="connsiteY80" fmla="*/ 554348 h 1749657"/>
              <a:gd name="connsiteX81" fmla="*/ 86619 w 659098"/>
              <a:gd name="connsiteY81" fmla="*/ 597658 h 1749657"/>
              <a:gd name="connsiteX82" fmla="*/ 43310 w 659098"/>
              <a:gd name="connsiteY82" fmla="*/ 640965 h 1749657"/>
              <a:gd name="connsiteX83" fmla="*/ 0 w 659098"/>
              <a:gd name="connsiteY83" fmla="*/ 597658 h 1749657"/>
              <a:gd name="connsiteX84" fmla="*/ 43310 w 659098"/>
              <a:gd name="connsiteY84" fmla="*/ 554348 h 1749657"/>
              <a:gd name="connsiteX85" fmla="*/ 615788 w 659098"/>
              <a:gd name="connsiteY85" fmla="*/ 554346 h 1749657"/>
              <a:gd name="connsiteX86" fmla="*/ 659098 w 659098"/>
              <a:gd name="connsiteY86" fmla="*/ 597656 h 1749657"/>
              <a:gd name="connsiteX87" fmla="*/ 615788 w 659098"/>
              <a:gd name="connsiteY87" fmla="*/ 640965 h 1749657"/>
              <a:gd name="connsiteX88" fmla="*/ 572478 w 659098"/>
              <a:gd name="connsiteY88" fmla="*/ 597656 h 1749657"/>
              <a:gd name="connsiteX89" fmla="*/ 615788 w 659098"/>
              <a:gd name="connsiteY89" fmla="*/ 554346 h 1749657"/>
              <a:gd name="connsiteX90" fmla="*/ 424962 w 659098"/>
              <a:gd name="connsiteY90" fmla="*/ 554346 h 1749657"/>
              <a:gd name="connsiteX91" fmla="*/ 468272 w 659098"/>
              <a:gd name="connsiteY91" fmla="*/ 597656 h 1749657"/>
              <a:gd name="connsiteX92" fmla="*/ 424962 w 659098"/>
              <a:gd name="connsiteY92" fmla="*/ 640965 h 1749657"/>
              <a:gd name="connsiteX93" fmla="*/ 381652 w 659098"/>
              <a:gd name="connsiteY93" fmla="*/ 597656 h 1749657"/>
              <a:gd name="connsiteX94" fmla="*/ 424962 w 659098"/>
              <a:gd name="connsiteY94" fmla="*/ 554346 h 1749657"/>
              <a:gd name="connsiteX95" fmla="*/ 234136 w 659098"/>
              <a:gd name="connsiteY95" fmla="*/ 554346 h 1749657"/>
              <a:gd name="connsiteX96" fmla="*/ 277446 w 659098"/>
              <a:gd name="connsiteY96" fmla="*/ 597656 h 1749657"/>
              <a:gd name="connsiteX97" fmla="*/ 234136 w 659098"/>
              <a:gd name="connsiteY97" fmla="*/ 640965 h 1749657"/>
              <a:gd name="connsiteX98" fmla="*/ 190826 w 659098"/>
              <a:gd name="connsiteY98" fmla="*/ 597656 h 1749657"/>
              <a:gd name="connsiteX99" fmla="*/ 234136 w 659098"/>
              <a:gd name="connsiteY99" fmla="*/ 554346 h 1749657"/>
              <a:gd name="connsiteX100" fmla="*/ 615788 w 659098"/>
              <a:gd name="connsiteY100" fmla="*/ 277173 h 1749657"/>
              <a:gd name="connsiteX101" fmla="*/ 659098 w 659098"/>
              <a:gd name="connsiteY101" fmla="*/ 320483 h 1749657"/>
              <a:gd name="connsiteX102" fmla="*/ 615788 w 659098"/>
              <a:gd name="connsiteY102" fmla="*/ 363792 h 1749657"/>
              <a:gd name="connsiteX103" fmla="*/ 572478 w 659098"/>
              <a:gd name="connsiteY103" fmla="*/ 320483 h 1749657"/>
              <a:gd name="connsiteX104" fmla="*/ 615788 w 659098"/>
              <a:gd name="connsiteY104" fmla="*/ 277173 h 1749657"/>
              <a:gd name="connsiteX105" fmla="*/ 424962 w 659098"/>
              <a:gd name="connsiteY105" fmla="*/ 277173 h 1749657"/>
              <a:gd name="connsiteX106" fmla="*/ 468272 w 659098"/>
              <a:gd name="connsiteY106" fmla="*/ 320483 h 1749657"/>
              <a:gd name="connsiteX107" fmla="*/ 424962 w 659098"/>
              <a:gd name="connsiteY107" fmla="*/ 363792 h 1749657"/>
              <a:gd name="connsiteX108" fmla="*/ 381652 w 659098"/>
              <a:gd name="connsiteY108" fmla="*/ 320483 h 1749657"/>
              <a:gd name="connsiteX109" fmla="*/ 424962 w 659098"/>
              <a:gd name="connsiteY109" fmla="*/ 277173 h 1749657"/>
              <a:gd name="connsiteX110" fmla="*/ 234136 w 659098"/>
              <a:gd name="connsiteY110" fmla="*/ 277173 h 1749657"/>
              <a:gd name="connsiteX111" fmla="*/ 277446 w 659098"/>
              <a:gd name="connsiteY111" fmla="*/ 320483 h 1749657"/>
              <a:gd name="connsiteX112" fmla="*/ 234136 w 659098"/>
              <a:gd name="connsiteY112" fmla="*/ 363792 h 1749657"/>
              <a:gd name="connsiteX113" fmla="*/ 190826 w 659098"/>
              <a:gd name="connsiteY113" fmla="*/ 320483 h 1749657"/>
              <a:gd name="connsiteX114" fmla="*/ 234136 w 659098"/>
              <a:gd name="connsiteY114" fmla="*/ 277173 h 1749657"/>
              <a:gd name="connsiteX115" fmla="*/ 43310 w 659098"/>
              <a:gd name="connsiteY115" fmla="*/ 277173 h 1749657"/>
              <a:gd name="connsiteX116" fmla="*/ 86619 w 659098"/>
              <a:gd name="connsiteY116" fmla="*/ 320483 h 1749657"/>
              <a:gd name="connsiteX117" fmla="*/ 43310 w 659098"/>
              <a:gd name="connsiteY117" fmla="*/ 363792 h 1749657"/>
              <a:gd name="connsiteX118" fmla="*/ 0 w 659098"/>
              <a:gd name="connsiteY118" fmla="*/ 320483 h 1749657"/>
              <a:gd name="connsiteX119" fmla="*/ 43310 w 659098"/>
              <a:gd name="connsiteY119" fmla="*/ 277173 h 1749657"/>
              <a:gd name="connsiteX120" fmla="*/ 615788 w 659098"/>
              <a:gd name="connsiteY120" fmla="*/ 0 h 1749657"/>
              <a:gd name="connsiteX121" fmla="*/ 659098 w 659098"/>
              <a:gd name="connsiteY121" fmla="*/ 43310 h 1749657"/>
              <a:gd name="connsiteX122" fmla="*/ 615788 w 659098"/>
              <a:gd name="connsiteY122" fmla="*/ 86619 h 1749657"/>
              <a:gd name="connsiteX123" fmla="*/ 572478 w 659098"/>
              <a:gd name="connsiteY123" fmla="*/ 43310 h 1749657"/>
              <a:gd name="connsiteX124" fmla="*/ 615788 w 659098"/>
              <a:gd name="connsiteY124" fmla="*/ 0 h 1749657"/>
              <a:gd name="connsiteX125" fmla="*/ 424962 w 659098"/>
              <a:gd name="connsiteY125" fmla="*/ 0 h 1749657"/>
              <a:gd name="connsiteX126" fmla="*/ 468272 w 659098"/>
              <a:gd name="connsiteY126" fmla="*/ 43310 h 1749657"/>
              <a:gd name="connsiteX127" fmla="*/ 424962 w 659098"/>
              <a:gd name="connsiteY127" fmla="*/ 86619 h 1749657"/>
              <a:gd name="connsiteX128" fmla="*/ 381652 w 659098"/>
              <a:gd name="connsiteY128" fmla="*/ 43310 h 1749657"/>
              <a:gd name="connsiteX129" fmla="*/ 424962 w 659098"/>
              <a:gd name="connsiteY129" fmla="*/ 0 h 1749657"/>
              <a:gd name="connsiteX130" fmla="*/ 234136 w 659098"/>
              <a:gd name="connsiteY130" fmla="*/ 0 h 1749657"/>
              <a:gd name="connsiteX131" fmla="*/ 277446 w 659098"/>
              <a:gd name="connsiteY131" fmla="*/ 43310 h 1749657"/>
              <a:gd name="connsiteX132" fmla="*/ 234136 w 659098"/>
              <a:gd name="connsiteY132" fmla="*/ 86619 h 1749657"/>
              <a:gd name="connsiteX133" fmla="*/ 190826 w 659098"/>
              <a:gd name="connsiteY133" fmla="*/ 43310 h 1749657"/>
              <a:gd name="connsiteX134" fmla="*/ 234136 w 659098"/>
              <a:gd name="connsiteY134" fmla="*/ 0 h 1749657"/>
              <a:gd name="connsiteX135" fmla="*/ 43310 w 659098"/>
              <a:gd name="connsiteY135" fmla="*/ 0 h 1749657"/>
              <a:gd name="connsiteX136" fmla="*/ 86619 w 659098"/>
              <a:gd name="connsiteY136" fmla="*/ 43310 h 1749657"/>
              <a:gd name="connsiteX137" fmla="*/ 43310 w 659098"/>
              <a:gd name="connsiteY137" fmla="*/ 86619 h 1749657"/>
              <a:gd name="connsiteX138" fmla="*/ 0 w 659098"/>
              <a:gd name="connsiteY138" fmla="*/ 43310 h 1749657"/>
              <a:gd name="connsiteX139" fmla="*/ 43310 w 659098"/>
              <a:gd name="connsiteY139" fmla="*/ 0 h 17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59098" h="1749657">
                <a:moveTo>
                  <a:pt x="615788" y="1663038"/>
                </a:moveTo>
                <a:cubicBezTo>
                  <a:pt x="639708" y="1663038"/>
                  <a:pt x="659098" y="1682427"/>
                  <a:pt x="659098" y="1706348"/>
                </a:cubicBezTo>
                <a:cubicBezTo>
                  <a:pt x="659098" y="1730268"/>
                  <a:pt x="639708" y="1749657"/>
                  <a:pt x="615788" y="1749657"/>
                </a:cubicBezTo>
                <a:cubicBezTo>
                  <a:pt x="591868" y="1749657"/>
                  <a:pt x="572478" y="1730268"/>
                  <a:pt x="572478" y="1706348"/>
                </a:cubicBezTo>
                <a:cubicBezTo>
                  <a:pt x="572478" y="1682427"/>
                  <a:pt x="591868" y="1663038"/>
                  <a:pt x="615788" y="1663038"/>
                </a:cubicBezTo>
                <a:close/>
                <a:moveTo>
                  <a:pt x="424962" y="1663038"/>
                </a:moveTo>
                <a:cubicBezTo>
                  <a:pt x="448882" y="1663038"/>
                  <a:pt x="468272" y="1682427"/>
                  <a:pt x="468272" y="1706348"/>
                </a:cubicBezTo>
                <a:cubicBezTo>
                  <a:pt x="468272" y="1730268"/>
                  <a:pt x="448882" y="1749657"/>
                  <a:pt x="424962" y="1749657"/>
                </a:cubicBezTo>
                <a:cubicBezTo>
                  <a:pt x="401042" y="1749657"/>
                  <a:pt x="381652" y="1730268"/>
                  <a:pt x="381652" y="1706348"/>
                </a:cubicBezTo>
                <a:cubicBezTo>
                  <a:pt x="381652" y="1682427"/>
                  <a:pt x="401042" y="1663038"/>
                  <a:pt x="424962" y="1663038"/>
                </a:cubicBezTo>
                <a:close/>
                <a:moveTo>
                  <a:pt x="234136" y="1663038"/>
                </a:moveTo>
                <a:cubicBezTo>
                  <a:pt x="258056" y="1663038"/>
                  <a:pt x="277446" y="1682427"/>
                  <a:pt x="277446" y="1706348"/>
                </a:cubicBezTo>
                <a:cubicBezTo>
                  <a:pt x="277446" y="1730268"/>
                  <a:pt x="258056" y="1749657"/>
                  <a:pt x="234136" y="1749657"/>
                </a:cubicBezTo>
                <a:cubicBezTo>
                  <a:pt x="210216" y="1749657"/>
                  <a:pt x="190826" y="1730268"/>
                  <a:pt x="190826" y="1706348"/>
                </a:cubicBezTo>
                <a:cubicBezTo>
                  <a:pt x="190826" y="1682427"/>
                  <a:pt x="210216" y="1663038"/>
                  <a:pt x="234136" y="1663038"/>
                </a:cubicBezTo>
                <a:close/>
                <a:moveTo>
                  <a:pt x="43310" y="1663038"/>
                </a:moveTo>
                <a:cubicBezTo>
                  <a:pt x="67230" y="1663038"/>
                  <a:pt x="86619" y="1682427"/>
                  <a:pt x="86619" y="1706348"/>
                </a:cubicBezTo>
                <a:cubicBezTo>
                  <a:pt x="86619" y="1730268"/>
                  <a:pt x="67230" y="1749657"/>
                  <a:pt x="43310" y="1749657"/>
                </a:cubicBezTo>
                <a:cubicBezTo>
                  <a:pt x="19390" y="1749657"/>
                  <a:pt x="0" y="1730268"/>
                  <a:pt x="0" y="1706348"/>
                </a:cubicBezTo>
                <a:cubicBezTo>
                  <a:pt x="0" y="1682427"/>
                  <a:pt x="19390" y="1663038"/>
                  <a:pt x="43310" y="1663038"/>
                </a:cubicBezTo>
                <a:close/>
                <a:moveTo>
                  <a:pt x="615788" y="1385865"/>
                </a:moveTo>
                <a:cubicBezTo>
                  <a:pt x="639708" y="1385865"/>
                  <a:pt x="659098" y="1405255"/>
                  <a:pt x="659098" y="1429175"/>
                </a:cubicBezTo>
                <a:cubicBezTo>
                  <a:pt x="659098" y="1453095"/>
                  <a:pt x="639708" y="1472484"/>
                  <a:pt x="615788" y="1472484"/>
                </a:cubicBezTo>
                <a:cubicBezTo>
                  <a:pt x="591868" y="1472484"/>
                  <a:pt x="572478" y="1453095"/>
                  <a:pt x="572478" y="1429175"/>
                </a:cubicBezTo>
                <a:cubicBezTo>
                  <a:pt x="572478" y="1405255"/>
                  <a:pt x="591868" y="1385865"/>
                  <a:pt x="615788" y="1385865"/>
                </a:cubicBezTo>
                <a:close/>
                <a:moveTo>
                  <a:pt x="424962" y="1385865"/>
                </a:moveTo>
                <a:cubicBezTo>
                  <a:pt x="448882" y="1385865"/>
                  <a:pt x="468272" y="1405255"/>
                  <a:pt x="468272" y="1429175"/>
                </a:cubicBezTo>
                <a:cubicBezTo>
                  <a:pt x="468272" y="1453095"/>
                  <a:pt x="448882" y="1472484"/>
                  <a:pt x="424962" y="1472484"/>
                </a:cubicBezTo>
                <a:cubicBezTo>
                  <a:pt x="401042" y="1472484"/>
                  <a:pt x="381652" y="1453095"/>
                  <a:pt x="381652" y="1429175"/>
                </a:cubicBezTo>
                <a:cubicBezTo>
                  <a:pt x="381652" y="1405255"/>
                  <a:pt x="401042" y="1385865"/>
                  <a:pt x="424962" y="1385865"/>
                </a:cubicBezTo>
                <a:close/>
                <a:moveTo>
                  <a:pt x="234136" y="1385865"/>
                </a:moveTo>
                <a:cubicBezTo>
                  <a:pt x="258056" y="1385865"/>
                  <a:pt x="277446" y="1405255"/>
                  <a:pt x="277446" y="1429175"/>
                </a:cubicBezTo>
                <a:cubicBezTo>
                  <a:pt x="277446" y="1453095"/>
                  <a:pt x="258056" y="1472484"/>
                  <a:pt x="234136" y="1472484"/>
                </a:cubicBezTo>
                <a:cubicBezTo>
                  <a:pt x="210216" y="1472484"/>
                  <a:pt x="190826" y="1453095"/>
                  <a:pt x="190826" y="1429175"/>
                </a:cubicBezTo>
                <a:cubicBezTo>
                  <a:pt x="190826" y="1405255"/>
                  <a:pt x="210216" y="1385865"/>
                  <a:pt x="234136" y="1385865"/>
                </a:cubicBezTo>
                <a:close/>
                <a:moveTo>
                  <a:pt x="43310" y="1385865"/>
                </a:moveTo>
                <a:cubicBezTo>
                  <a:pt x="67230" y="1385865"/>
                  <a:pt x="86619" y="1405255"/>
                  <a:pt x="86619" y="1429175"/>
                </a:cubicBezTo>
                <a:cubicBezTo>
                  <a:pt x="86619" y="1453095"/>
                  <a:pt x="67230" y="1472484"/>
                  <a:pt x="43310" y="1472484"/>
                </a:cubicBezTo>
                <a:cubicBezTo>
                  <a:pt x="19390" y="1472484"/>
                  <a:pt x="0" y="1453095"/>
                  <a:pt x="0" y="1429175"/>
                </a:cubicBezTo>
                <a:cubicBezTo>
                  <a:pt x="0" y="1405255"/>
                  <a:pt x="19390" y="1385865"/>
                  <a:pt x="43310" y="1385865"/>
                </a:cubicBezTo>
                <a:close/>
                <a:moveTo>
                  <a:pt x="615788" y="1108692"/>
                </a:moveTo>
                <a:cubicBezTo>
                  <a:pt x="639708" y="1108692"/>
                  <a:pt x="659098" y="1128082"/>
                  <a:pt x="659098" y="1152002"/>
                </a:cubicBezTo>
                <a:cubicBezTo>
                  <a:pt x="659098" y="1175922"/>
                  <a:pt x="639708" y="1195311"/>
                  <a:pt x="615788" y="1195311"/>
                </a:cubicBezTo>
                <a:cubicBezTo>
                  <a:pt x="591868" y="1195311"/>
                  <a:pt x="572478" y="1175922"/>
                  <a:pt x="572478" y="1152002"/>
                </a:cubicBezTo>
                <a:cubicBezTo>
                  <a:pt x="572478" y="1128082"/>
                  <a:pt x="591868" y="1108692"/>
                  <a:pt x="615788" y="1108692"/>
                </a:cubicBezTo>
                <a:close/>
                <a:moveTo>
                  <a:pt x="424962" y="1108692"/>
                </a:moveTo>
                <a:cubicBezTo>
                  <a:pt x="448882" y="1108692"/>
                  <a:pt x="468272" y="1128082"/>
                  <a:pt x="468272" y="1152002"/>
                </a:cubicBezTo>
                <a:cubicBezTo>
                  <a:pt x="468272" y="1175922"/>
                  <a:pt x="448882" y="1195311"/>
                  <a:pt x="424962" y="1195311"/>
                </a:cubicBezTo>
                <a:cubicBezTo>
                  <a:pt x="401042" y="1195311"/>
                  <a:pt x="381652" y="1175922"/>
                  <a:pt x="381652" y="1152002"/>
                </a:cubicBezTo>
                <a:cubicBezTo>
                  <a:pt x="381652" y="1128082"/>
                  <a:pt x="401042" y="1108692"/>
                  <a:pt x="424962" y="1108692"/>
                </a:cubicBezTo>
                <a:close/>
                <a:moveTo>
                  <a:pt x="234136" y="1108692"/>
                </a:moveTo>
                <a:cubicBezTo>
                  <a:pt x="258056" y="1108692"/>
                  <a:pt x="277446" y="1128082"/>
                  <a:pt x="277446" y="1152002"/>
                </a:cubicBezTo>
                <a:cubicBezTo>
                  <a:pt x="277446" y="1175922"/>
                  <a:pt x="258056" y="1195311"/>
                  <a:pt x="234136" y="1195311"/>
                </a:cubicBezTo>
                <a:cubicBezTo>
                  <a:pt x="210216" y="1195311"/>
                  <a:pt x="190826" y="1175922"/>
                  <a:pt x="190826" y="1152002"/>
                </a:cubicBezTo>
                <a:cubicBezTo>
                  <a:pt x="190826" y="1128082"/>
                  <a:pt x="210216" y="1108692"/>
                  <a:pt x="234136" y="1108692"/>
                </a:cubicBezTo>
                <a:close/>
                <a:moveTo>
                  <a:pt x="43310" y="1108692"/>
                </a:moveTo>
                <a:cubicBezTo>
                  <a:pt x="67230" y="1108692"/>
                  <a:pt x="86619" y="1128082"/>
                  <a:pt x="86619" y="1152002"/>
                </a:cubicBezTo>
                <a:cubicBezTo>
                  <a:pt x="86619" y="1175922"/>
                  <a:pt x="67230" y="1195311"/>
                  <a:pt x="43310" y="1195311"/>
                </a:cubicBezTo>
                <a:cubicBezTo>
                  <a:pt x="19390" y="1195311"/>
                  <a:pt x="0" y="1175922"/>
                  <a:pt x="0" y="1152002"/>
                </a:cubicBezTo>
                <a:cubicBezTo>
                  <a:pt x="0" y="1128082"/>
                  <a:pt x="19390" y="1108692"/>
                  <a:pt x="43310" y="1108692"/>
                </a:cubicBezTo>
                <a:close/>
                <a:moveTo>
                  <a:pt x="615788" y="831519"/>
                </a:moveTo>
                <a:cubicBezTo>
                  <a:pt x="639708" y="831519"/>
                  <a:pt x="659098" y="850909"/>
                  <a:pt x="659098" y="874829"/>
                </a:cubicBezTo>
                <a:cubicBezTo>
                  <a:pt x="659098" y="898749"/>
                  <a:pt x="639708" y="918138"/>
                  <a:pt x="615788" y="918138"/>
                </a:cubicBezTo>
                <a:cubicBezTo>
                  <a:pt x="591868" y="918138"/>
                  <a:pt x="572478" y="898749"/>
                  <a:pt x="572478" y="874829"/>
                </a:cubicBezTo>
                <a:cubicBezTo>
                  <a:pt x="572478" y="850909"/>
                  <a:pt x="591868" y="831519"/>
                  <a:pt x="615788" y="831519"/>
                </a:cubicBezTo>
                <a:close/>
                <a:moveTo>
                  <a:pt x="424962" y="831519"/>
                </a:moveTo>
                <a:cubicBezTo>
                  <a:pt x="448882" y="831519"/>
                  <a:pt x="468272" y="850909"/>
                  <a:pt x="468272" y="874829"/>
                </a:cubicBezTo>
                <a:cubicBezTo>
                  <a:pt x="468272" y="898749"/>
                  <a:pt x="448882" y="918138"/>
                  <a:pt x="424962" y="918138"/>
                </a:cubicBezTo>
                <a:cubicBezTo>
                  <a:pt x="401042" y="918138"/>
                  <a:pt x="381652" y="898749"/>
                  <a:pt x="381652" y="874829"/>
                </a:cubicBezTo>
                <a:cubicBezTo>
                  <a:pt x="381652" y="850909"/>
                  <a:pt x="401042" y="831519"/>
                  <a:pt x="424962" y="831519"/>
                </a:cubicBezTo>
                <a:close/>
                <a:moveTo>
                  <a:pt x="234136" y="831519"/>
                </a:moveTo>
                <a:cubicBezTo>
                  <a:pt x="258056" y="831519"/>
                  <a:pt x="277446" y="850909"/>
                  <a:pt x="277446" y="874829"/>
                </a:cubicBezTo>
                <a:cubicBezTo>
                  <a:pt x="277446" y="898749"/>
                  <a:pt x="258056" y="918138"/>
                  <a:pt x="234136" y="918138"/>
                </a:cubicBezTo>
                <a:cubicBezTo>
                  <a:pt x="210216" y="918138"/>
                  <a:pt x="190826" y="898749"/>
                  <a:pt x="190826" y="874829"/>
                </a:cubicBezTo>
                <a:cubicBezTo>
                  <a:pt x="190826" y="850909"/>
                  <a:pt x="210216" y="831519"/>
                  <a:pt x="234136" y="831519"/>
                </a:cubicBezTo>
                <a:close/>
                <a:moveTo>
                  <a:pt x="43310" y="831519"/>
                </a:moveTo>
                <a:cubicBezTo>
                  <a:pt x="67230" y="831519"/>
                  <a:pt x="86619" y="850909"/>
                  <a:pt x="86619" y="874829"/>
                </a:cubicBezTo>
                <a:cubicBezTo>
                  <a:pt x="86619" y="898749"/>
                  <a:pt x="67230" y="918138"/>
                  <a:pt x="43310" y="918138"/>
                </a:cubicBezTo>
                <a:cubicBezTo>
                  <a:pt x="19390" y="918138"/>
                  <a:pt x="0" y="898749"/>
                  <a:pt x="0" y="874829"/>
                </a:cubicBezTo>
                <a:cubicBezTo>
                  <a:pt x="0" y="850909"/>
                  <a:pt x="19390" y="831519"/>
                  <a:pt x="43310" y="831519"/>
                </a:cubicBezTo>
                <a:close/>
                <a:moveTo>
                  <a:pt x="43310" y="554348"/>
                </a:moveTo>
                <a:cubicBezTo>
                  <a:pt x="67230" y="554348"/>
                  <a:pt x="86619" y="573738"/>
                  <a:pt x="86619" y="597658"/>
                </a:cubicBezTo>
                <a:cubicBezTo>
                  <a:pt x="86619" y="621576"/>
                  <a:pt x="67230" y="640965"/>
                  <a:pt x="43310" y="640965"/>
                </a:cubicBezTo>
                <a:cubicBezTo>
                  <a:pt x="19390" y="640965"/>
                  <a:pt x="0" y="621576"/>
                  <a:pt x="0" y="597658"/>
                </a:cubicBezTo>
                <a:cubicBezTo>
                  <a:pt x="0" y="573738"/>
                  <a:pt x="19390" y="554348"/>
                  <a:pt x="43310" y="554348"/>
                </a:cubicBezTo>
                <a:close/>
                <a:moveTo>
                  <a:pt x="615788" y="554346"/>
                </a:moveTo>
                <a:cubicBezTo>
                  <a:pt x="639708" y="554346"/>
                  <a:pt x="659098" y="573736"/>
                  <a:pt x="659098" y="597656"/>
                </a:cubicBezTo>
                <a:cubicBezTo>
                  <a:pt x="659098" y="621576"/>
                  <a:pt x="639708" y="640965"/>
                  <a:pt x="615788" y="640965"/>
                </a:cubicBezTo>
                <a:cubicBezTo>
                  <a:pt x="591868" y="640965"/>
                  <a:pt x="572478" y="621576"/>
                  <a:pt x="572478" y="597656"/>
                </a:cubicBezTo>
                <a:cubicBezTo>
                  <a:pt x="572478" y="573736"/>
                  <a:pt x="591868" y="554346"/>
                  <a:pt x="615788" y="554346"/>
                </a:cubicBezTo>
                <a:close/>
                <a:moveTo>
                  <a:pt x="424962" y="554346"/>
                </a:moveTo>
                <a:cubicBezTo>
                  <a:pt x="448882" y="554346"/>
                  <a:pt x="468272" y="573736"/>
                  <a:pt x="468272" y="597656"/>
                </a:cubicBezTo>
                <a:cubicBezTo>
                  <a:pt x="468272" y="621576"/>
                  <a:pt x="448882" y="640965"/>
                  <a:pt x="424962" y="640965"/>
                </a:cubicBezTo>
                <a:cubicBezTo>
                  <a:pt x="401042" y="640965"/>
                  <a:pt x="381652" y="621576"/>
                  <a:pt x="381652" y="597656"/>
                </a:cubicBezTo>
                <a:cubicBezTo>
                  <a:pt x="381652" y="573736"/>
                  <a:pt x="401042" y="554346"/>
                  <a:pt x="424962" y="554346"/>
                </a:cubicBezTo>
                <a:close/>
                <a:moveTo>
                  <a:pt x="234136" y="554346"/>
                </a:moveTo>
                <a:cubicBezTo>
                  <a:pt x="258056" y="554346"/>
                  <a:pt x="277446" y="573736"/>
                  <a:pt x="277446" y="597656"/>
                </a:cubicBezTo>
                <a:cubicBezTo>
                  <a:pt x="277446" y="621576"/>
                  <a:pt x="258056" y="640965"/>
                  <a:pt x="234136" y="640965"/>
                </a:cubicBezTo>
                <a:cubicBezTo>
                  <a:pt x="210216" y="640965"/>
                  <a:pt x="190826" y="621576"/>
                  <a:pt x="190826" y="597656"/>
                </a:cubicBezTo>
                <a:cubicBezTo>
                  <a:pt x="190826" y="573736"/>
                  <a:pt x="210216" y="554346"/>
                  <a:pt x="234136" y="554346"/>
                </a:cubicBezTo>
                <a:close/>
                <a:moveTo>
                  <a:pt x="615788" y="277173"/>
                </a:moveTo>
                <a:cubicBezTo>
                  <a:pt x="639708" y="277173"/>
                  <a:pt x="659098" y="296563"/>
                  <a:pt x="659098" y="320483"/>
                </a:cubicBezTo>
                <a:cubicBezTo>
                  <a:pt x="659098" y="344403"/>
                  <a:pt x="639708" y="363792"/>
                  <a:pt x="615788" y="363792"/>
                </a:cubicBezTo>
                <a:cubicBezTo>
                  <a:pt x="591868" y="363792"/>
                  <a:pt x="572478" y="344403"/>
                  <a:pt x="572478" y="320483"/>
                </a:cubicBezTo>
                <a:cubicBezTo>
                  <a:pt x="572478" y="296563"/>
                  <a:pt x="591868" y="277173"/>
                  <a:pt x="615788" y="277173"/>
                </a:cubicBezTo>
                <a:close/>
                <a:moveTo>
                  <a:pt x="424962" y="277173"/>
                </a:moveTo>
                <a:cubicBezTo>
                  <a:pt x="448882" y="277173"/>
                  <a:pt x="468272" y="296563"/>
                  <a:pt x="468272" y="320483"/>
                </a:cubicBezTo>
                <a:cubicBezTo>
                  <a:pt x="468272" y="344403"/>
                  <a:pt x="448882" y="363792"/>
                  <a:pt x="424962" y="363792"/>
                </a:cubicBezTo>
                <a:cubicBezTo>
                  <a:pt x="401042" y="363792"/>
                  <a:pt x="381652" y="344403"/>
                  <a:pt x="381652" y="320483"/>
                </a:cubicBezTo>
                <a:cubicBezTo>
                  <a:pt x="381652" y="296563"/>
                  <a:pt x="401042" y="277173"/>
                  <a:pt x="424962" y="277173"/>
                </a:cubicBezTo>
                <a:close/>
                <a:moveTo>
                  <a:pt x="234136" y="277173"/>
                </a:moveTo>
                <a:cubicBezTo>
                  <a:pt x="258056" y="277173"/>
                  <a:pt x="277446" y="296563"/>
                  <a:pt x="277446" y="320483"/>
                </a:cubicBezTo>
                <a:cubicBezTo>
                  <a:pt x="277446" y="344403"/>
                  <a:pt x="258056" y="363792"/>
                  <a:pt x="234136" y="363792"/>
                </a:cubicBezTo>
                <a:cubicBezTo>
                  <a:pt x="210216" y="363792"/>
                  <a:pt x="190826" y="344403"/>
                  <a:pt x="190826" y="320483"/>
                </a:cubicBezTo>
                <a:cubicBezTo>
                  <a:pt x="190826" y="296563"/>
                  <a:pt x="210216" y="277173"/>
                  <a:pt x="234136" y="277173"/>
                </a:cubicBezTo>
                <a:close/>
                <a:moveTo>
                  <a:pt x="43310" y="277173"/>
                </a:moveTo>
                <a:cubicBezTo>
                  <a:pt x="67230" y="277173"/>
                  <a:pt x="86619" y="296563"/>
                  <a:pt x="86619" y="320483"/>
                </a:cubicBezTo>
                <a:cubicBezTo>
                  <a:pt x="86619" y="344403"/>
                  <a:pt x="67230" y="363792"/>
                  <a:pt x="43310" y="363792"/>
                </a:cubicBezTo>
                <a:cubicBezTo>
                  <a:pt x="19390" y="363792"/>
                  <a:pt x="0" y="344403"/>
                  <a:pt x="0" y="320483"/>
                </a:cubicBezTo>
                <a:cubicBezTo>
                  <a:pt x="0" y="296563"/>
                  <a:pt x="19390" y="277173"/>
                  <a:pt x="43310" y="277173"/>
                </a:cubicBezTo>
                <a:close/>
                <a:moveTo>
                  <a:pt x="615788" y="0"/>
                </a:moveTo>
                <a:cubicBezTo>
                  <a:pt x="639708" y="0"/>
                  <a:pt x="659098" y="19390"/>
                  <a:pt x="659098" y="43310"/>
                </a:cubicBezTo>
                <a:cubicBezTo>
                  <a:pt x="659098" y="67230"/>
                  <a:pt x="639708" y="86619"/>
                  <a:pt x="615788" y="86619"/>
                </a:cubicBezTo>
                <a:cubicBezTo>
                  <a:pt x="591868" y="86619"/>
                  <a:pt x="572478" y="67230"/>
                  <a:pt x="572478" y="43310"/>
                </a:cubicBezTo>
                <a:cubicBezTo>
                  <a:pt x="572478" y="19390"/>
                  <a:pt x="591868" y="0"/>
                  <a:pt x="615788" y="0"/>
                </a:cubicBezTo>
                <a:close/>
                <a:moveTo>
                  <a:pt x="424962" y="0"/>
                </a:moveTo>
                <a:cubicBezTo>
                  <a:pt x="448882" y="0"/>
                  <a:pt x="468272" y="19390"/>
                  <a:pt x="468272" y="43310"/>
                </a:cubicBezTo>
                <a:cubicBezTo>
                  <a:pt x="468272" y="67230"/>
                  <a:pt x="448882" y="86619"/>
                  <a:pt x="424962" y="86619"/>
                </a:cubicBezTo>
                <a:cubicBezTo>
                  <a:pt x="401042" y="86619"/>
                  <a:pt x="381652" y="67230"/>
                  <a:pt x="381652" y="43310"/>
                </a:cubicBezTo>
                <a:cubicBezTo>
                  <a:pt x="381652" y="19390"/>
                  <a:pt x="401042" y="0"/>
                  <a:pt x="424962" y="0"/>
                </a:cubicBezTo>
                <a:close/>
                <a:moveTo>
                  <a:pt x="234136" y="0"/>
                </a:moveTo>
                <a:cubicBezTo>
                  <a:pt x="258056" y="0"/>
                  <a:pt x="277446" y="19390"/>
                  <a:pt x="277446" y="43310"/>
                </a:cubicBezTo>
                <a:cubicBezTo>
                  <a:pt x="277446" y="67230"/>
                  <a:pt x="258056" y="86619"/>
                  <a:pt x="234136" y="86619"/>
                </a:cubicBezTo>
                <a:cubicBezTo>
                  <a:pt x="210216" y="86619"/>
                  <a:pt x="190826" y="67230"/>
                  <a:pt x="190826" y="43310"/>
                </a:cubicBezTo>
                <a:cubicBezTo>
                  <a:pt x="190826" y="19390"/>
                  <a:pt x="210216" y="0"/>
                  <a:pt x="234136" y="0"/>
                </a:cubicBezTo>
                <a:close/>
                <a:moveTo>
                  <a:pt x="43310" y="0"/>
                </a:moveTo>
                <a:cubicBezTo>
                  <a:pt x="67230" y="0"/>
                  <a:pt x="86619" y="19390"/>
                  <a:pt x="86619" y="43310"/>
                </a:cubicBezTo>
                <a:cubicBezTo>
                  <a:pt x="86619" y="67230"/>
                  <a:pt x="67230" y="86619"/>
                  <a:pt x="43310" y="86619"/>
                </a:cubicBezTo>
                <a:cubicBezTo>
                  <a:pt x="19390" y="86619"/>
                  <a:pt x="0" y="67230"/>
                  <a:pt x="0" y="43310"/>
                </a:cubicBezTo>
                <a:cubicBezTo>
                  <a:pt x="0" y="19390"/>
                  <a:pt x="19390" y="0"/>
                  <a:pt x="43310" y="0"/>
                </a:cubicBezTo>
                <a:close/>
              </a:path>
            </a:pathLst>
          </a:custGeom>
          <a:gradFill flip="none" rotWithShape="1">
            <a:gsLst>
              <a:gs pos="0">
                <a:srgbClr val="567FCA"/>
              </a:gs>
              <a:gs pos="100000">
                <a:srgbClr val="567FCA">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sp>
        <p:nvSpPr>
          <p:cNvPr id="20" name="任意多边形: 形状 19"/>
          <p:cNvSpPr/>
          <p:nvPr/>
        </p:nvSpPr>
        <p:spPr>
          <a:xfrm rot="5400000" flipV="1">
            <a:off x="5297602" y="1112814"/>
            <a:ext cx="355828" cy="944588"/>
          </a:xfrm>
          <a:custGeom>
            <a:avLst/>
            <a:gdLst>
              <a:gd name="connsiteX0" fmla="*/ 615788 w 659098"/>
              <a:gd name="connsiteY0" fmla="*/ 1663038 h 1749657"/>
              <a:gd name="connsiteX1" fmla="*/ 659098 w 659098"/>
              <a:gd name="connsiteY1" fmla="*/ 1706348 h 1749657"/>
              <a:gd name="connsiteX2" fmla="*/ 615788 w 659098"/>
              <a:gd name="connsiteY2" fmla="*/ 1749657 h 1749657"/>
              <a:gd name="connsiteX3" fmla="*/ 572478 w 659098"/>
              <a:gd name="connsiteY3" fmla="*/ 1706348 h 1749657"/>
              <a:gd name="connsiteX4" fmla="*/ 615788 w 659098"/>
              <a:gd name="connsiteY4" fmla="*/ 1663038 h 1749657"/>
              <a:gd name="connsiteX5" fmla="*/ 424962 w 659098"/>
              <a:gd name="connsiteY5" fmla="*/ 1663038 h 1749657"/>
              <a:gd name="connsiteX6" fmla="*/ 468272 w 659098"/>
              <a:gd name="connsiteY6" fmla="*/ 1706348 h 1749657"/>
              <a:gd name="connsiteX7" fmla="*/ 424962 w 659098"/>
              <a:gd name="connsiteY7" fmla="*/ 1749657 h 1749657"/>
              <a:gd name="connsiteX8" fmla="*/ 381652 w 659098"/>
              <a:gd name="connsiteY8" fmla="*/ 1706348 h 1749657"/>
              <a:gd name="connsiteX9" fmla="*/ 424962 w 659098"/>
              <a:gd name="connsiteY9" fmla="*/ 1663038 h 1749657"/>
              <a:gd name="connsiteX10" fmla="*/ 234136 w 659098"/>
              <a:gd name="connsiteY10" fmla="*/ 1663038 h 1749657"/>
              <a:gd name="connsiteX11" fmla="*/ 277446 w 659098"/>
              <a:gd name="connsiteY11" fmla="*/ 1706348 h 1749657"/>
              <a:gd name="connsiteX12" fmla="*/ 234136 w 659098"/>
              <a:gd name="connsiteY12" fmla="*/ 1749657 h 1749657"/>
              <a:gd name="connsiteX13" fmla="*/ 190826 w 659098"/>
              <a:gd name="connsiteY13" fmla="*/ 1706348 h 1749657"/>
              <a:gd name="connsiteX14" fmla="*/ 234136 w 659098"/>
              <a:gd name="connsiteY14" fmla="*/ 1663038 h 1749657"/>
              <a:gd name="connsiteX15" fmla="*/ 43310 w 659098"/>
              <a:gd name="connsiteY15" fmla="*/ 1663038 h 1749657"/>
              <a:gd name="connsiteX16" fmla="*/ 86619 w 659098"/>
              <a:gd name="connsiteY16" fmla="*/ 1706348 h 1749657"/>
              <a:gd name="connsiteX17" fmla="*/ 43310 w 659098"/>
              <a:gd name="connsiteY17" fmla="*/ 1749657 h 1749657"/>
              <a:gd name="connsiteX18" fmla="*/ 0 w 659098"/>
              <a:gd name="connsiteY18" fmla="*/ 1706348 h 1749657"/>
              <a:gd name="connsiteX19" fmla="*/ 43310 w 659098"/>
              <a:gd name="connsiteY19" fmla="*/ 1663038 h 1749657"/>
              <a:gd name="connsiteX20" fmla="*/ 615788 w 659098"/>
              <a:gd name="connsiteY20" fmla="*/ 1385865 h 1749657"/>
              <a:gd name="connsiteX21" fmla="*/ 659098 w 659098"/>
              <a:gd name="connsiteY21" fmla="*/ 1429175 h 1749657"/>
              <a:gd name="connsiteX22" fmla="*/ 615788 w 659098"/>
              <a:gd name="connsiteY22" fmla="*/ 1472484 h 1749657"/>
              <a:gd name="connsiteX23" fmla="*/ 572478 w 659098"/>
              <a:gd name="connsiteY23" fmla="*/ 1429175 h 1749657"/>
              <a:gd name="connsiteX24" fmla="*/ 615788 w 659098"/>
              <a:gd name="connsiteY24" fmla="*/ 1385865 h 1749657"/>
              <a:gd name="connsiteX25" fmla="*/ 424962 w 659098"/>
              <a:gd name="connsiteY25" fmla="*/ 1385865 h 1749657"/>
              <a:gd name="connsiteX26" fmla="*/ 468272 w 659098"/>
              <a:gd name="connsiteY26" fmla="*/ 1429175 h 1749657"/>
              <a:gd name="connsiteX27" fmla="*/ 424962 w 659098"/>
              <a:gd name="connsiteY27" fmla="*/ 1472484 h 1749657"/>
              <a:gd name="connsiteX28" fmla="*/ 381652 w 659098"/>
              <a:gd name="connsiteY28" fmla="*/ 1429175 h 1749657"/>
              <a:gd name="connsiteX29" fmla="*/ 424962 w 659098"/>
              <a:gd name="connsiteY29" fmla="*/ 1385865 h 1749657"/>
              <a:gd name="connsiteX30" fmla="*/ 234136 w 659098"/>
              <a:gd name="connsiteY30" fmla="*/ 1385865 h 1749657"/>
              <a:gd name="connsiteX31" fmla="*/ 277446 w 659098"/>
              <a:gd name="connsiteY31" fmla="*/ 1429175 h 1749657"/>
              <a:gd name="connsiteX32" fmla="*/ 234136 w 659098"/>
              <a:gd name="connsiteY32" fmla="*/ 1472484 h 1749657"/>
              <a:gd name="connsiteX33" fmla="*/ 190826 w 659098"/>
              <a:gd name="connsiteY33" fmla="*/ 1429175 h 1749657"/>
              <a:gd name="connsiteX34" fmla="*/ 234136 w 659098"/>
              <a:gd name="connsiteY34" fmla="*/ 1385865 h 1749657"/>
              <a:gd name="connsiteX35" fmla="*/ 43310 w 659098"/>
              <a:gd name="connsiteY35" fmla="*/ 1385865 h 1749657"/>
              <a:gd name="connsiteX36" fmla="*/ 86619 w 659098"/>
              <a:gd name="connsiteY36" fmla="*/ 1429175 h 1749657"/>
              <a:gd name="connsiteX37" fmla="*/ 43310 w 659098"/>
              <a:gd name="connsiteY37" fmla="*/ 1472484 h 1749657"/>
              <a:gd name="connsiteX38" fmla="*/ 0 w 659098"/>
              <a:gd name="connsiteY38" fmla="*/ 1429175 h 1749657"/>
              <a:gd name="connsiteX39" fmla="*/ 43310 w 659098"/>
              <a:gd name="connsiteY39" fmla="*/ 1385865 h 1749657"/>
              <a:gd name="connsiteX40" fmla="*/ 615788 w 659098"/>
              <a:gd name="connsiteY40" fmla="*/ 1108692 h 1749657"/>
              <a:gd name="connsiteX41" fmla="*/ 659098 w 659098"/>
              <a:gd name="connsiteY41" fmla="*/ 1152002 h 1749657"/>
              <a:gd name="connsiteX42" fmla="*/ 615788 w 659098"/>
              <a:gd name="connsiteY42" fmla="*/ 1195311 h 1749657"/>
              <a:gd name="connsiteX43" fmla="*/ 572478 w 659098"/>
              <a:gd name="connsiteY43" fmla="*/ 1152002 h 1749657"/>
              <a:gd name="connsiteX44" fmla="*/ 615788 w 659098"/>
              <a:gd name="connsiteY44" fmla="*/ 1108692 h 1749657"/>
              <a:gd name="connsiteX45" fmla="*/ 424962 w 659098"/>
              <a:gd name="connsiteY45" fmla="*/ 1108692 h 1749657"/>
              <a:gd name="connsiteX46" fmla="*/ 468272 w 659098"/>
              <a:gd name="connsiteY46" fmla="*/ 1152002 h 1749657"/>
              <a:gd name="connsiteX47" fmla="*/ 424962 w 659098"/>
              <a:gd name="connsiteY47" fmla="*/ 1195311 h 1749657"/>
              <a:gd name="connsiteX48" fmla="*/ 381652 w 659098"/>
              <a:gd name="connsiteY48" fmla="*/ 1152002 h 1749657"/>
              <a:gd name="connsiteX49" fmla="*/ 424962 w 659098"/>
              <a:gd name="connsiteY49" fmla="*/ 1108692 h 1749657"/>
              <a:gd name="connsiteX50" fmla="*/ 234136 w 659098"/>
              <a:gd name="connsiteY50" fmla="*/ 1108692 h 1749657"/>
              <a:gd name="connsiteX51" fmla="*/ 277446 w 659098"/>
              <a:gd name="connsiteY51" fmla="*/ 1152002 h 1749657"/>
              <a:gd name="connsiteX52" fmla="*/ 234136 w 659098"/>
              <a:gd name="connsiteY52" fmla="*/ 1195311 h 1749657"/>
              <a:gd name="connsiteX53" fmla="*/ 190826 w 659098"/>
              <a:gd name="connsiteY53" fmla="*/ 1152002 h 1749657"/>
              <a:gd name="connsiteX54" fmla="*/ 234136 w 659098"/>
              <a:gd name="connsiteY54" fmla="*/ 1108692 h 1749657"/>
              <a:gd name="connsiteX55" fmla="*/ 43310 w 659098"/>
              <a:gd name="connsiteY55" fmla="*/ 1108692 h 1749657"/>
              <a:gd name="connsiteX56" fmla="*/ 86619 w 659098"/>
              <a:gd name="connsiteY56" fmla="*/ 1152002 h 1749657"/>
              <a:gd name="connsiteX57" fmla="*/ 43310 w 659098"/>
              <a:gd name="connsiteY57" fmla="*/ 1195311 h 1749657"/>
              <a:gd name="connsiteX58" fmla="*/ 0 w 659098"/>
              <a:gd name="connsiteY58" fmla="*/ 1152002 h 1749657"/>
              <a:gd name="connsiteX59" fmla="*/ 43310 w 659098"/>
              <a:gd name="connsiteY59" fmla="*/ 1108692 h 1749657"/>
              <a:gd name="connsiteX60" fmla="*/ 615788 w 659098"/>
              <a:gd name="connsiteY60" fmla="*/ 831519 h 1749657"/>
              <a:gd name="connsiteX61" fmla="*/ 659098 w 659098"/>
              <a:gd name="connsiteY61" fmla="*/ 874829 h 1749657"/>
              <a:gd name="connsiteX62" fmla="*/ 615788 w 659098"/>
              <a:gd name="connsiteY62" fmla="*/ 918138 h 1749657"/>
              <a:gd name="connsiteX63" fmla="*/ 572478 w 659098"/>
              <a:gd name="connsiteY63" fmla="*/ 874829 h 1749657"/>
              <a:gd name="connsiteX64" fmla="*/ 615788 w 659098"/>
              <a:gd name="connsiteY64" fmla="*/ 831519 h 1749657"/>
              <a:gd name="connsiteX65" fmla="*/ 424962 w 659098"/>
              <a:gd name="connsiteY65" fmla="*/ 831519 h 1749657"/>
              <a:gd name="connsiteX66" fmla="*/ 468272 w 659098"/>
              <a:gd name="connsiteY66" fmla="*/ 874829 h 1749657"/>
              <a:gd name="connsiteX67" fmla="*/ 424962 w 659098"/>
              <a:gd name="connsiteY67" fmla="*/ 918138 h 1749657"/>
              <a:gd name="connsiteX68" fmla="*/ 381652 w 659098"/>
              <a:gd name="connsiteY68" fmla="*/ 874829 h 1749657"/>
              <a:gd name="connsiteX69" fmla="*/ 424962 w 659098"/>
              <a:gd name="connsiteY69" fmla="*/ 831519 h 1749657"/>
              <a:gd name="connsiteX70" fmla="*/ 234136 w 659098"/>
              <a:gd name="connsiteY70" fmla="*/ 831519 h 1749657"/>
              <a:gd name="connsiteX71" fmla="*/ 277446 w 659098"/>
              <a:gd name="connsiteY71" fmla="*/ 874829 h 1749657"/>
              <a:gd name="connsiteX72" fmla="*/ 234136 w 659098"/>
              <a:gd name="connsiteY72" fmla="*/ 918138 h 1749657"/>
              <a:gd name="connsiteX73" fmla="*/ 190826 w 659098"/>
              <a:gd name="connsiteY73" fmla="*/ 874829 h 1749657"/>
              <a:gd name="connsiteX74" fmla="*/ 234136 w 659098"/>
              <a:gd name="connsiteY74" fmla="*/ 831519 h 1749657"/>
              <a:gd name="connsiteX75" fmla="*/ 43310 w 659098"/>
              <a:gd name="connsiteY75" fmla="*/ 831519 h 1749657"/>
              <a:gd name="connsiteX76" fmla="*/ 86619 w 659098"/>
              <a:gd name="connsiteY76" fmla="*/ 874829 h 1749657"/>
              <a:gd name="connsiteX77" fmla="*/ 43310 w 659098"/>
              <a:gd name="connsiteY77" fmla="*/ 918138 h 1749657"/>
              <a:gd name="connsiteX78" fmla="*/ 0 w 659098"/>
              <a:gd name="connsiteY78" fmla="*/ 874829 h 1749657"/>
              <a:gd name="connsiteX79" fmla="*/ 43310 w 659098"/>
              <a:gd name="connsiteY79" fmla="*/ 831519 h 1749657"/>
              <a:gd name="connsiteX80" fmla="*/ 43310 w 659098"/>
              <a:gd name="connsiteY80" fmla="*/ 554348 h 1749657"/>
              <a:gd name="connsiteX81" fmla="*/ 86619 w 659098"/>
              <a:gd name="connsiteY81" fmla="*/ 597658 h 1749657"/>
              <a:gd name="connsiteX82" fmla="*/ 43310 w 659098"/>
              <a:gd name="connsiteY82" fmla="*/ 640965 h 1749657"/>
              <a:gd name="connsiteX83" fmla="*/ 0 w 659098"/>
              <a:gd name="connsiteY83" fmla="*/ 597658 h 1749657"/>
              <a:gd name="connsiteX84" fmla="*/ 43310 w 659098"/>
              <a:gd name="connsiteY84" fmla="*/ 554348 h 1749657"/>
              <a:gd name="connsiteX85" fmla="*/ 615788 w 659098"/>
              <a:gd name="connsiteY85" fmla="*/ 554346 h 1749657"/>
              <a:gd name="connsiteX86" fmla="*/ 659098 w 659098"/>
              <a:gd name="connsiteY86" fmla="*/ 597656 h 1749657"/>
              <a:gd name="connsiteX87" fmla="*/ 615788 w 659098"/>
              <a:gd name="connsiteY87" fmla="*/ 640965 h 1749657"/>
              <a:gd name="connsiteX88" fmla="*/ 572478 w 659098"/>
              <a:gd name="connsiteY88" fmla="*/ 597656 h 1749657"/>
              <a:gd name="connsiteX89" fmla="*/ 615788 w 659098"/>
              <a:gd name="connsiteY89" fmla="*/ 554346 h 1749657"/>
              <a:gd name="connsiteX90" fmla="*/ 424962 w 659098"/>
              <a:gd name="connsiteY90" fmla="*/ 554346 h 1749657"/>
              <a:gd name="connsiteX91" fmla="*/ 468272 w 659098"/>
              <a:gd name="connsiteY91" fmla="*/ 597656 h 1749657"/>
              <a:gd name="connsiteX92" fmla="*/ 424962 w 659098"/>
              <a:gd name="connsiteY92" fmla="*/ 640965 h 1749657"/>
              <a:gd name="connsiteX93" fmla="*/ 381652 w 659098"/>
              <a:gd name="connsiteY93" fmla="*/ 597656 h 1749657"/>
              <a:gd name="connsiteX94" fmla="*/ 424962 w 659098"/>
              <a:gd name="connsiteY94" fmla="*/ 554346 h 1749657"/>
              <a:gd name="connsiteX95" fmla="*/ 234136 w 659098"/>
              <a:gd name="connsiteY95" fmla="*/ 554346 h 1749657"/>
              <a:gd name="connsiteX96" fmla="*/ 277446 w 659098"/>
              <a:gd name="connsiteY96" fmla="*/ 597656 h 1749657"/>
              <a:gd name="connsiteX97" fmla="*/ 234136 w 659098"/>
              <a:gd name="connsiteY97" fmla="*/ 640965 h 1749657"/>
              <a:gd name="connsiteX98" fmla="*/ 190826 w 659098"/>
              <a:gd name="connsiteY98" fmla="*/ 597656 h 1749657"/>
              <a:gd name="connsiteX99" fmla="*/ 234136 w 659098"/>
              <a:gd name="connsiteY99" fmla="*/ 554346 h 1749657"/>
              <a:gd name="connsiteX100" fmla="*/ 615788 w 659098"/>
              <a:gd name="connsiteY100" fmla="*/ 277173 h 1749657"/>
              <a:gd name="connsiteX101" fmla="*/ 659098 w 659098"/>
              <a:gd name="connsiteY101" fmla="*/ 320483 h 1749657"/>
              <a:gd name="connsiteX102" fmla="*/ 615788 w 659098"/>
              <a:gd name="connsiteY102" fmla="*/ 363792 h 1749657"/>
              <a:gd name="connsiteX103" fmla="*/ 572478 w 659098"/>
              <a:gd name="connsiteY103" fmla="*/ 320483 h 1749657"/>
              <a:gd name="connsiteX104" fmla="*/ 615788 w 659098"/>
              <a:gd name="connsiteY104" fmla="*/ 277173 h 1749657"/>
              <a:gd name="connsiteX105" fmla="*/ 424962 w 659098"/>
              <a:gd name="connsiteY105" fmla="*/ 277173 h 1749657"/>
              <a:gd name="connsiteX106" fmla="*/ 468272 w 659098"/>
              <a:gd name="connsiteY106" fmla="*/ 320483 h 1749657"/>
              <a:gd name="connsiteX107" fmla="*/ 424962 w 659098"/>
              <a:gd name="connsiteY107" fmla="*/ 363792 h 1749657"/>
              <a:gd name="connsiteX108" fmla="*/ 381652 w 659098"/>
              <a:gd name="connsiteY108" fmla="*/ 320483 h 1749657"/>
              <a:gd name="connsiteX109" fmla="*/ 424962 w 659098"/>
              <a:gd name="connsiteY109" fmla="*/ 277173 h 1749657"/>
              <a:gd name="connsiteX110" fmla="*/ 234136 w 659098"/>
              <a:gd name="connsiteY110" fmla="*/ 277173 h 1749657"/>
              <a:gd name="connsiteX111" fmla="*/ 277446 w 659098"/>
              <a:gd name="connsiteY111" fmla="*/ 320483 h 1749657"/>
              <a:gd name="connsiteX112" fmla="*/ 234136 w 659098"/>
              <a:gd name="connsiteY112" fmla="*/ 363792 h 1749657"/>
              <a:gd name="connsiteX113" fmla="*/ 190826 w 659098"/>
              <a:gd name="connsiteY113" fmla="*/ 320483 h 1749657"/>
              <a:gd name="connsiteX114" fmla="*/ 234136 w 659098"/>
              <a:gd name="connsiteY114" fmla="*/ 277173 h 1749657"/>
              <a:gd name="connsiteX115" fmla="*/ 43310 w 659098"/>
              <a:gd name="connsiteY115" fmla="*/ 277173 h 1749657"/>
              <a:gd name="connsiteX116" fmla="*/ 86619 w 659098"/>
              <a:gd name="connsiteY116" fmla="*/ 320483 h 1749657"/>
              <a:gd name="connsiteX117" fmla="*/ 43310 w 659098"/>
              <a:gd name="connsiteY117" fmla="*/ 363792 h 1749657"/>
              <a:gd name="connsiteX118" fmla="*/ 0 w 659098"/>
              <a:gd name="connsiteY118" fmla="*/ 320483 h 1749657"/>
              <a:gd name="connsiteX119" fmla="*/ 43310 w 659098"/>
              <a:gd name="connsiteY119" fmla="*/ 277173 h 1749657"/>
              <a:gd name="connsiteX120" fmla="*/ 615788 w 659098"/>
              <a:gd name="connsiteY120" fmla="*/ 0 h 1749657"/>
              <a:gd name="connsiteX121" fmla="*/ 659098 w 659098"/>
              <a:gd name="connsiteY121" fmla="*/ 43310 h 1749657"/>
              <a:gd name="connsiteX122" fmla="*/ 615788 w 659098"/>
              <a:gd name="connsiteY122" fmla="*/ 86619 h 1749657"/>
              <a:gd name="connsiteX123" fmla="*/ 572478 w 659098"/>
              <a:gd name="connsiteY123" fmla="*/ 43310 h 1749657"/>
              <a:gd name="connsiteX124" fmla="*/ 615788 w 659098"/>
              <a:gd name="connsiteY124" fmla="*/ 0 h 1749657"/>
              <a:gd name="connsiteX125" fmla="*/ 424962 w 659098"/>
              <a:gd name="connsiteY125" fmla="*/ 0 h 1749657"/>
              <a:gd name="connsiteX126" fmla="*/ 468272 w 659098"/>
              <a:gd name="connsiteY126" fmla="*/ 43310 h 1749657"/>
              <a:gd name="connsiteX127" fmla="*/ 424962 w 659098"/>
              <a:gd name="connsiteY127" fmla="*/ 86619 h 1749657"/>
              <a:gd name="connsiteX128" fmla="*/ 381652 w 659098"/>
              <a:gd name="connsiteY128" fmla="*/ 43310 h 1749657"/>
              <a:gd name="connsiteX129" fmla="*/ 424962 w 659098"/>
              <a:gd name="connsiteY129" fmla="*/ 0 h 1749657"/>
              <a:gd name="connsiteX130" fmla="*/ 234136 w 659098"/>
              <a:gd name="connsiteY130" fmla="*/ 0 h 1749657"/>
              <a:gd name="connsiteX131" fmla="*/ 277446 w 659098"/>
              <a:gd name="connsiteY131" fmla="*/ 43310 h 1749657"/>
              <a:gd name="connsiteX132" fmla="*/ 234136 w 659098"/>
              <a:gd name="connsiteY132" fmla="*/ 86619 h 1749657"/>
              <a:gd name="connsiteX133" fmla="*/ 190826 w 659098"/>
              <a:gd name="connsiteY133" fmla="*/ 43310 h 1749657"/>
              <a:gd name="connsiteX134" fmla="*/ 234136 w 659098"/>
              <a:gd name="connsiteY134" fmla="*/ 0 h 1749657"/>
              <a:gd name="connsiteX135" fmla="*/ 43310 w 659098"/>
              <a:gd name="connsiteY135" fmla="*/ 0 h 1749657"/>
              <a:gd name="connsiteX136" fmla="*/ 86619 w 659098"/>
              <a:gd name="connsiteY136" fmla="*/ 43310 h 1749657"/>
              <a:gd name="connsiteX137" fmla="*/ 43310 w 659098"/>
              <a:gd name="connsiteY137" fmla="*/ 86619 h 1749657"/>
              <a:gd name="connsiteX138" fmla="*/ 0 w 659098"/>
              <a:gd name="connsiteY138" fmla="*/ 43310 h 1749657"/>
              <a:gd name="connsiteX139" fmla="*/ 43310 w 659098"/>
              <a:gd name="connsiteY139" fmla="*/ 0 h 17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59098" h="1749657">
                <a:moveTo>
                  <a:pt x="615788" y="1663038"/>
                </a:moveTo>
                <a:cubicBezTo>
                  <a:pt x="639708" y="1663038"/>
                  <a:pt x="659098" y="1682427"/>
                  <a:pt x="659098" y="1706348"/>
                </a:cubicBezTo>
                <a:cubicBezTo>
                  <a:pt x="659098" y="1730268"/>
                  <a:pt x="639708" y="1749657"/>
                  <a:pt x="615788" y="1749657"/>
                </a:cubicBezTo>
                <a:cubicBezTo>
                  <a:pt x="591868" y="1749657"/>
                  <a:pt x="572478" y="1730268"/>
                  <a:pt x="572478" y="1706348"/>
                </a:cubicBezTo>
                <a:cubicBezTo>
                  <a:pt x="572478" y="1682427"/>
                  <a:pt x="591868" y="1663038"/>
                  <a:pt x="615788" y="1663038"/>
                </a:cubicBezTo>
                <a:close/>
                <a:moveTo>
                  <a:pt x="424962" y="1663038"/>
                </a:moveTo>
                <a:cubicBezTo>
                  <a:pt x="448882" y="1663038"/>
                  <a:pt x="468272" y="1682427"/>
                  <a:pt x="468272" y="1706348"/>
                </a:cubicBezTo>
                <a:cubicBezTo>
                  <a:pt x="468272" y="1730268"/>
                  <a:pt x="448882" y="1749657"/>
                  <a:pt x="424962" y="1749657"/>
                </a:cubicBezTo>
                <a:cubicBezTo>
                  <a:pt x="401042" y="1749657"/>
                  <a:pt x="381652" y="1730268"/>
                  <a:pt x="381652" y="1706348"/>
                </a:cubicBezTo>
                <a:cubicBezTo>
                  <a:pt x="381652" y="1682427"/>
                  <a:pt x="401042" y="1663038"/>
                  <a:pt x="424962" y="1663038"/>
                </a:cubicBezTo>
                <a:close/>
                <a:moveTo>
                  <a:pt x="234136" y="1663038"/>
                </a:moveTo>
                <a:cubicBezTo>
                  <a:pt x="258056" y="1663038"/>
                  <a:pt x="277446" y="1682427"/>
                  <a:pt x="277446" y="1706348"/>
                </a:cubicBezTo>
                <a:cubicBezTo>
                  <a:pt x="277446" y="1730268"/>
                  <a:pt x="258056" y="1749657"/>
                  <a:pt x="234136" y="1749657"/>
                </a:cubicBezTo>
                <a:cubicBezTo>
                  <a:pt x="210216" y="1749657"/>
                  <a:pt x="190826" y="1730268"/>
                  <a:pt x="190826" y="1706348"/>
                </a:cubicBezTo>
                <a:cubicBezTo>
                  <a:pt x="190826" y="1682427"/>
                  <a:pt x="210216" y="1663038"/>
                  <a:pt x="234136" y="1663038"/>
                </a:cubicBezTo>
                <a:close/>
                <a:moveTo>
                  <a:pt x="43310" y="1663038"/>
                </a:moveTo>
                <a:cubicBezTo>
                  <a:pt x="67230" y="1663038"/>
                  <a:pt x="86619" y="1682427"/>
                  <a:pt x="86619" y="1706348"/>
                </a:cubicBezTo>
                <a:cubicBezTo>
                  <a:pt x="86619" y="1730268"/>
                  <a:pt x="67230" y="1749657"/>
                  <a:pt x="43310" y="1749657"/>
                </a:cubicBezTo>
                <a:cubicBezTo>
                  <a:pt x="19390" y="1749657"/>
                  <a:pt x="0" y="1730268"/>
                  <a:pt x="0" y="1706348"/>
                </a:cubicBezTo>
                <a:cubicBezTo>
                  <a:pt x="0" y="1682427"/>
                  <a:pt x="19390" y="1663038"/>
                  <a:pt x="43310" y="1663038"/>
                </a:cubicBezTo>
                <a:close/>
                <a:moveTo>
                  <a:pt x="615788" y="1385865"/>
                </a:moveTo>
                <a:cubicBezTo>
                  <a:pt x="639708" y="1385865"/>
                  <a:pt x="659098" y="1405255"/>
                  <a:pt x="659098" y="1429175"/>
                </a:cubicBezTo>
                <a:cubicBezTo>
                  <a:pt x="659098" y="1453095"/>
                  <a:pt x="639708" y="1472484"/>
                  <a:pt x="615788" y="1472484"/>
                </a:cubicBezTo>
                <a:cubicBezTo>
                  <a:pt x="591868" y="1472484"/>
                  <a:pt x="572478" y="1453095"/>
                  <a:pt x="572478" y="1429175"/>
                </a:cubicBezTo>
                <a:cubicBezTo>
                  <a:pt x="572478" y="1405255"/>
                  <a:pt x="591868" y="1385865"/>
                  <a:pt x="615788" y="1385865"/>
                </a:cubicBezTo>
                <a:close/>
                <a:moveTo>
                  <a:pt x="424962" y="1385865"/>
                </a:moveTo>
                <a:cubicBezTo>
                  <a:pt x="448882" y="1385865"/>
                  <a:pt x="468272" y="1405255"/>
                  <a:pt x="468272" y="1429175"/>
                </a:cubicBezTo>
                <a:cubicBezTo>
                  <a:pt x="468272" y="1453095"/>
                  <a:pt x="448882" y="1472484"/>
                  <a:pt x="424962" y="1472484"/>
                </a:cubicBezTo>
                <a:cubicBezTo>
                  <a:pt x="401042" y="1472484"/>
                  <a:pt x="381652" y="1453095"/>
                  <a:pt x="381652" y="1429175"/>
                </a:cubicBezTo>
                <a:cubicBezTo>
                  <a:pt x="381652" y="1405255"/>
                  <a:pt x="401042" y="1385865"/>
                  <a:pt x="424962" y="1385865"/>
                </a:cubicBezTo>
                <a:close/>
                <a:moveTo>
                  <a:pt x="234136" y="1385865"/>
                </a:moveTo>
                <a:cubicBezTo>
                  <a:pt x="258056" y="1385865"/>
                  <a:pt x="277446" y="1405255"/>
                  <a:pt x="277446" y="1429175"/>
                </a:cubicBezTo>
                <a:cubicBezTo>
                  <a:pt x="277446" y="1453095"/>
                  <a:pt x="258056" y="1472484"/>
                  <a:pt x="234136" y="1472484"/>
                </a:cubicBezTo>
                <a:cubicBezTo>
                  <a:pt x="210216" y="1472484"/>
                  <a:pt x="190826" y="1453095"/>
                  <a:pt x="190826" y="1429175"/>
                </a:cubicBezTo>
                <a:cubicBezTo>
                  <a:pt x="190826" y="1405255"/>
                  <a:pt x="210216" y="1385865"/>
                  <a:pt x="234136" y="1385865"/>
                </a:cubicBezTo>
                <a:close/>
                <a:moveTo>
                  <a:pt x="43310" y="1385865"/>
                </a:moveTo>
                <a:cubicBezTo>
                  <a:pt x="67230" y="1385865"/>
                  <a:pt x="86619" y="1405255"/>
                  <a:pt x="86619" y="1429175"/>
                </a:cubicBezTo>
                <a:cubicBezTo>
                  <a:pt x="86619" y="1453095"/>
                  <a:pt x="67230" y="1472484"/>
                  <a:pt x="43310" y="1472484"/>
                </a:cubicBezTo>
                <a:cubicBezTo>
                  <a:pt x="19390" y="1472484"/>
                  <a:pt x="0" y="1453095"/>
                  <a:pt x="0" y="1429175"/>
                </a:cubicBezTo>
                <a:cubicBezTo>
                  <a:pt x="0" y="1405255"/>
                  <a:pt x="19390" y="1385865"/>
                  <a:pt x="43310" y="1385865"/>
                </a:cubicBezTo>
                <a:close/>
                <a:moveTo>
                  <a:pt x="615788" y="1108692"/>
                </a:moveTo>
                <a:cubicBezTo>
                  <a:pt x="639708" y="1108692"/>
                  <a:pt x="659098" y="1128082"/>
                  <a:pt x="659098" y="1152002"/>
                </a:cubicBezTo>
                <a:cubicBezTo>
                  <a:pt x="659098" y="1175922"/>
                  <a:pt x="639708" y="1195311"/>
                  <a:pt x="615788" y="1195311"/>
                </a:cubicBezTo>
                <a:cubicBezTo>
                  <a:pt x="591868" y="1195311"/>
                  <a:pt x="572478" y="1175922"/>
                  <a:pt x="572478" y="1152002"/>
                </a:cubicBezTo>
                <a:cubicBezTo>
                  <a:pt x="572478" y="1128082"/>
                  <a:pt x="591868" y="1108692"/>
                  <a:pt x="615788" y="1108692"/>
                </a:cubicBezTo>
                <a:close/>
                <a:moveTo>
                  <a:pt x="424962" y="1108692"/>
                </a:moveTo>
                <a:cubicBezTo>
                  <a:pt x="448882" y="1108692"/>
                  <a:pt x="468272" y="1128082"/>
                  <a:pt x="468272" y="1152002"/>
                </a:cubicBezTo>
                <a:cubicBezTo>
                  <a:pt x="468272" y="1175922"/>
                  <a:pt x="448882" y="1195311"/>
                  <a:pt x="424962" y="1195311"/>
                </a:cubicBezTo>
                <a:cubicBezTo>
                  <a:pt x="401042" y="1195311"/>
                  <a:pt x="381652" y="1175922"/>
                  <a:pt x="381652" y="1152002"/>
                </a:cubicBezTo>
                <a:cubicBezTo>
                  <a:pt x="381652" y="1128082"/>
                  <a:pt x="401042" y="1108692"/>
                  <a:pt x="424962" y="1108692"/>
                </a:cubicBezTo>
                <a:close/>
                <a:moveTo>
                  <a:pt x="234136" y="1108692"/>
                </a:moveTo>
                <a:cubicBezTo>
                  <a:pt x="258056" y="1108692"/>
                  <a:pt x="277446" y="1128082"/>
                  <a:pt x="277446" y="1152002"/>
                </a:cubicBezTo>
                <a:cubicBezTo>
                  <a:pt x="277446" y="1175922"/>
                  <a:pt x="258056" y="1195311"/>
                  <a:pt x="234136" y="1195311"/>
                </a:cubicBezTo>
                <a:cubicBezTo>
                  <a:pt x="210216" y="1195311"/>
                  <a:pt x="190826" y="1175922"/>
                  <a:pt x="190826" y="1152002"/>
                </a:cubicBezTo>
                <a:cubicBezTo>
                  <a:pt x="190826" y="1128082"/>
                  <a:pt x="210216" y="1108692"/>
                  <a:pt x="234136" y="1108692"/>
                </a:cubicBezTo>
                <a:close/>
                <a:moveTo>
                  <a:pt x="43310" y="1108692"/>
                </a:moveTo>
                <a:cubicBezTo>
                  <a:pt x="67230" y="1108692"/>
                  <a:pt x="86619" y="1128082"/>
                  <a:pt x="86619" y="1152002"/>
                </a:cubicBezTo>
                <a:cubicBezTo>
                  <a:pt x="86619" y="1175922"/>
                  <a:pt x="67230" y="1195311"/>
                  <a:pt x="43310" y="1195311"/>
                </a:cubicBezTo>
                <a:cubicBezTo>
                  <a:pt x="19390" y="1195311"/>
                  <a:pt x="0" y="1175922"/>
                  <a:pt x="0" y="1152002"/>
                </a:cubicBezTo>
                <a:cubicBezTo>
                  <a:pt x="0" y="1128082"/>
                  <a:pt x="19390" y="1108692"/>
                  <a:pt x="43310" y="1108692"/>
                </a:cubicBezTo>
                <a:close/>
                <a:moveTo>
                  <a:pt x="615788" y="831519"/>
                </a:moveTo>
                <a:cubicBezTo>
                  <a:pt x="639708" y="831519"/>
                  <a:pt x="659098" y="850909"/>
                  <a:pt x="659098" y="874829"/>
                </a:cubicBezTo>
                <a:cubicBezTo>
                  <a:pt x="659098" y="898749"/>
                  <a:pt x="639708" y="918138"/>
                  <a:pt x="615788" y="918138"/>
                </a:cubicBezTo>
                <a:cubicBezTo>
                  <a:pt x="591868" y="918138"/>
                  <a:pt x="572478" y="898749"/>
                  <a:pt x="572478" y="874829"/>
                </a:cubicBezTo>
                <a:cubicBezTo>
                  <a:pt x="572478" y="850909"/>
                  <a:pt x="591868" y="831519"/>
                  <a:pt x="615788" y="831519"/>
                </a:cubicBezTo>
                <a:close/>
                <a:moveTo>
                  <a:pt x="424962" y="831519"/>
                </a:moveTo>
                <a:cubicBezTo>
                  <a:pt x="448882" y="831519"/>
                  <a:pt x="468272" y="850909"/>
                  <a:pt x="468272" y="874829"/>
                </a:cubicBezTo>
                <a:cubicBezTo>
                  <a:pt x="468272" y="898749"/>
                  <a:pt x="448882" y="918138"/>
                  <a:pt x="424962" y="918138"/>
                </a:cubicBezTo>
                <a:cubicBezTo>
                  <a:pt x="401042" y="918138"/>
                  <a:pt x="381652" y="898749"/>
                  <a:pt x="381652" y="874829"/>
                </a:cubicBezTo>
                <a:cubicBezTo>
                  <a:pt x="381652" y="850909"/>
                  <a:pt x="401042" y="831519"/>
                  <a:pt x="424962" y="831519"/>
                </a:cubicBezTo>
                <a:close/>
                <a:moveTo>
                  <a:pt x="234136" y="831519"/>
                </a:moveTo>
                <a:cubicBezTo>
                  <a:pt x="258056" y="831519"/>
                  <a:pt x="277446" y="850909"/>
                  <a:pt x="277446" y="874829"/>
                </a:cubicBezTo>
                <a:cubicBezTo>
                  <a:pt x="277446" y="898749"/>
                  <a:pt x="258056" y="918138"/>
                  <a:pt x="234136" y="918138"/>
                </a:cubicBezTo>
                <a:cubicBezTo>
                  <a:pt x="210216" y="918138"/>
                  <a:pt x="190826" y="898749"/>
                  <a:pt x="190826" y="874829"/>
                </a:cubicBezTo>
                <a:cubicBezTo>
                  <a:pt x="190826" y="850909"/>
                  <a:pt x="210216" y="831519"/>
                  <a:pt x="234136" y="831519"/>
                </a:cubicBezTo>
                <a:close/>
                <a:moveTo>
                  <a:pt x="43310" y="831519"/>
                </a:moveTo>
                <a:cubicBezTo>
                  <a:pt x="67230" y="831519"/>
                  <a:pt x="86619" y="850909"/>
                  <a:pt x="86619" y="874829"/>
                </a:cubicBezTo>
                <a:cubicBezTo>
                  <a:pt x="86619" y="898749"/>
                  <a:pt x="67230" y="918138"/>
                  <a:pt x="43310" y="918138"/>
                </a:cubicBezTo>
                <a:cubicBezTo>
                  <a:pt x="19390" y="918138"/>
                  <a:pt x="0" y="898749"/>
                  <a:pt x="0" y="874829"/>
                </a:cubicBezTo>
                <a:cubicBezTo>
                  <a:pt x="0" y="850909"/>
                  <a:pt x="19390" y="831519"/>
                  <a:pt x="43310" y="831519"/>
                </a:cubicBezTo>
                <a:close/>
                <a:moveTo>
                  <a:pt x="43310" y="554348"/>
                </a:moveTo>
                <a:cubicBezTo>
                  <a:pt x="67230" y="554348"/>
                  <a:pt x="86619" y="573738"/>
                  <a:pt x="86619" y="597658"/>
                </a:cubicBezTo>
                <a:cubicBezTo>
                  <a:pt x="86619" y="621576"/>
                  <a:pt x="67230" y="640965"/>
                  <a:pt x="43310" y="640965"/>
                </a:cubicBezTo>
                <a:cubicBezTo>
                  <a:pt x="19390" y="640965"/>
                  <a:pt x="0" y="621576"/>
                  <a:pt x="0" y="597658"/>
                </a:cubicBezTo>
                <a:cubicBezTo>
                  <a:pt x="0" y="573738"/>
                  <a:pt x="19390" y="554348"/>
                  <a:pt x="43310" y="554348"/>
                </a:cubicBezTo>
                <a:close/>
                <a:moveTo>
                  <a:pt x="615788" y="554346"/>
                </a:moveTo>
                <a:cubicBezTo>
                  <a:pt x="639708" y="554346"/>
                  <a:pt x="659098" y="573736"/>
                  <a:pt x="659098" y="597656"/>
                </a:cubicBezTo>
                <a:cubicBezTo>
                  <a:pt x="659098" y="621576"/>
                  <a:pt x="639708" y="640965"/>
                  <a:pt x="615788" y="640965"/>
                </a:cubicBezTo>
                <a:cubicBezTo>
                  <a:pt x="591868" y="640965"/>
                  <a:pt x="572478" y="621576"/>
                  <a:pt x="572478" y="597656"/>
                </a:cubicBezTo>
                <a:cubicBezTo>
                  <a:pt x="572478" y="573736"/>
                  <a:pt x="591868" y="554346"/>
                  <a:pt x="615788" y="554346"/>
                </a:cubicBezTo>
                <a:close/>
                <a:moveTo>
                  <a:pt x="424962" y="554346"/>
                </a:moveTo>
                <a:cubicBezTo>
                  <a:pt x="448882" y="554346"/>
                  <a:pt x="468272" y="573736"/>
                  <a:pt x="468272" y="597656"/>
                </a:cubicBezTo>
                <a:cubicBezTo>
                  <a:pt x="468272" y="621576"/>
                  <a:pt x="448882" y="640965"/>
                  <a:pt x="424962" y="640965"/>
                </a:cubicBezTo>
                <a:cubicBezTo>
                  <a:pt x="401042" y="640965"/>
                  <a:pt x="381652" y="621576"/>
                  <a:pt x="381652" y="597656"/>
                </a:cubicBezTo>
                <a:cubicBezTo>
                  <a:pt x="381652" y="573736"/>
                  <a:pt x="401042" y="554346"/>
                  <a:pt x="424962" y="554346"/>
                </a:cubicBezTo>
                <a:close/>
                <a:moveTo>
                  <a:pt x="234136" y="554346"/>
                </a:moveTo>
                <a:cubicBezTo>
                  <a:pt x="258056" y="554346"/>
                  <a:pt x="277446" y="573736"/>
                  <a:pt x="277446" y="597656"/>
                </a:cubicBezTo>
                <a:cubicBezTo>
                  <a:pt x="277446" y="621576"/>
                  <a:pt x="258056" y="640965"/>
                  <a:pt x="234136" y="640965"/>
                </a:cubicBezTo>
                <a:cubicBezTo>
                  <a:pt x="210216" y="640965"/>
                  <a:pt x="190826" y="621576"/>
                  <a:pt x="190826" y="597656"/>
                </a:cubicBezTo>
                <a:cubicBezTo>
                  <a:pt x="190826" y="573736"/>
                  <a:pt x="210216" y="554346"/>
                  <a:pt x="234136" y="554346"/>
                </a:cubicBezTo>
                <a:close/>
                <a:moveTo>
                  <a:pt x="615788" y="277173"/>
                </a:moveTo>
                <a:cubicBezTo>
                  <a:pt x="639708" y="277173"/>
                  <a:pt x="659098" y="296563"/>
                  <a:pt x="659098" y="320483"/>
                </a:cubicBezTo>
                <a:cubicBezTo>
                  <a:pt x="659098" y="344403"/>
                  <a:pt x="639708" y="363792"/>
                  <a:pt x="615788" y="363792"/>
                </a:cubicBezTo>
                <a:cubicBezTo>
                  <a:pt x="591868" y="363792"/>
                  <a:pt x="572478" y="344403"/>
                  <a:pt x="572478" y="320483"/>
                </a:cubicBezTo>
                <a:cubicBezTo>
                  <a:pt x="572478" y="296563"/>
                  <a:pt x="591868" y="277173"/>
                  <a:pt x="615788" y="277173"/>
                </a:cubicBezTo>
                <a:close/>
                <a:moveTo>
                  <a:pt x="424962" y="277173"/>
                </a:moveTo>
                <a:cubicBezTo>
                  <a:pt x="448882" y="277173"/>
                  <a:pt x="468272" y="296563"/>
                  <a:pt x="468272" y="320483"/>
                </a:cubicBezTo>
                <a:cubicBezTo>
                  <a:pt x="468272" y="344403"/>
                  <a:pt x="448882" y="363792"/>
                  <a:pt x="424962" y="363792"/>
                </a:cubicBezTo>
                <a:cubicBezTo>
                  <a:pt x="401042" y="363792"/>
                  <a:pt x="381652" y="344403"/>
                  <a:pt x="381652" y="320483"/>
                </a:cubicBezTo>
                <a:cubicBezTo>
                  <a:pt x="381652" y="296563"/>
                  <a:pt x="401042" y="277173"/>
                  <a:pt x="424962" y="277173"/>
                </a:cubicBezTo>
                <a:close/>
                <a:moveTo>
                  <a:pt x="234136" y="277173"/>
                </a:moveTo>
                <a:cubicBezTo>
                  <a:pt x="258056" y="277173"/>
                  <a:pt x="277446" y="296563"/>
                  <a:pt x="277446" y="320483"/>
                </a:cubicBezTo>
                <a:cubicBezTo>
                  <a:pt x="277446" y="344403"/>
                  <a:pt x="258056" y="363792"/>
                  <a:pt x="234136" y="363792"/>
                </a:cubicBezTo>
                <a:cubicBezTo>
                  <a:pt x="210216" y="363792"/>
                  <a:pt x="190826" y="344403"/>
                  <a:pt x="190826" y="320483"/>
                </a:cubicBezTo>
                <a:cubicBezTo>
                  <a:pt x="190826" y="296563"/>
                  <a:pt x="210216" y="277173"/>
                  <a:pt x="234136" y="277173"/>
                </a:cubicBezTo>
                <a:close/>
                <a:moveTo>
                  <a:pt x="43310" y="277173"/>
                </a:moveTo>
                <a:cubicBezTo>
                  <a:pt x="67230" y="277173"/>
                  <a:pt x="86619" y="296563"/>
                  <a:pt x="86619" y="320483"/>
                </a:cubicBezTo>
                <a:cubicBezTo>
                  <a:pt x="86619" y="344403"/>
                  <a:pt x="67230" y="363792"/>
                  <a:pt x="43310" y="363792"/>
                </a:cubicBezTo>
                <a:cubicBezTo>
                  <a:pt x="19390" y="363792"/>
                  <a:pt x="0" y="344403"/>
                  <a:pt x="0" y="320483"/>
                </a:cubicBezTo>
                <a:cubicBezTo>
                  <a:pt x="0" y="296563"/>
                  <a:pt x="19390" y="277173"/>
                  <a:pt x="43310" y="277173"/>
                </a:cubicBezTo>
                <a:close/>
                <a:moveTo>
                  <a:pt x="615788" y="0"/>
                </a:moveTo>
                <a:cubicBezTo>
                  <a:pt x="639708" y="0"/>
                  <a:pt x="659098" y="19390"/>
                  <a:pt x="659098" y="43310"/>
                </a:cubicBezTo>
                <a:cubicBezTo>
                  <a:pt x="659098" y="67230"/>
                  <a:pt x="639708" y="86619"/>
                  <a:pt x="615788" y="86619"/>
                </a:cubicBezTo>
                <a:cubicBezTo>
                  <a:pt x="591868" y="86619"/>
                  <a:pt x="572478" y="67230"/>
                  <a:pt x="572478" y="43310"/>
                </a:cubicBezTo>
                <a:cubicBezTo>
                  <a:pt x="572478" y="19390"/>
                  <a:pt x="591868" y="0"/>
                  <a:pt x="615788" y="0"/>
                </a:cubicBezTo>
                <a:close/>
                <a:moveTo>
                  <a:pt x="424962" y="0"/>
                </a:moveTo>
                <a:cubicBezTo>
                  <a:pt x="448882" y="0"/>
                  <a:pt x="468272" y="19390"/>
                  <a:pt x="468272" y="43310"/>
                </a:cubicBezTo>
                <a:cubicBezTo>
                  <a:pt x="468272" y="67230"/>
                  <a:pt x="448882" y="86619"/>
                  <a:pt x="424962" y="86619"/>
                </a:cubicBezTo>
                <a:cubicBezTo>
                  <a:pt x="401042" y="86619"/>
                  <a:pt x="381652" y="67230"/>
                  <a:pt x="381652" y="43310"/>
                </a:cubicBezTo>
                <a:cubicBezTo>
                  <a:pt x="381652" y="19390"/>
                  <a:pt x="401042" y="0"/>
                  <a:pt x="424962" y="0"/>
                </a:cubicBezTo>
                <a:close/>
                <a:moveTo>
                  <a:pt x="234136" y="0"/>
                </a:moveTo>
                <a:cubicBezTo>
                  <a:pt x="258056" y="0"/>
                  <a:pt x="277446" y="19390"/>
                  <a:pt x="277446" y="43310"/>
                </a:cubicBezTo>
                <a:cubicBezTo>
                  <a:pt x="277446" y="67230"/>
                  <a:pt x="258056" y="86619"/>
                  <a:pt x="234136" y="86619"/>
                </a:cubicBezTo>
                <a:cubicBezTo>
                  <a:pt x="210216" y="86619"/>
                  <a:pt x="190826" y="67230"/>
                  <a:pt x="190826" y="43310"/>
                </a:cubicBezTo>
                <a:cubicBezTo>
                  <a:pt x="190826" y="19390"/>
                  <a:pt x="210216" y="0"/>
                  <a:pt x="234136" y="0"/>
                </a:cubicBezTo>
                <a:close/>
                <a:moveTo>
                  <a:pt x="43310" y="0"/>
                </a:moveTo>
                <a:cubicBezTo>
                  <a:pt x="67230" y="0"/>
                  <a:pt x="86619" y="19390"/>
                  <a:pt x="86619" y="43310"/>
                </a:cubicBezTo>
                <a:cubicBezTo>
                  <a:pt x="86619" y="67230"/>
                  <a:pt x="67230" y="86619"/>
                  <a:pt x="43310" y="86619"/>
                </a:cubicBezTo>
                <a:cubicBezTo>
                  <a:pt x="19390" y="86619"/>
                  <a:pt x="0" y="67230"/>
                  <a:pt x="0" y="43310"/>
                </a:cubicBezTo>
                <a:cubicBezTo>
                  <a:pt x="0" y="19390"/>
                  <a:pt x="19390" y="0"/>
                  <a:pt x="43310" y="0"/>
                </a:cubicBezTo>
                <a:close/>
              </a:path>
            </a:pathLst>
          </a:custGeom>
          <a:gradFill flip="none" rotWithShape="1">
            <a:gsLst>
              <a:gs pos="0">
                <a:srgbClr val="567FCA"/>
              </a:gs>
              <a:gs pos="100000">
                <a:srgbClr val="567FCA">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grpSp>
        <p:nvGrpSpPr>
          <p:cNvPr id="26" name="组合 25"/>
          <p:cNvGrpSpPr/>
          <p:nvPr/>
        </p:nvGrpSpPr>
        <p:grpSpPr>
          <a:xfrm flipH="1">
            <a:off x="636276" y="342900"/>
            <a:ext cx="5759681" cy="190500"/>
            <a:chOff x="6184669" y="342900"/>
            <a:chExt cx="5759681" cy="190500"/>
          </a:xfrm>
        </p:grpSpPr>
        <p:cxnSp>
          <p:nvCxnSpPr>
            <p:cNvPr id="27" name="直接连接符 26"/>
            <p:cNvCxnSpPr/>
            <p:nvPr/>
          </p:nvCxnSpPr>
          <p:spPr>
            <a:xfrm>
              <a:off x="6184669" y="438150"/>
              <a:ext cx="5585362"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11753850" y="342900"/>
              <a:ext cx="190500" cy="190500"/>
            </a:xfrm>
            <a:prstGeom prst="ellipse">
              <a:avLst/>
            </a:prstGeom>
            <a:solidFill>
              <a:srgbClr val="285BDB"/>
            </a:soli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endParaRPr>
            </a:p>
          </p:txBody>
        </p:sp>
      </p:grpSp>
      <p:sp>
        <p:nvSpPr>
          <p:cNvPr id="30" name="矩形 29"/>
          <p:cNvSpPr/>
          <p:nvPr/>
        </p:nvSpPr>
        <p:spPr>
          <a:xfrm>
            <a:off x="0" y="6184900"/>
            <a:ext cx="701676" cy="673100"/>
          </a:xfrm>
          <a:prstGeom prst="rect">
            <a:avLst/>
          </a:prstGeom>
          <a:gradFill>
            <a:gsLst>
              <a:gs pos="44925">
                <a:srgbClr val="306DDE"/>
              </a:gs>
              <a:gs pos="6000">
                <a:srgbClr val="3981E2">
                  <a:alpha val="73000"/>
                </a:srgbClr>
              </a:gs>
              <a:gs pos="81000">
                <a:srgbClr val="285BDB"/>
              </a:gs>
            </a:gsLst>
            <a:lin ang="2700000" scaled="0"/>
          </a:gra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mn-ea"/>
            </a:endParaRPr>
          </a:p>
        </p:txBody>
      </p:sp>
      <p:pic>
        <p:nvPicPr>
          <p:cNvPr id="34" name="图片 33"/>
          <p:cNvPicPr>
            <a:picLocks noChangeAspect="1"/>
          </p:cNvPicPr>
          <p:nvPr/>
        </p:nvPicPr>
        <p:blipFill>
          <a:blip r:embed="rId5">
            <a:extLst>
              <a:ext uri="{28A0092B-C50C-407E-A947-70E740481C1C}">
                <a14:useLocalDpi xmlns:a14="http://schemas.microsoft.com/office/drawing/2010/main" val="0"/>
              </a:ext>
            </a:extLst>
          </a:blip>
          <a:srcRect l="27920" t="-1023" r="8370" b="5460"/>
          <a:stretch>
            <a:fillRect/>
          </a:stretch>
        </p:blipFill>
        <p:spPr>
          <a:xfrm>
            <a:off x="1325231" y="2089882"/>
            <a:ext cx="2703768" cy="2703768"/>
          </a:xfrm>
          <a:custGeom>
            <a:avLst/>
            <a:gdLst>
              <a:gd name="connsiteX0" fmla="*/ 1351884 w 2703768"/>
              <a:gd name="connsiteY0" fmla="*/ 0 h 2703768"/>
              <a:gd name="connsiteX1" fmla="*/ 2703768 w 2703768"/>
              <a:gd name="connsiteY1" fmla="*/ 1351884 h 2703768"/>
              <a:gd name="connsiteX2" fmla="*/ 1351884 w 2703768"/>
              <a:gd name="connsiteY2" fmla="*/ 2703768 h 2703768"/>
              <a:gd name="connsiteX3" fmla="*/ 0 w 2703768"/>
              <a:gd name="connsiteY3" fmla="*/ 1351884 h 2703768"/>
              <a:gd name="connsiteX4" fmla="*/ 1351884 w 2703768"/>
              <a:gd name="connsiteY4" fmla="*/ 0 h 2703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3768" h="2703768">
                <a:moveTo>
                  <a:pt x="1351884" y="0"/>
                </a:moveTo>
                <a:cubicBezTo>
                  <a:pt x="2098509" y="0"/>
                  <a:pt x="2703768" y="605259"/>
                  <a:pt x="2703768" y="1351884"/>
                </a:cubicBezTo>
                <a:cubicBezTo>
                  <a:pt x="2703768" y="2098509"/>
                  <a:pt x="2098509" y="2703768"/>
                  <a:pt x="1351884" y="2703768"/>
                </a:cubicBezTo>
                <a:cubicBezTo>
                  <a:pt x="605259" y="2703768"/>
                  <a:pt x="0" y="2098509"/>
                  <a:pt x="0" y="1351884"/>
                </a:cubicBezTo>
                <a:cubicBezTo>
                  <a:pt x="0" y="605259"/>
                  <a:pt x="605259" y="0"/>
                  <a:pt x="1351884" y="0"/>
                </a:cubicBezTo>
                <a:close/>
              </a:path>
            </a:pathLst>
          </a:custGeom>
        </p:spPr>
      </p:pic>
      <p:grpSp>
        <p:nvGrpSpPr>
          <p:cNvPr id="35" name="组合 34"/>
          <p:cNvGrpSpPr/>
          <p:nvPr/>
        </p:nvGrpSpPr>
        <p:grpSpPr>
          <a:xfrm>
            <a:off x="3122975" y="4134237"/>
            <a:ext cx="1113620" cy="982956"/>
            <a:chOff x="6485282" y="-1420938"/>
            <a:chExt cx="1262849" cy="1114676"/>
          </a:xfrm>
          <a:gradFill>
            <a:gsLst>
              <a:gs pos="44925">
                <a:srgbClr val="306DDE"/>
              </a:gs>
              <a:gs pos="6000">
                <a:srgbClr val="3981E2">
                  <a:alpha val="73000"/>
                </a:srgbClr>
              </a:gs>
              <a:gs pos="81000">
                <a:srgbClr val="285BDB"/>
              </a:gs>
            </a:gsLst>
            <a:lin ang="2700000" scaled="0"/>
          </a:gradFill>
        </p:grpSpPr>
        <p:sp>
          <p:nvSpPr>
            <p:cNvPr id="36" name="椭圆 35"/>
            <p:cNvSpPr/>
            <p:nvPr/>
          </p:nvSpPr>
          <p:spPr>
            <a:xfrm>
              <a:off x="6529262" y="-1420938"/>
              <a:ext cx="1114678" cy="1114676"/>
            </a:xfrm>
            <a:prstGeom prst="ellipse">
              <a:avLst/>
            </a:prstGeom>
            <a:grp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宋体 CN Heavy" panose="02020900000000000000" charset="-122"/>
                <a:ea typeface="思源宋体 CN Heavy" panose="02020900000000000000" charset="-122"/>
                <a:cs typeface="+mn-ea"/>
              </a:endParaRPr>
            </a:p>
          </p:txBody>
        </p:sp>
        <p:sp>
          <p:nvSpPr>
            <p:cNvPr id="37" name="文本框 36"/>
            <p:cNvSpPr txBox="1"/>
            <p:nvPr>
              <p:custDataLst>
                <p:tags r:id="rId6"/>
              </p:custDataLst>
            </p:nvPr>
          </p:nvSpPr>
          <p:spPr>
            <a:xfrm flipH="1">
              <a:off x="6485282" y="-1359077"/>
              <a:ext cx="1262849" cy="1047060"/>
            </a:xfrm>
            <a:prstGeom prst="rect">
              <a:avLst/>
            </a:prstGeom>
            <a:noFill/>
          </p:spPr>
          <p:txBody>
            <a:bodyPr vert="horz" wrap="square" rtlCol="0">
              <a:spAutoFit/>
            </a:bodyPr>
            <a:lstStyle/>
            <a:p>
              <a:pPr algn="ctr"/>
              <a:r>
                <a:rPr lang="en-US" altLang="zh-CN" sz="5400" kern="100" dirty="0">
                  <a:solidFill>
                    <a:schemeClr val="bg1"/>
                  </a:solidFill>
                  <a:latin typeface="思源宋体 CN Heavy" panose="02020900000000000000" charset="-122"/>
                  <a:ea typeface="思源宋体 CN Heavy" panose="02020900000000000000" charset="-122"/>
                  <a:cs typeface="汉仪旗黑-50S" panose="00020600040101010101" charset="-122"/>
                </a:rPr>
                <a:t>01</a:t>
              </a:r>
              <a:endParaRPr lang="zh-CN" altLang="en-US" sz="5400" kern="100" dirty="0">
                <a:solidFill>
                  <a:schemeClr val="bg1"/>
                </a:solidFill>
                <a:latin typeface="思源宋体 CN Heavy" panose="02020900000000000000" charset="-122"/>
                <a:ea typeface="思源宋体 CN Heavy" panose="02020900000000000000" charset="-122"/>
                <a:cs typeface="汉仪旗黑-50S" panose="00020600040101010101" charset="-122"/>
              </a:endParaRPr>
            </a:p>
          </p:txBody>
        </p:sp>
      </p:gr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custDataLst>
              <p:tags r:id="rId1"/>
            </p:custDataLst>
          </p:nvPr>
        </p:nvGraphicFramePr>
        <p:xfrm>
          <a:off x="1663700" y="1562100"/>
          <a:ext cx="6365240" cy="3938270"/>
        </p:xfrm>
        <a:graphic>
          <a:graphicData uri="http://schemas.openxmlformats.org/drawingml/2006/table">
            <a:tbl>
              <a:tblPr/>
              <a:tblGrid>
                <a:gridCol w="1619250"/>
                <a:gridCol w="2623820"/>
                <a:gridCol w="2122170"/>
              </a:tblGrid>
              <a:tr h="1333500">
                <a:tc>
                  <a:txBody>
                    <a:bodyPr/>
                    <a:p>
                      <a:pPr algn="ctr" fontAlgn="ctr"/>
                      <a:r>
                        <a:rPr lang="zh-CN" altLang="en-US" sz="2400" b="0" i="0">
                          <a:solidFill>
                            <a:srgbClr val="000000"/>
                          </a:solidFill>
                          <a:latin typeface="Segoe UI" panose="020B0502040204020203"/>
                          <a:ea typeface="Segoe UI" panose="020B0502040204020203"/>
                        </a:rPr>
                        <a:t>产量（</a:t>
                      </a:r>
                      <a:r>
                        <a:rPr lang="en-US" altLang="zh-CN" sz="2400" b="0" i="0">
                          <a:solidFill>
                            <a:srgbClr val="000000"/>
                          </a:solidFill>
                          <a:latin typeface="Segoe UI" panose="020B0502040204020203"/>
                          <a:ea typeface="Segoe UI" panose="020B0502040204020203"/>
                        </a:rPr>
                        <a:t>Q</a:t>
                      </a:r>
                      <a:r>
                        <a:rPr lang="zh-CN" altLang="en-US" sz="2400" b="0" i="0">
                          <a:solidFill>
                            <a:srgbClr val="000000"/>
                          </a:solidFill>
                          <a:latin typeface="Segoe UI" panose="020B0502040204020203"/>
                          <a:ea typeface="Segoe UI" panose="020B0502040204020203"/>
                        </a:rPr>
                        <a:t>，单位）</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ctr" fontAlgn="ctr"/>
                      <a:r>
                        <a:rPr lang="zh-CN" altLang="en-US" sz="2400" b="0" i="0">
                          <a:solidFill>
                            <a:srgbClr val="000000"/>
                          </a:solidFill>
                          <a:latin typeface="Segoe UI" panose="020B0502040204020203"/>
                          <a:ea typeface="Segoe UI" panose="020B0502040204020203"/>
                        </a:rPr>
                        <a:t>总成本（</a:t>
                      </a:r>
                      <a:r>
                        <a:rPr lang="en-US" altLang="zh-CN" sz="2400" b="0" i="0">
                          <a:solidFill>
                            <a:srgbClr val="000000"/>
                          </a:solidFill>
                          <a:latin typeface="Segoe UI" panose="020B0502040204020203"/>
                          <a:ea typeface="Segoe UI" panose="020B0502040204020203"/>
                        </a:rPr>
                        <a:t>TC</a:t>
                      </a:r>
                      <a:r>
                        <a:rPr lang="zh-CN" altLang="en-US" sz="2400" b="0" i="0">
                          <a:solidFill>
                            <a:srgbClr val="000000"/>
                          </a:solidFill>
                          <a:latin typeface="Segoe UI" panose="020B0502040204020203"/>
                          <a:ea typeface="Segoe UI" panose="020B0502040204020203"/>
                        </a:rPr>
                        <a:t>，元）</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ctr" fontAlgn="ctr"/>
                      <a:r>
                        <a:rPr lang="zh-CN" altLang="en-US" sz="2400" b="0" i="0">
                          <a:solidFill>
                            <a:srgbClr val="000000"/>
                          </a:solidFill>
                          <a:latin typeface="Segoe UI" panose="020B0502040204020203"/>
                          <a:ea typeface="Segoe UI" panose="020B0502040204020203"/>
                        </a:rPr>
                        <a:t>边际成本（</a:t>
                      </a:r>
                      <a:r>
                        <a:rPr lang="en-US" altLang="zh-CN" sz="2400" b="0" i="0">
                          <a:solidFill>
                            <a:srgbClr val="000000"/>
                          </a:solidFill>
                          <a:latin typeface="Segoe UI" panose="020B0502040204020203"/>
                          <a:ea typeface="Segoe UI" panose="020B0502040204020203"/>
                        </a:rPr>
                        <a:t>MC=ΔTC/ΔQ</a:t>
                      </a:r>
                      <a:r>
                        <a:rPr lang="zh-CN" altLang="en-US" sz="2400" b="0" i="0">
                          <a:solidFill>
                            <a:srgbClr val="000000"/>
                          </a:solidFill>
                          <a:latin typeface="Segoe UI" panose="020B0502040204020203"/>
                          <a:ea typeface="Segoe UI" panose="020B0502040204020203"/>
                        </a:rPr>
                        <a:t>，元）</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r>
              <a:tr h="222250">
                <a:tc>
                  <a:txBody>
                    <a:bodyPr/>
                    <a:p>
                      <a:pPr algn="r" fontAlgn="ctr"/>
                      <a:r>
                        <a:rPr lang="en-US" altLang="zh-CN" sz="2400" b="0" i="0">
                          <a:solidFill>
                            <a:srgbClr val="000000"/>
                          </a:solidFill>
                          <a:latin typeface="Segoe UI" panose="020B0502040204020203"/>
                          <a:ea typeface="Segoe UI" panose="020B0502040204020203"/>
                        </a:rPr>
                        <a:t>0</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l" fontAlgn="ctr"/>
                      <a:r>
                        <a:rPr lang="en-US" altLang="zh-CN" sz="2400" b="0" i="0">
                          <a:solidFill>
                            <a:srgbClr val="000000"/>
                          </a:solidFill>
                          <a:latin typeface="Segoe UI" panose="020B0502040204020203"/>
                          <a:ea typeface="Segoe UI" panose="020B0502040204020203"/>
                        </a:rPr>
                        <a:t>100</a:t>
                      </a:r>
                      <a:r>
                        <a:rPr lang="zh-CN" altLang="en-US" sz="2400" b="0" i="0">
                          <a:solidFill>
                            <a:srgbClr val="000000"/>
                          </a:solidFill>
                          <a:latin typeface="Segoe UI" panose="020B0502040204020203"/>
                          <a:ea typeface="Segoe UI" panose="020B0502040204020203"/>
                        </a:rPr>
                        <a:t>（固定成本）</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l" fontAlgn="ctr"/>
                      <a:r>
                        <a:rPr lang="en-US" altLang="zh-CN" sz="2400" b="0" i="0">
                          <a:solidFill>
                            <a:srgbClr val="000000"/>
                          </a:solidFill>
                          <a:latin typeface="Segoe UI" panose="020B0502040204020203"/>
                          <a:ea typeface="Segoe UI" panose="020B0502040204020203"/>
                        </a:rPr>
                        <a:t>-</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r>
              <a:tr h="222250">
                <a:tc>
                  <a:txBody>
                    <a:bodyPr/>
                    <a:p>
                      <a:pPr algn="r" fontAlgn="ctr"/>
                      <a:r>
                        <a:rPr lang="en-US" altLang="zh-CN" sz="2400" b="0" i="0">
                          <a:solidFill>
                            <a:srgbClr val="000000"/>
                          </a:solidFill>
                          <a:latin typeface="Segoe UI" panose="020B0502040204020203"/>
                          <a:ea typeface="Segoe UI" panose="020B0502040204020203"/>
                        </a:rPr>
                        <a:t>1</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ctr" fontAlgn="ctr"/>
                      <a:r>
                        <a:rPr lang="en-US" altLang="zh-CN" sz="2400" b="0" i="0">
                          <a:solidFill>
                            <a:srgbClr val="000000"/>
                          </a:solidFill>
                          <a:latin typeface="Segoe UI" panose="020B0502040204020203"/>
                          <a:ea typeface="Segoe UI" panose="020B0502040204020203"/>
                        </a:rPr>
                        <a:t>150</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l" fontAlgn="ctr"/>
                      <a:r>
                        <a:rPr lang="en-US" altLang="zh-CN" sz="2400" b="0" i="0">
                          <a:solidFill>
                            <a:srgbClr val="000000"/>
                          </a:solidFill>
                          <a:latin typeface="Segoe UI" panose="020B0502040204020203"/>
                          <a:ea typeface="Segoe UI" panose="020B0502040204020203"/>
                        </a:rPr>
                        <a:t>50</a:t>
                      </a:r>
                      <a:r>
                        <a:rPr lang="zh-CN" altLang="en-US" sz="2400" b="0" i="0">
                          <a:solidFill>
                            <a:srgbClr val="000000"/>
                          </a:solidFill>
                          <a:latin typeface="Segoe UI" panose="020B0502040204020203"/>
                          <a:ea typeface="Segoe UI" panose="020B0502040204020203"/>
                        </a:rPr>
                        <a:t>（</a:t>
                      </a:r>
                      <a:r>
                        <a:rPr lang="en-US" altLang="zh-CN" sz="2400" b="0" i="0">
                          <a:solidFill>
                            <a:srgbClr val="000000"/>
                          </a:solidFill>
                          <a:latin typeface="Segoe UI" panose="020B0502040204020203"/>
                          <a:ea typeface="Segoe UI" panose="020B0502040204020203"/>
                        </a:rPr>
                        <a:t>150-100</a:t>
                      </a:r>
                      <a:r>
                        <a:rPr lang="zh-CN" altLang="en-US" sz="2400" b="0" i="0">
                          <a:solidFill>
                            <a:srgbClr val="000000"/>
                          </a:solidFill>
                          <a:latin typeface="Segoe UI" panose="020B0502040204020203"/>
                          <a:ea typeface="Segoe UI" panose="020B0502040204020203"/>
                        </a:rPr>
                        <a:t>）</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r>
              <a:tr h="222250">
                <a:tc>
                  <a:txBody>
                    <a:bodyPr/>
                    <a:p>
                      <a:pPr algn="r" fontAlgn="ctr"/>
                      <a:r>
                        <a:rPr lang="en-US" altLang="zh-CN" sz="2400" b="0" i="0">
                          <a:solidFill>
                            <a:srgbClr val="000000"/>
                          </a:solidFill>
                          <a:latin typeface="Segoe UI" panose="020B0502040204020203"/>
                          <a:ea typeface="Segoe UI" panose="020B0502040204020203"/>
                        </a:rPr>
                        <a:t>2</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ctr" fontAlgn="ctr"/>
                      <a:r>
                        <a:rPr lang="en-US" altLang="zh-CN" sz="2400" b="0" i="0">
                          <a:solidFill>
                            <a:srgbClr val="000000"/>
                          </a:solidFill>
                          <a:latin typeface="Segoe UI" panose="020B0502040204020203"/>
                          <a:ea typeface="Segoe UI" panose="020B0502040204020203"/>
                        </a:rPr>
                        <a:t>210</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l" fontAlgn="ctr"/>
                      <a:r>
                        <a:rPr lang="en-US" altLang="zh-CN" sz="2400" b="0" i="0">
                          <a:solidFill>
                            <a:srgbClr val="000000"/>
                          </a:solidFill>
                          <a:latin typeface="Segoe UI" panose="020B0502040204020203"/>
                          <a:ea typeface="Segoe UI" panose="020B0502040204020203"/>
                        </a:rPr>
                        <a:t>60</a:t>
                      </a:r>
                      <a:r>
                        <a:rPr lang="zh-CN" altLang="en-US" sz="2400" b="0" i="0">
                          <a:solidFill>
                            <a:srgbClr val="000000"/>
                          </a:solidFill>
                          <a:latin typeface="Segoe UI" panose="020B0502040204020203"/>
                          <a:ea typeface="Segoe UI" panose="020B0502040204020203"/>
                        </a:rPr>
                        <a:t>（</a:t>
                      </a:r>
                      <a:r>
                        <a:rPr lang="en-US" altLang="zh-CN" sz="2400" b="0" i="0">
                          <a:solidFill>
                            <a:srgbClr val="000000"/>
                          </a:solidFill>
                          <a:latin typeface="Segoe UI" panose="020B0502040204020203"/>
                          <a:ea typeface="Segoe UI" panose="020B0502040204020203"/>
                        </a:rPr>
                        <a:t>210-150</a:t>
                      </a:r>
                      <a:r>
                        <a:rPr lang="zh-CN" altLang="en-US" sz="2400" b="0" i="0">
                          <a:solidFill>
                            <a:srgbClr val="000000"/>
                          </a:solidFill>
                          <a:latin typeface="Segoe UI" panose="020B0502040204020203"/>
                          <a:ea typeface="Segoe UI" panose="020B0502040204020203"/>
                        </a:rPr>
                        <a:t>）</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r>
              <a:tr h="222250">
                <a:tc>
                  <a:txBody>
                    <a:bodyPr/>
                    <a:p>
                      <a:pPr algn="r" fontAlgn="ctr"/>
                      <a:r>
                        <a:rPr lang="en-US" altLang="zh-CN" sz="2400" b="0" i="0">
                          <a:solidFill>
                            <a:srgbClr val="000000"/>
                          </a:solidFill>
                          <a:latin typeface="Segoe UI" panose="020B0502040204020203"/>
                          <a:ea typeface="Segoe UI" panose="020B0502040204020203"/>
                        </a:rPr>
                        <a:t>3</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ctr" fontAlgn="ctr"/>
                      <a:r>
                        <a:rPr lang="en-US" altLang="zh-CN" sz="2400" b="0" i="0">
                          <a:solidFill>
                            <a:srgbClr val="000000"/>
                          </a:solidFill>
                          <a:latin typeface="Segoe UI" panose="020B0502040204020203"/>
                          <a:ea typeface="Segoe UI" panose="020B0502040204020203"/>
                        </a:rPr>
                        <a:t>280</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l" fontAlgn="ctr"/>
                      <a:r>
                        <a:rPr lang="en-US" altLang="zh-CN" sz="2400" b="0" i="0">
                          <a:solidFill>
                            <a:srgbClr val="000000"/>
                          </a:solidFill>
                          <a:latin typeface="Segoe UI" panose="020B0502040204020203"/>
                          <a:ea typeface="Segoe UI" panose="020B0502040204020203"/>
                        </a:rPr>
                        <a:t>70</a:t>
                      </a:r>
                      <a:r>
                        <a:rPr lang="zh-CN" altLang="en-US" sz="2400" b="0" i="0">
                          <a:solidFill>
                            <a:srgbClr val="000000"/>
                          </a:solidFill>
                          <a:latin typeface="Segoe UI" panose="020B0502040204020203"/>
                          <a:ea typeface="Segoe UI" panose="020B0502040204020203"/>
                        </a:rPr>
                        <a:t>（</a:t>
                      </a:r>
                      <a:r>
                        <a:rPr lang="en-US" altLang="zh-CN" sz="2400" b="0" i="0">
                          <a:solidFill>
                            <a:srgbClr val="000000"/>
                          </a:solidFill>
                          <a:latin typeface="Segoe UI" panose="020B0502040204020203"/>
                          <a:ea typeface="Segoe UI" panose="020B0502040204020203"/>
                        </a:rPr>
                        <a:t>280-210</a:t>
                      </a:r>
                      <a:r>
                        <a:rPr lang="zh-CN" altLang="en-US" sz="2400" b="0" i="0">
                          <a:solidFill>
                            <a:srgbClr val="000000"/>
                          </a:solidFill>
                          <a:latin typeface="Segoe UI" panose="020B0502040204020203"/>
                          <a:ea typeface="Segoe UI" panose="020B0502040204020203"/>
                        </a:rPr>
                        <a:t>）</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r>
              <a:tr h="222250">
                <a:tc>
                  <a:txBody>
                    <a:bodyPr/>
                    <a:p>
                      <a:pPr algn="r" fontAlgn="ctr"/>
                      <a:r>
                        <a:rPr lang="en-US" altLang="zh-CN" sz="2400" b="0" i="0">
                          <a:solidFill>
                            <a:srgbClr val="000000"/>
                          </a:solidFill>
                          <a:latin typeface="Segoe UI" panose="020B0502040204020203"/>
                          <a:ea typeface="Segoe UI" panose="020B0502040204020203"/>
                        </a:rPr>
                        <a:t>4</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ctr" fontAlgn="ctr"/>
                      <a:r>
                        <a:rPr lang="en-US" altLang="zh-CN" sz="2400" b="0" i="0">
                          <a:solidFill>
                            <a:srgbClr val="000000"/>
                          </a:solidFill>
                          <a:latin typeface="Segoe UI" panose="020B0502040204020203"/>
                          <a:ea typeface="Segoe UI" panose="020B0502040204020203"/>
                        </a:rPr>
                        <a:t>360</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l" fontAlgn="ctr"/>
                      <a:r>
                        <a:rPr lang="en-US" altLang="zh-CN" sz="2400" b="0" i="0">
                          <a:solidFill>
                            <a:srgbClr val="000000"/>
                          </a:solidFill>
                          <a:latin typeface="Segoe UI" panose="020B0502040204020203"/>
                          <a:ea typeface="Segoe UI" panose="020B0502040204020203"/>
                        </a:rPr>
                        <a:t>80</a:t>
                      </a:r>
                      <a:r>
                        <a:rPr lang="zh-CN" altLang="en-US" sz="2400" b="0" i="0">
                          <a:solidFill>
                            <a:srgbClr val="000000"/>
                          </a:solidFill>
                          <a:latin typeface="Segoe UI" panose="020B0502040204020203"/>
                          <a:ea typeface="Segoe UI" panose="020B0502040204020203"/>
                        </a:rPr>
                        <a:t>（</a:t>
                      </a:r>
                      <a:r>
                        <a:rPr lang="en-US" altLang="zh-CN" sz="2400" b="0" i="0">
                          <a:solidFill>
                            <a:srgbClr val="000000"/>
                          </a:solidFill>
                          <a:latin typeface="Segoe UI" panose="020B0502040204020203"/>
                          <a:ea typeface="Segoe UI" panose="020B0502040204020203"/>
                        </a:rPr>
                        <a:t>360-280</a:t>
                      </a:r>
                      <a:r>
                        <a:rPr lang="zh-CN" altLang="en-US" sz="2400" b="0" i="0">
                          <a:solidFill>
                            <a:srgbClr val="000000"/>
                          </a:solidFill>
                          <a:latin typeface="Segoe UI" panose="020B0502040204020203"/>
                          <a:ea typeface="Segoe UI" panose="020B0502040204020203"/>
                        </a:rPr>
                        <a:t>）</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r>
              <a:tr h="222250">
                <a:tc>
                  <a:txBody>
                    <a:bodyPr/>
                    <a:p>
                      <a:pPr algn="r" fontAlgn="ctr"/>
                      <a:r>
                        <a:rPr lang="en-US" altLang="zh-CN" sz="2400" b="0" i="0">
                          <a:solidFill>
                            <a:srgbClr val="000000"/>
                          </a:solidFill>
                          <a:latin typeface="Segoe UI" panose="020B0502040204020203"/>
                          <a:ea typeface="Segoe UI" panose="020B0502040204020203"/>
                        </a:rPr>
                        <a:t>5</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ctr" fontAlgn="ctr"/>
                      <a:r>
                        <a:rPr lang="en-US" altLang="zh-CN" sz="2400" b="0" i="0">
                          <a:solidFill>
                            <a:srgbClr val="000000"/>
                          </a:solidFill>
                          <a:latin typeface="Segoe UI" panose="020B0502040204020203"/>
                          <a:ea typeface="Segoe UI" panose="020B0502040204020203"/>
                        </a:rPr>
                        <a:t>450</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l" fontAlgn="ctr"/>
                      <a:r>
                        <a:rPr lang="en-US" altLang="zh-CN" sz="2400" b="0" i="0">
                          <a:solidFill>
                            <a:srgbClr val="000000"/>
                          </a:solidFill>
                          <a:latin typeface="Segoe UI" panose="020B0502040204020203"/>
                          <a:ea typeface="Segoe UI" panose="020B0502040204020203"/>
                        </a:rPr>
                        <a:t>90</a:t>
                      </a:r>
                      <a:r>
                        <a:rPr lang="zh-CN" altLang="en-US" sz="2400" b="0" i="0">
                          <a:solidFill>
                            <a:srgbClr val="000000"/>
                          </a:solidFill>
                          <a:latin typeface="Segoe UI" panose="020B0502040204020203"/>
                          <a:ea typeface="Segoe UI" panose="020B0502040204020203"/>
                        </a:rPr>
                        <a:t>（</a:t>
                      </a:r>
                      <a:r>
                        <a:rPr lang="en-US" altLang="zh-CN" sz="2400" b="0" i="0">
                          <a:solidFill>
                            <a:srgbClr val="000000"/>
                          </a:solidFill>
                          <a:latin typeface="Segoe UI" panose="020B0502040204020203"/>
                          <a:ea typeface="Segoe UI" panose="020B0502040204020203"/>
                        </a:rPr>
                        <a:t>450-360</a:t>
                      </a:r>
                      <a:r>
                        <a:rPr lang="zh-CN" altLang="en-US" sz="2400" b="0" i="0">
                          <a:solidFill>
                            <a:srgbClr val="000000"/>
                          </a:solidFill>
                          <a:latin typeface="Segoe UI" panose="020B0502040204020203"/>
                          <a:ea typeface="Segoe UI" panose="020B0502040204020203"/>
                        </a:rPr>
                        <a:t>）</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r>
              <a:tr h="222250">
                <a:tc>
                  <a:txBody>
                    <a:bodyPr/>
                    <a:p>
                      <a:pPr algn="r" fontAlgn="ctr"/>
                      <a:r>
                        <a:rPr lang="en-US" altLang="zh-CN" sz="2400" b="0" i="0">
                          <a:solidFill>
                            <a:srgbClr val="000000"/>
                          </a:solidFill>
                          <a:latin typeface="Segoe UI" panose="020B0502040204020203"/>
                          <a:ea typeface="Segoe UI" panose="020B0502040204020203"/>
                        </a:rPr>
                        <a:t>6</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ctr" fontAlgn="ctr"/>
                      <a:r>
                        <a:rPr lang="en-US" altLang="zh-CN" sz="2400" b="0" i="0">
                          <a:solidFill>
                            <a:srgbClr val="000000"/>
                          </a:solidFill>
                          <a:latin typeface="Segoe UI" panose="020B0502040204020203"/>
                          <a:ea typeface="Segoe UI" panose="020B0502040204020203"/>
                        </a:rPr>
                        <a:t>550</a:t>
                      </a:r>
                      <a:endParaRPr lang="en-US" altLang="zh-CN"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c>
                  <a:txBody>
                    <a:bodyPr/>
                    <a:p>
                      <a:pPr algn="l" fontAlgn="ctr"/>
                      <a:r>
                        <a:rPr lang="en-US" altLang="zh-CN" sz="2400" b="0" i="0">
                          <a:solidFill>
                            <a:srgbClr val="000000"/>
                          </a:solidFill>
                          <a:latin typeface="Segoe UI" panose="020B0502040204020203"/>
                          <a:ea typeface="Segoe UI" panose="020B0502040204020203"/>
                        </a:rPr>
                        <a:t>100</a:t>
                      </a:r>
                      <a:r>
                        <a:rPr lang="zh-CN" altLang="en-US" sz="2400" b="0" i="0">
                          <a:solidFill>
                            <a:srgbClr val="000000"/>
                          </a:solidFill>
                          <a:latin typeface="Segoe UI" panose="020B0502040204020203"/>
                          <a:ea typeface="Segoe UI" panose="020B0502040204020203"/>
                        </a:rPr>
                        <a:t>（</a:t>
                      </a:r>
                      <a:r>
                        <a:rPr lang="en-US" altLang="zh-CN" sz="2400" b="0" i="0">
                          <a:solidFill>
                            <a:srgbClr val="000000"/>
                          </a:solidFill>
                          <a:latin typeface="Segoe UI" panose="020B0502040204020203"/>
                          <a:ea typeface="Segoe UI" panose="020B0502040204020203"/>
                        </a:rPr>
                        <a:t>550-450</a:t>
                      </a:r>
                      <a:r>
                        <a:rPr lang="zh-CN" altLang="en-US" sz="2400" b="0" i="0">
                          <a:solidFill>
                            <a:srgbClr val="000000"/>
                          </a:solidFill>
                          <a:latin typeface="Segoe UI" panose="020B0502040204020203"/>
                          <a:ea typeface="Segoe UI" panose="020B0502040204020203"/>
                        </a:rPr>
                        <a:t>）</a:t>
                      </a:r>
                      <a:endParaRPr lang="zh-CN" altLang="en-US" sz="2400" b="0" i="0">
                        <a:solidFill>
                          <a:srgbClr val="000000"/>
                        </a:solidFill>
                        <a:latin typeface="Segoe UI" panose="020B0502040204020203"/>
                        <a:ea typeface="Segoe UI" panose="020B0502040204020203"/>
                      </a:endParaRPr>
                    </a:p>
                  </a:txBody>
                  <a:tcPr marL="6667" marR="6667" marT="6667" marB="0" anchor="ctr" anchorCtr="0">
                    <a:lnL>
                      <a:noFill/>
                    </a:lnL>
                    <a:lnR>
                      <a:noFill/>
                    </a:lnR>
                    <a:lnT>
                      <a:noFill/>
                    </a:lnT>
                    <a:lnB>
                      <a:no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8726" y="717550"/>
            <a:ext cx="7756740" cy="5498051"/>
            <a:chOff x="4234617" y="1749108"/>
            <a:chExt cx="8662536" cy="4663416"/>
          </a:xfrm>
        </p:grpSpPr>
        <p:sp>
          <p:nvSpPr>
            <p:cNvPr id="3" name="MG-Rectangle 7"/>
            <p:cNvSpPr/>
            <p:nvPr>
              <p:custDataLst>
                <p:tags r:id="rId1"/>
              </p:custDataLst>
            </p:nvPr>
          </p:nvSpPr>
          <p:spPr>
            <a:xfrm>
              <a:off x="4234617" y="2520244"/>
              <a:ext cx="911225" cy="3121143"/>
            </a:xfrm>
            <a:prstGeom prst="rect">
              <a:avLst/>
            </a:prstGeom>
            <a:gradFill flip="none" rotWithShape="1">
              <a:gsLst>
                <a:gs pos="44925">
                  <a:srgbClr val="306DDE"/>
                </a:gs>
                <a:gs pos="6000">
                  <a:srgbClr val="3981E2">
                    <a:alpha val="73000"/>
                  </a:srgbClr>
                </a:gs>
                <a:gs pos="81000">
                  <a:srgbClr val="285BDB"/>
                </a:gs>
              </a:gsLst>
              <a:lin ang="27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MG-Rectangle 7"/>
            <p:cNvSpPr/>
            <p:nvPr>
              <p:custDataLst>
                <p:tags r:id="rId2"/>
              </p:custDataLst>
            </p:nvPr>
          </p:nvSpPr>
          <p:spPr>
            <a:xfrm>
              <a:off x="5279980" y="1749108"/>
              <a:ext cx="7617173" cy="4663416"/>
            </a:xfrm>
            <a:prstGeom prst="rect">
              <a:avLst/>
            </a:prstGeom>
            <a:solidFill>
              <a:srgbClr val="B0C3F2">
                <a:alpha val="29000"/>
              </a:srgbClr>
            </a:solidFill>
            <a:ln w="12700" cap="flat" cmpd="sng" algn="ctr">
              <a:noFill/>
              <a:prstDash val="solid"/>
              <a:miter lim="800000"/>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 name="组合 11"/>
          <p:cNvGrpSpPr/>
          <p:nvPr/>
        </p:nvGrpSpPr>
        <p:grpSpPr>
          <a:xfrm>
            <a:off x="5328138" y="1042650"/>
            <a:ext cx="5715001" cy="2255153"/>
            <a:chOff x="5128846" y="2355101"/>
            <a:chExt cx="5715001" cy="2255153"/>
          </a:xfrm>
        </p:grpSpPr>
        <p:grpSp>
          <p:nvGrpSpPr>
            <p:cNvPr id="7" name="组合 6"/>
            <p:cNvGrpSpPr/>
            <p:nvPr/>
          </p:nvGrpSpPr>
          <p:grpSpPr>
            <a:xfrm>
              <a:off x="5669550" y="2355101"/>
              <a:ext cx="5174297" cy="2255153"/>
              <a:chOff x="1633538" y="2549485"/>
              <a:chExt cx="5174297" cy="2255153"/>
            </a:xfrm>
          </p:grpSpPr>
          <p:sp>
            <p:nvSpPr>
              <p:cNvPr id="8" name="矩形 7"/>
              <p:cNvSpPr/>
              <p:nvPr/>
            </p:nvSpPr>
            <p:spPr>
              <a:xfrm>
                <a:off x="1633538" y="2549485"/>
                <a:ext cx="2284558" cy="36933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全球数字经济趋势</a:t>
                </a:r>
                <a:endParaRPr kumimoji="0" lang="zh-CN" altLang="en-US" b="1"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9" name="矩形 8"/>
              <p:cNvSpPr/>
              <p:nvPr/>
            </p:nvSpPr>
            <p:spPr>
              <a:xfrm>
                <a:off x="1633539" y="2893730"/>
                <a:ext cx="5174296" cy="1910908"/>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数字技术创新加速：量子计算、脑机接口、人工智能等前沿技术突破。</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数据要素市场拓展：数据基础制度不断完善，数据要素战略价值凸显。</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数字基础设施升级：</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5G</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、千兆光网、数据中心等基础设施建设加速。</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0" name="椭圆 9"/>
            <p:cNvSpPr/>
            <p:nvPr/>
          </p:nvSpPr>
          <p:spPr>
            <a:xfrm>
              <a:off x="5128846" y="2605271"/>
              <a:ext cx="381000" cy="381000"/>
            </a:xfrm>
            <a:prstGeom prst="ellipse">
              <a:avLst/>
            </a:prstGeom>
            <a:gradFill flip="none" rotWithShape="1">
              <a:gsLst>
                <a:gs pos="44925">
                  <a:srgbClr val="306DDE"/>
                </a:gs>
                <a:gs pos="6000">
                  <a:srgbClr val="3981E2">
                    <a:alpha val="73000"/>
                  </a:srgbClr>
                </a:gs>
                <a:gs pos="81000">
                  <a:srgbClr val="285BDB"/>
                </a:gs>
              </a:gsLst>
              <a:lin ang="27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1</a:t>
              </a:r>
              <a:endParaRPr lang="zh-CN" altLang="en-US"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grpSp>
      <p:grpSp>
        <p:nvGrpSpPr>
          <p:cNvPr id="14" name="组合 13"/>
          <p:cNvGrpSpPr/>
          <p:nvPr/>
        </p:nvGrpSpPr>
        <p:grpSpPr>
          <a:xfrm>
            <a:off x="5328138" y="3297803"/>
            <a:ext cx="5715001" cy="1639600"/>
            <a:chOff x="5128846" y="2355101"/>
            <a:chExt cx="5715001" cy="1639600"/>
          </a:xfrm>
        </p:grpSpPr>
        <p:grpSp>
          <p:nvGrpSpPr>
            <p:cNvPr id="21" name="组合 20"/>
            <p:cNvGrpSpPr/>
            <p:nvPr/>
          </p:nvGrpSpPr>
          <p:grpSpPr>
            <a:xfrm>
              <a:off x="5669550" y="2355101"/>
              <a:ext cx="5174297" cy="1639600"/>
              <a:chOff x="1633538" y="2549485"/>
              <a:chExt cx="5174297" cy="1639600"/>
            </a:xfrm>
          </p:grpSpPr>
          <p:sp>
            <p:nvSpPr>
              <p:cNvPr id="23" name="矩形 22"/>
              <p:cNvSpPr/>
              <p:nvPr/>
            </p:nvSpPr>
            <p:spPr>
              <a:xfrm>
                <a:off x="1633538" y="2549485"/>
                <a:ext cx="2156952" cy="36933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国家政策支持</a:t>
                </a:r>
                <a:endParaRPr kumimoji="0" lang="zh-CN" altLang="en-US" b="1"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24" name="矩形 23"/>
              <p:cNvSpPr/>
              <p:nvPr/>
            </p:nvSpPr>
            <p:spPr>
              <a:xfrm>
                <a:off x="1633539" y="2893730"/>
                <a:ext cx="5174296" cy="1295355"/>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十四五”数字经济发展规划</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数字中国建设整体布局规划</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等政策文件的推动。</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国务院机构改革：组建国家数据局，统筹数字经济发展。</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2" name="椭圆 21"/>
            <p:cNvSpPr/>
            <p:nvPr/>
          </p:nvSpPr>
          <p:spPr>
            <a:xfrm>
              <a:off x="5128846" y="2605271"/>
              <a:ext cx="381000" cy="381000"/>
            </a:xfrm>
            <a:prstGeom prst="ellipse">
              <a:avLst/>
            </a:prstGeom>
            <a:gradFill flip="none" rotWithShape="1">
              <a:gsLst>
                <a:gs pos="44925">
                  <a:srgbClr val="306DDE"/>
                </a:gs>
                <a:gs pos="6000">
                  <a:srgbClr val="3981E2">
                    <a:alpha val="73000"/>
                  </a:srgbClr>
                </a:gs>
                <a:gs pos="81000">
                  <a:srgbClr val="285BDB"/>
                </a:gs>
              </a:gsLst>
              <a:lin ang="27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2</a:t>
              </a:r>
              <a:endParaRPr lang="zh-CN" altLang="en-US"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grpSp>
      <p:grpSp>
        <p:nvGrpSpPr>
          <p:cNvPr id="25" name="组合 24"/>
          <p:cNvGrpSpPr/>
          <p:nvPr/>
        </p:nvGrpSpPr>
        <p:grpSpPr>
          <a:xfrm>
            <a:off x="5328138" y="4922454"/>
            <a:ext cx="5715001" cy="1029176"/>
            <a:chOff x="5128846" y="2355101"/>
            <a:chExt cx="5715001" cy="1029176"/>
          </a:xfrm>
        </p:grpSpPr>
        <p:grpSp>
          <p:nvGrpSpPr>
            <p:cNvPr id="26" name="组合 25"/>
            <p:cNvGrpSpPr/>
            <p:nvPr/>
          </p:nvGrpSpPr>
          <p:grpSpPr>
            <a:xfrm>
              <a:off x="5669551" y="2355101"/>
              <a:ext cx="5174296" cy="1029176"/>
              <a:chOff x="1633539" y="2549485"/>
              <a:chExt cx="5174296" cy="1029176"/>
            </a:xfrm>
          </p:grpSpPr>
          <p:sp>
            <p:nvSpPr>
              <p:cNvPr id="28" name="矩形 27"/>
              <p:cNvSpPr/>
              <p:nvPr/>
            </p:nvSpPr>
            <p:spPr>
              <a:xfrm>
                <a:off x="1736764" y="2549485"/>
                <a:ext cx="1107996" cy="369332"/>
              </a:xfrm>
              <a:prstGeom prst="rect">
                <a:avLst/>
              </a:prstGeom>
            </p:spPr>
            <p:txBody>
              <a:bodyPr wrap="non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地方实践</a:t>
                </a:r>
                <a:endParaRPr kumimoji="0" lang="zh-CN" altLang="en-US" b="1"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29" name="矩形 28"/>
              <p:cNvSpPr/>
              <p:nvPr/>
            </p:nvSpPr>
            <p:spPr>
              <a:xfrm>
                <a:off x="1633539" y="2893730"/>
                <a:ext cx="5174296" cy="684931"/>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江西将数字经济作为“一号发展工程”，出台多项政策文件，推动数字经济发展。</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7" name="椭圆 26"/>
            <p:cNvSpPr/>
            <p:nvPr/>
          </p:nvSpPr>
          <p:spPr>
            <a:xfrm>
              <a:off x="5128846" y="2605271"/>
              <a:ext cx="381000" cy="381000"/>
            </a:xfrm>
            <a:prstGeom prst="ellipse">
              <a:avLst/>
            </a:prstGeom>
            <a:gradFill flip="none" rotWithShape="1">
              <a:gsLst>
                <a:gs pos="44925">
                  <a:srgbClr val="306DDE"/>
                </a:gs>
                <a:gs pos="6000">
                  <a:srgbClr val="3981E2">
                    <a:alpha val="73000"/>
                  </a:srgbClr>
                </a:gs>
                <a:gs pos="81000">
                  <a:srgbClr val="285BDB"/>
                </a:gs>
              </a:gsLst>
              <a:lin ang="27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3</a:t>
              </a:r>
              <a:endParaRPr lang="zh-CN" altLang="en-US"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grpSp>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MG-文本框 11"/>
          <p:cNvSpPr txBox="1"/>
          <p:nvPr>
            <p:custDataLst>
              <p:tags r:id="rId3"/>
            </p:custDataLst>
          </p:nvPr>
        </p:nvSpPr>
        <p:spPr>
          <a:xfrm>
            <a:off x="177740" y="17659"/>
            <a:ext cx="2984560"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数字经济发展背景</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5" name="组合 14"/>
          <p:cNvGrpSpPr/>
          <p:nvPr/>
        </p:nvGrpSpPr>
        <p:grpSpPr>
          <a:xfrm>
            <a:off x="10605916" y="-6858"/>
            <a:ext cx="1586085" cy="528405"/>
            <a:chOff x="10605916" y="5727392"/>
            <a:chExt cx="1586085" cy="528405"/>
          </a:xfrm>
        </p:grpSpPr>
        <p:sp>
          <p:nvSpPr>
            <p:cNvPr id="16" name="矩形 1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7" name="文本框 1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pic>
        <p:nvPicPr>
          <p:cNvPr id="31" name="图片 30"/>
          <p:cNvPicPr>
            <a:picLocks noChangeAspect="1"/>
          </p:cNvPicPr>
          <p:nvPr/>
        </p:nvPicPr>
        <p:blipFill>
          <a:blip r:embed="rId4">
            <a:extLst>
              <a:ext uri="{28A0092B-C50C-407E-A947-70E740481C1C}">
                <a14:useLocalDpi xmlns:a14="http://schemas.microsoft.com/office/drawing/2010/main" val="0"/>
              </a:ext>
            </a:extLst>
          </a:blip>
          <a:srcRect l="25785" t="580" r="30895" b="7279"/>
          <a:stretch>
            <a:fillRect/>
          </a:stretch>
        </p:blipFill>
        <p:spPr>
          <a:xfrm>
            <a:off x="616535" y="2039815"/>
            <a:ext cx="3840208" cy="4175786"/>
          </a:xfrm>
          <a:custGeom>
            <a:avLst/>
            <a:gdLst>
              <a:gd name="connsiteX0" fmla="*/ 0 w 3840208"/>
              <a:gd name="connsiteY0" fmla="*/ 0 h 4175786"/>
              <a:gd name="connsiteX1" fmla="*/ 3840208 w 3840208"/>
              <a:gd name="connsiteY1" fmla="*/ 0 h 4175786"/>
              <a:gd name="connsiteX2" fmla="*/ 3840208 w 3840208"/>
              <a:gd name="connsiteY2" fmla="*/ 4175786 h 4175786"/>
              <a:gd name="connsiteX3" fmla="*/ 0 w 3840208"/>
              <a:gd name="connsiteY3" fmla="*/ 4175786 h 4175786"/>
            </a:gdLst>
            <a:ahLst/>
            <a:cxnLst>
              <a:cxn ang="0">
                <a:pos x="connsiteX0" y="connsiteY0"/>
              </a:cxn>
              <a:cxn ang="0">
                <a:pos x="connsiteX1" y="connsiteY1"/>
              </a:cxn>
              <a:cxn ang="0">
                <a:pos x="connsiteX2" y="connsiteY2"/>
              </a:cxn>
              <a:cxn ang="0">
                <a:pos x="connsiteX3" y="connsiteY3"/>
              </a:cxn>
            </a:cxnLst>
            <a:rect l="l" t="t" r="r" b="b"/>
            <a:pathLst>
              <a:path w="3840208" h="4175786">
                <a:moveTo>
                  <a:pt x="0" y="0"/>
                </a:moveTo>
                <a:lnTo>
                  <a:pt x="3840208" y="0"/>
                </a:lnTo>
                <a:lnTo>
                  <a:pt x="3840208" y="4175786"/>
                </a:lnTo>
                <a:lnTo>
                  <a:pt x="0" y="4175786"/>
                </a:lnTo>
                <a:close/>
              </a:path>
            </a:pathLst>
          </a:custGeom>
        </p:spPr>
      </p:pic>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4776225"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数字经济发展背景</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量子计算</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
        <p:nvSpPr>
          <p:cNvPr id="11" name="MG-Rectangle 7"/>
          <p:cNvSpPr/>
          <p:nvPr>
            <p:custDataLst>
              <p:tags r:id="rId2"/>
            </p:custDataLst>
          </p:nvPr>
        </p:nvSpPr>
        <p:spPr>
          <a:xfrm>
            <a:off x="1" y="1308530"/>
            <a:ext cx="12191999" cy="4556134"/>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711199" y="1881139"/>
            <a:ext cx="10642601" cy="3359831"/>
          </a:xfrm>
          <a:prstGeom prst="rect">
            <a:avLst/>
          </a:prstGeom>
          <a:noFill/>
        </p:spPr>
        <p:txBody>
          <a:bodyPr wrap="square">
            <a:spAutoFit/>
          </a:bodyPr>
          <a:lstStyle/>
          <a:p>
            <a:pPr indent="457200" algn="just">
              <a:lnSpc>
                <a:spcPct val="150000"/>
              </a:lnSpc>
            </a:pPr>
            <a:r>
              <a:rPr lang="zh-CN" altLang="en-US" sz="2400" b="1" dirty="0">
                <a:latin typeface="思源黑体 CN Normal"/>
              </a:rPr>
              <a:t>并行计算能力：</a:t>
            </a:r>
            <a:r>
              <a:rPr lang="zh-CN" altLang="en-US" sz="2400" dirty="0">
                <a:latin typeface="思源黑体 CN Normal"/>
              </a:rPr>
              <a:t>量子比特（</a:t>
            </a:r>
            <a:r>
              <a:rPr lang="en-US" altLang="zh-CN" sz="2400" dirty="0">
                <a:latin typeface="思源黑体 CN Normal"/>
              </a:rPr>
              <a:t>qubit</a:t>
            </a:r>
            <a:r>
              <a:rPr lang="zh-CN" altLang="en-US" sz="2400" dirty="0">
                <a:latin typeface="思源黑体 CN Normal"/>
              </a:rPr>
              <a:t>）的叠加特性使得量子计算机能够同时处理多个状态。例如，一个包含 </a:t>
            </a:r>
            <a:r>
              <a:rPr lang="en-US" altLang="zh-CN" sz="2400" dirty="0">
                <a:latin typeface="思源黑体 CN Normal"/>
              </a:rPr>
              <a:t>n </a:t>
            </a:r>
            <a:r>
              <a:rPr lang="zh-CN" altLang="en-US" sz="2400" dirty="0">
                <a:latin typeface="思源黑体 CN Normal"/>
              </a:rPr>
              <a:t>个量子比特的量子计算机可以同时表示 </a:t>
            </a:r>
            <a:r>
              <a:rPr lang="en-US" altLang="zh-CN" sz="2400" dirty="0">
                <a:latin typeface="思源黑体 CN Normal"/>
              </a:rPr>
              <a:t>2^n </a:t>
            </a:r>
            <a:r>
              <a:rPr lang="zh-CN" altLang="en-US" sz="2400" dirty="0">
                <a:latin typeface="思源黑体 CN Normal"/>
              </a:rPr>
              <a:t>个状态。这意味着量子计算机在处理某些特定问题时，能够以指数级的速度提升计算效</a:t>
            </a:r>
            <a:r>
              <a:rPr lang="en-US" altLang="zh-CN" sz="2400" dirty="0">
                <a:latin typeface="思源黑体 CN Normal"/>
              </a:rPr>
              <a:t>.</a:t>
            </a:r>
            <a:endParaRPr lang="en-US" altLang="zh-CN" sz="2400" dirty="0">
              <a:latin typeface="思源黑体 CN Normal"/>
            </a:endParaRPr>
          </a:p>
          <a:p>
            <a:pPr indent="457200" algn="just">
              <a:lnSpc>
                <a:spcPct val="150000"/>
              </a:lnSpc>
            </a:pPr>
            <a:r>
              <a:rPr lang="zh-CN" altLang="en-US" sz="2400" dirty="0">
                <a:latin typeface="思源黑体 CN Normal"/>
              </a:rPr>
              <a:t>例如，</a:t>
            </a:r>
            <a:r>
              <a:rPr lang="en-US" altLang="zh-CN" sz="2400" dirty="0">
                <a:latin typeface="思源黑体 CN Normal"/>
              </a:rPr>
              <a:t>2023</a:t>
            </a:r>
            <a:r>
              <a:rPr lang="zh-CN" altLang="en-US" sz="2400" dirty="0">
                <a:latin typeface="思源黑体 CN Normal"/>
              </a:rPr>
              <a:t>年，</a:t>
            </a:r>
            <a:r>
              <a:rPr lang="en-US" altLang="zh-CN" sz="2400" dirty="0" err="1">
                <a:latin typeface="思源黑体 CN Normal"/>
              </a:rPr>
              <a:t>QuantWare</a:t>
            </a:r>
            <a:r>
              <a:rPr lang="zh-CN" altLang="en-US" sz="2400" dirty="0">
                <a:latin typeface="思源黑体 CN Normal"/>
              </a:rPr>
              <a:t>推出</a:t>
            </a:r>
            <a:r>
              <a:rPr lang="en-US" altLang="zh-CN" sz="2400" dirty="0">
                <a:latin typeface="思源黑体 CN Normal"/>
              </a:rPr>
              <a:t>64</a:t>
            </a:r>
            <a:r>
              <a:rPr lang="zh-CN" altLang="en-US" sz="2400" dirty="0">
                <a:latin typeface="思源黑体 CN Normal"/>
              </a:rPr>
              <a:t>位超导量子比特处理器</a:t>
            </a:r>
            <a:r>
              <a:rPr lang="en-US" altLang="zh-CN" sz="2400" dirty="0">
                <a:latin typeface="思源黑体 CN Normal"/>
              </a:rPr>
              <a:t>Tenor</a:t>
            </a:r>
            <a:r>
              <a:rPr lang="zh-CN" altLang="en-US" sz="2400" dirty="0">
                <a:latin typeface="思源黑体 CN Normal"/>
              </a:rPr>
              <a:t>，中科大扩展超导量子处理器“祖冲之二号”可操纵量子比特至</a:t>
            </a:r>
            <a:r>
              <a:rPr lang="en-US" altLang="zh-CN" sz="2400" dirty="0">
                <a:latin typeface="思源黑体 CN Normal"/>
              </a:rPr>
              <a:t>176</a:t>
            </a:r>
            <a:r>
              <a:rPr lang="zh-CN" altLang="en-US" sz="2400" dirty="0">
                <a:latin typeface="思源黑体 CN Normal"/>
              </a:rPr>
              <a:t>位。</a:t>
            </a:r>
            <a:endParaRPr lang="zh-CN" altLang="en-US" sz="2400" dirty="0">
              <a:latin typeface="思源黑体 CN Normal"/>
            </a:endParaRPr>
          </a:p>
        </p:txBody>
      </p:sp>
      <p:sp>
        <p:nvSpPr>
          <p:cNvPr id="10" name="MG-Rectangle 7"/>
          <p:cNvSpPr/>
          <p:nvPr>
            <p:custDataLst>
              <p:tags r:id="rId3"/>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4371111"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数字经济发展背景</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脑机接口</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
        <p:nvSpPr>
          <p:cNvPr id="11" name="MG-Rectangle 7"/>
          <p:cNvSpPr/>
          <p:nvPr>
            <p:custDataLst>
              <p:tags r:id="rId2"/>
            </p:custDataLst>
          </p:nvPr>
        </p:nvSpPr>
        <p:spPr>
          <a:xfrm>
            <a:off x="1" y="1308530"/>
            <a:ext cx="12191999" cy="4812870"/>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711199" y="1881139"/>
            <a:ext cx="10642601" cy="3682996"/>
          </a:xfrm>
          <a:prstGeom prst="rect">
            <a:avLst/>
          </a:prstGeom>
          <a:noFill/>
        </p:spPr>
        <p:txBody>
          <a:bodyPr wrap="square">
            <a:spAutoFit/>
          </a:bodyPr>
          <a:lstStyle/>
          <a:p>
            <a:pPr indent="457200" algn="just">
              <a:lnSpc>
                <a:spcPct val="200000"/>
              </a:lnSpc>
            </a:pPr>
            <a:r>
              <a:rPr lang="zh-CN" altLang="en-US" sz="2400" dirty="0">
                <a:latin typeface="思源黑体 CN Normal"/>
              </a:rPr>
              <a:t>脑机接口技术已经取得了一系列重要进展，为医疗康复、技术发展和通讯产业、其他产业发展带来了积极影响。未来，脑机接口技术有望在医疗领域实现更广泛的疾病治疗和个性化医疗，革新传统的人机交互方式，同时也将带来社会和伦理方面的挑战。随着技术的不断进步和跨学科合作的加强，脑机接口技术将在多个领域发挥更大的作用，为人类社会带来深远的变革。</a:t>
            </a:r>
            <a:endParaRPr lang="zh-CN" altLang="en-US" sz="2400" dirty="0">
              <a:latin typeface="思源黑体 CN Normal"/>
            </a:endParaRPr>
          </a:p>
        </p:txBody>
      </p:sp>
      <p:sp>
        <p:nvSpPr>
          <p:cNvPr id="10" name="MG-Rectangle 7"/>
          <p:cNvSpPr/>
          <p:nvPr>
            <p:custDataLst>
              <p:tags r:id="rId3"/>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4718351"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数字经济发展背景</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人工智能</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
        <p:nvSpPr>
          <p:cNvPr id="11" name="MG-Rectangle 7"/>
          <p:cNvSpPr/>
          <p:nvPr>
            <p:custDataLst>
              <p:tags r:id="rId2"/>
            </p:custDataLst>
          </p:nvPr>
        </p:nvSpPr>
        <p:spPr>
          <a:xfrm>
            <a:off x="1" y="1308530"/>
            <a:ext cx="12191999" cy="3636003"/>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711199" y="1881139"/>
            <a:ext cx="10642601" cy="2805833"/>
          </a:xfrm>
          <a:prstGeom prst="rect">
            <a:avLst/>
          </a:prstGeom>
          <a:noFill/>
        </p:spPr>
        <p:txBody>
          <a:bodyPr wrap="square">
            <a:spAutoFit/>
          </a:bodyPr>
          <a:lstStyle/>
          <a:p>
            <a:pPr indent="457200" algn="just">
              <a:lnSpc>
                <a:spcPct val="150000"/>
              </a:lnSpc>
            </a:pPr>
            <a:r>
              <a:rPr lang="zh-CN" altLang="en-US" sz="2400" dirty="0">
                <a:latin typeface="思源黑体 CN Normal"/>
              </a:rPr>
              <a:t>人工智能已经在多个领域显著提升了生产效率，未来其潜力更是巨大。从制造业的自动化生产线到医疗保健的智能诊断，从教育的个性化学习到金融的风险评估</a:t>
            </a:r>
            <a:endParaRPr lang="zh-CN" altLang="en-US" sz="2400" dirty="0">
              <a:latin typeface="思源黑体 CN Normal"/>
            </a:endParaRPr>
          </a:p>
          <a:p>
            <a:pPr indent="457200" algn="just">
              <a:lnSpc>
                <a:spcPct val="150000"/>
              </a:lnSpc>
            </a:pPr>
            <a:r>
              <a:rPr lang="en-US" altLang="zh-CN" sz="2400" dirty="0">
                <a:latin typeface="思源黑体 CN Normal"/>
              </a:rPr>
              <a:t>AI</a:t>
            </a:r>
            <a:r>
              <a:rPr lang="zh-CN" altLang="en-US" sz="2400" dirty="0">
                <a:latin typeface="思源黑体 CN Normal"/>
              </a:rPr>
              <a:t>的应用将使各个行业更加高效、智能和灵活。随着技术的不断进步和应用的不断拓展，人工智能将为人类社会带来更加深远的变革。</a:t>
            </a:r>
            <a:endParaRPr lang="zh-CN" altLang="en-US" sz="2400" dirty="0">
              <a:latin typeface="思源黑体 CN Normal"/>
            </a:endParaRPr>
          </a:p>
        </p:txBody>
      </p:sp>
      <p:sp>
        <p:nvSpPr>
          <p:cNvPr id="10" name="MG-Rectangle 7"/>
          <p:cNvSpPr/>
          <p:nvPr>
            <p:custDataLst>
              <p:tags r:id="rId3"/>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7149035"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数字经济发展背景</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人工智能的爆发性进展</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
        <p:nvSpPr>
          <p:cNvPr id="11" name="MG-Rectangle 7"/>
          <p:cNvSpPr/>
          <p:nvPr>
            <p:custDataLst>
              <p:tags r:id="rId2"/>
            </p:custDataLst>
          </p:nvPr>
        </p:nvSpPr>
        <p:spPr>
          <a:xfrm>
            <a:off x="1" y="1308530"/>
            <a:ext cx="12191999" cy="5371670"/>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711199" y="1881139"/>
            <a:ext cx="10642601" cy="4468018"/>
          </a:xfrm>
          <a:prstGeom prst="rect">
            <a:avLst/>
          </a:prstGeom>
          <a:noFill/>
        </p:spPr>
        <p:txBody>
          <a:bodyPr wrap="square">
            <a:spAutoFit/>
          </a:bodyPr>
          <a:lstStyle/>
          <a:p>
            <a:pPr indent="457200">
              <a:lnSpc>
                <a:spcPct val="150000"/>
              </a:lnSpc>
            </a:pPr>
            <a:r>
              <a:rPr lang="en-US" altLang="zh-CN" sz="2400" dirty="0"/>
              <a:t>DeepSeek</a:t>
            </a:r>
            <a:r>
              <a:rPr lang="zh-CN" altLang="en-US" sz="2400" dirty="0"/>
              <a:t>的火爆全球可以追溯到</a:t>
            </a:r>
            <a:r>
              <a:rPr lang="en-US" altLang="zh-CN" sz="2400" dirty="0"/>
              <a:t>2025</a:t>
            </a:r>
            <a:r>
              <a:rPr lang="zh-CN" altLang="en-US" sz="2400" dirty="0"/>
              <a:t>年</a:t>
            </a:r>
            <a:r>
              <a:rPr lang="en-US" altLang="zh-CN" sz="2400" dirty="0"/>
              <a:t>1</a:t>
            </a:r>
            <a:r>
              <a:rPr lang="zh-CN" altLang="en-US" sz="2400" dirty="0"/>
              <a:t>月</a:t>
            </a:r>
            <a:r>
              <a:rPr lang="en-US" altLang="zh-CN" sz="2400" dirty="0"/>
              <a:t>20</a:t>
            </a:r>
            <a:r>
              <a:rPr lang="zh-CN" altLang="en-US" sz="2400" dirty="0"/>
              <a:t>日其</a:t>
            </a:r>
            <a:r>
              <a:rPr lang="en-US" altLang="zh-CN" sz="2400" dirty="0"/>
              <a:t>DeepSeek-R1</a:t>
            </a:r>
            <a:r>
              <a:rPr lang="zh-CN" altLang="en-US" sz="2400" dirty="0"/>
              <a:t>模型的发布。这一事件标志着其正式进入公众视野，并迅速引发广泛关注。随后在</a:t>
            </a:r>
            <a:r>
              <a:rPr lang="en-US" altLang="zh-CN" sz="2400" dirty="0"/>
              <a:t>1</a:t>
            </a:r>
            <a:r>
              <a:rPr lang="zh-CN" altLang="en-US" sz="2400" dirty="0"/>
              <a:t>月</a:t>
            </a:r>
            <a:r>
              <a:rPr lang="en-US" altLang="zh-CN" sz="2400" dirty="0"/>
              <a:t>27</a:t>
            </a:r>
            <a:r>
              <a:rPr lang="zh-CN" altLang="en-US" sz="2400" dirty="0"/>
              <a:t>日，</a:t>
            </a:r>
            <a:r>
              <a:rPr lang="en-US" altLang="zh-CN" sz="2400" dirty="0"/>
              <a:t>DeepSeek</a:t>
            </a:r>
            <a:r>
              <a:rPr lang="zh-CN" altLang="en-US" sz="2400" dirty="0"/>
              <a:t>应用登顶苹果中国地区和美国地区应用商店免费</a:t>
            </a:r>
            <a:r>
              <a:rPr lang="en-US" altLang="zh-CN" sz="2400" dirty="0"/>
              <a:t>App</a:t>
            </a:r>
            <a:r>
              <a:rPr lang="zh-CN" altLang="en-US" sz="2400" dirty="0"/>
              <a:t>下载排行榜，进一步加速了其全球火爆的进程。</a:t>
            </a:r>
            <a:r>
              <a:rPr lang="en-US" altLang="zh-CN" sz="2400" dirty="0"/>
              <a:t>DeepSeek</a:t>
            </a:r>
            <a:r>
              <a:rPr lang="zh-CN" altLang="en-US" sz="2400" dirty="0"/>
              <a:t>凭借其技术优势、市场时机和快速的用户增长，在短短几周内成为全球增速最快的</a:t>
            </a:r>
            <a:r>
              <a:rPr lang="en-US" altLang="zh-CN" sz="2400" dirty="0"/>
              <a:t>AI</a:t>
            </a:r>
            <a:r>
              <a:rPr lang="zh-CN" altLang="en-US" sz="2400" dirty="0"/>
              <a:t>应用之一。</a:t>
            </a:r>
            <a:endParaRPr lang="en-US" altLang="zh-CN" sz="2400" dirty="0"/>
          </a:p>
          <a:p>
            <a:pPr indent="457200">
              <a:lnSpc>
                <a:spcPct val="150000"/>
              </a:lnSpc>
            </a:pPr>
            <a:r>
              <a:rPr lang="en-US" altLang="zh-CN" sz="2400" dirty="0"/>
              <a:t>DeepSeek R1</a:t>
            </a:r>
            <a:r>
              <a:rPr lang="zh-CN" altLang="en-US" sz="2400" dirty="0"/>
              <a:t>模型的参数量有多个版本，主要集中在</a:t>
            </a:r>
            <a:r>
              <a:rPr lang="en-US" altLang="zh-CN" sz="2400" dirty="0"/>
              <a:t>6710</a:t>
            </a:r>
            <a:r>
              <a:rPr lang="zh-CN" altLang="en-US" sz="2400" dirty="0"/>
              <a:t>亿、</a:t>
            </a:r>
            <a:r>
              <a:rPr lang="en-US" altLang="zh-CN" sz="2400" dirty="0"/>
              <a:t>6600</a:t>
            </a:r>
            <a:r>
              <a:rPr lang="zh-CN" altLang="en-US" sz="2400" dirty="0"/>
              <a:t>亿和</a:t>
            </a:r>
            <a:r>
              <a:rPr lang="en-US" altLang="zh-CN" sz="2400" dirty="0"/>
              <a:t>6850</a:t>
            </a:r>
            <a:r>
              <a:rPr lang="zh-CN" altLang="en-US" sz="2400" dirty="0"/>
              <a:t>亿参数的大型模型，以及</a:t>
            </a:r>
            <a:r>
              <a:rPr lang="en-US" altLang="zh-CN" sz="2400" dirty="0"/>
              <a:t>70</a:t>
            </a:r>
            <a:r>
              <a:rPr lang="zh-CN" altLang="en-US" sz="2400" dirty="0"/>
              <a:t>亿和</a:t>
            </a:r>
            <a:r>
              <a:rPr lang="en-US" altLang="zh-CN" sz="2400" dirty="0"/>
              <a:t>700</a:t>
            </a:r>
            <a:r>
              <a:rPr lang="zh-CN" altLang="en-US" sz="2400" dirty="0"/>
              <a:t>亿参数的较小版本。这些不同参数量的模型版本可以根据不同的硬件条件和应用场景进行选择，以满足不同的需求。</a:t>
            </a:r>
            <a:endParaRPr lang="zh-CN" altLang="en-US" sz="2400" dirty="0"/>
          </a:p>
        </p:txBody>
      </p:sp>
      <p:sp>
        <p:nvSpPr>
          <p:cNvPr id="10" name="MG-Rectangle 7"/>
          <p:cNvSpPr/>
          <p:nvPr>
            <p:custDataLst>
              <p:tags r:id="rId3"/>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0" y="1957388"/>
          <a:ext cx="12191998" cy="3342745"/>
        </p:xfrm>
        <a:graphic>
          <a:graphicData uri="http://schemas.openxmlformats.org/drawingml/2006/table">
            <a:tbl>
              <a:tblPr>
                <a:tableStyleId>{5C22544A-7EE6-4342-B048-85BDC9FD1C3A}</a:tableStyleId>
              </a:tblPr>
              <a:tblGrid>
                <a:gridCol w="870857"/>
                <a:gridCol w="870857"/>
                <a:gridCol w="870857"/>
                <a:gridCol w="870857"/>
                <a:gridCol w="870857"/>
                <a:gridCol w="870857"/>
                <a:gridCol w="870857"/>
                <a:gridCol w="870857"/>
                <a:gridCol w="870857"/>
                <a:gridCol w="870857"/>
                <a:gridCol w="870857"/>
                <a:gridCol w="870857"/>
                <a:gridCol w="870857"/>
                <a:gridCol w="870857"/>
              </a:tblGrid>
              <a:tr h="742832">
                <a:tc>
                  <a:txBody>
                    <a:bodyPr/>
                    <a:lstStyle/>
                    <a:p>
                      <a:pPr algn="l" fontAlgn="ctr"/>
                      <a:r>
                        <a:rPr lang="zh-CN" sz="1000" u="none" strike="noStrike">
                          <a:effectLst/>
                        </a:rPr>
                        <a:t>模型名称</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DeepSeek V3</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通义千问-Max</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TeleChat2-115B</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紫东太初2.0</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商汤日日新SenseNova</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百川智能Baichuan2-53B</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ERNIE 4.0</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hunyuan lite</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Spark Pro-128K</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Baichuan4 Turbo</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中科闻歌雅意2.0</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哈尔滨工业大学活字</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浙江大学启真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r>
              <a:tr h="371416">
                <a:tc>
                  <a:txBody>
                    <a:bodyPr/>
                    <a:lstStyle/>
                    <a:p>
                      <a:pPr algn="l" fontAlgn="ctr"/>
                      <a:r>
                        <a:rPr lang="en-US" sz="1000" u="none" strike="noStrike">
                          <a:effectLst/>
                        </a:rPr>
                        <a:t> 参数量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dirty="0">
                          <a:effectLst/>
                        </a:rPr>
                        <a:t> 6710亿 </a:t>
                      </a:r>
                      <a:endParaRPr lang="zh-CN" sz="1000" b="0" i="0" u="none" strike="noStrike" dirty="0">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zh-CN" sz="1000" u="none" strike="noStrike">
                          <a:effectLst/>
                        </a:rPr>
                        <a:t>可能大于6710亿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1150亿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1000亿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千亿级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530亿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未知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未知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128亿</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未知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300亿</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未知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130亿</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r>
              <a:tr h="557124">
                <a:tc>
                  <a:txBody>
                    <a:bodyPr/>
                    <a:lstStyle/>
                    <a:p>
                      <a:pPr algn="l" fontAlgn="ctr"/>
                      <a:r>
                        <a:rPr lang="en-US" sz="1000" u="none" strike="noStrike">
                          <a:effectLst/>
                        </a:rPr>
                        <a:t> 开发机构</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深度求索（DeepSeek）</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阿里云</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中国电信人工智能研究院</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中科院自动化研究所</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商汤科技</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百川智能</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百度</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腾讯</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科大讯飞</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百川智能</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中科闻歌</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哈尔滨工业大学</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浙江大学</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r>
              <a:tr h="1671373">
                <a:tc>
                  <a:txBody>
                    <a:bodyPr/>
                    <a:lstStyle/>
                    <a:p>
                      <a:pPr algn="l" fontAlgn="ctr"/>
                      <a:r>
                        <a:rPr lang="en-US" sz="1000" u="none" strike="noStrike">
                          <a:effectLst/>
                        </a:rPr>
                        <a:t> 主要特点 </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混合专家（MoE）架构，14.8万亿高质量token预训练，推理速度快，成本低。</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预训练数据超过20万亿tokens，综合性能强劲，数学和编程能力突出。</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开源模型，综合效果超过Llama-3.1-70B-Instruct等较大参数模型。</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跨模态通用人工智能平台，支持视觉、文本、语音等多种模态，参数达千亿级别。</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多模态对话交互平台，具备卓越的自然语言处理能力和多轮对话能力。</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开源大模型，性能在多个权威评测基准中领先，推理速度快。</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多任务学习框架，引入知识图谱，增强对知识的理解能力，支持多种语言。</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轻量级版本，支持250K上下文窗口，适用于多种自然语言处理任务。</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专为处理超长文本场景设计，支持128K tokens的超长上下文窗口。</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高效、低成本，推理成本低，适用于企业探索复杂场景。</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基于LLaMA-2-7B，适用于多源数据处理和自然语言处理任务。</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a:effectLst/>
                        </a:rPr>
                        <a:t> 基于BLOOM-7B进行SFT和RLHF的模型，适用于多种自然语言处理任务。</a:t>
                      </a:r>
                      <a:endParaRPr lang="zh-CN" sz="1000" b="0" i="0" u="none" strike="noStrike">
                        <a:solidFill>
                          <a:srgbClr val="000000"/>
                        </a:solidFill>
                        <a:effectLst/>
                        <a:latin typeface="等线" panose="02010600030101010101" pitchFamily="2" charset="-122"/>
                        <a:ea typeface="等线" panose="02010600030101010101" pitchFamily="2" charset="-122"/>
                      </a:endParaRPr>
                    </a:p>
                  </a:txBody>
                  <a:tcPr marL="6057" marR="6057" marT="6057" marB="0" anchor="ctr"/>
                </a:tc>
                <a:tc>
                  <a:txBody>
                    <a:bodyPr/>
                    <a:lstStyle/>
                    <a:p>
                      <a:pPr algn="l" fontAlgn="ctr"/>
                      <a:r>
                        <a:rPr lang="en-US" sz="1000" u="none" strike="noStrike" dirty="0">
                          <a:effectLst/>
                        </a:rPr>
                        <a:t> </a:t>
                      </a:r>
                      <a:r>
                        <a:rPr lang="en-US" sz="1000" u="none" strike="noStrike" dirty="0" err="1">
                          <a:effectLst/>
                        </a:rPr>
                        <a:t>基于KnowLM等模型，适用于医学领域的自然语言处理任务</a:t>
                      </a:r>
                      <a:r>
                        <a:rPr lang="en-US" sz="1000" u="none" strike="noStrike" dirty="0">
                          <a:effectLst/>
                        </a:rPr>
                        <a:t>。</a:t>
                      </a:r>
                      <a:endParaRPr lang="zh-CN" sz="1000" b="0" i="0" u="none" strike="noStrike" dirty="0">
                        <a:solidFill>
                          <a:srgbClr val="000000"/>
                        </a:solidFill>
                        <a:effectLst/>
                        <a:latin typeface="等线" panose="02010600030101010101" pitchFamily="2" charset="-122"/>
                        <a:ea typeface="等线" panose="02010600030101010101" pitchFamily="2" charset="-122"/>
                      </a:endParaRPr>
                    </a:p>
                  </a:txBody>
                  <a:tcPr marL="6057" marR="6057" marT="6057" marB="0" anchor="ctr"/>
                </a:tc>
              </a:tr>
            </a:tbl>
          </a:graphicData>
        </a:graphic>
      </p:graphicFrame>
      <p:sp>
        <p:nvSpPr>
          <p:cNvPr id="6" name="MG-Rectangle 7"/>
          <p:cNvSpPr/>
          <p:nvPr>
            <p:custDataLst>
              <p:tags r:id="rId1"/>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矩形 7"/>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2"/>
            </p:custDataLst>
          </p:nvPr>
        </p:nvSpPr>
        <p:spPr>
          <a:xfrm>
            <a:off x="177739" y="17659"/>
            <a:ext cx="6390894"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数字经济发展背景</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人工智能的爆发性进展</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MG-Rectangle 7"/>
          <p:cNvSpPr/>
          <p:nvPr>
            <p:custDataLst>
              <p:tags r:id="rId1"/>
            </p:custDataLst>
          </p:nvPr>
        </p:nvSpPr>
        <p:spPr>
          <a:xfrm>
            <a:off x="1" y="1308530"/>
            <a:ext cx="12191999" cy="3465601"/>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711199" y="1881139"/>
            <a:ext cx="10642601" cy="2205860"/>
          </a:xfrm>
          <a:prstGeom prst="rect">
            <a:avLst/>
          </a:prstGeom>
          <a:noFill/>
        </p:spPr>
        <p:txBody>
          <a:bodyPr wrap="square">
            <a:spAutoFit/>
          </a:bodyPr>
          <a:lstStyle/>
          <a:p>
            <a:pPr indent="457200">
              <a:lnSpc>
                <a:spcPct val="200000"/>
              </a:lnSpc>
            </a:pPr>
            <a:r>
              <a:rPr lang="en-US" altLang="zh-CN" sz="2400" b="1" dirty="0">
                <a:solidFill>
                  <a:srgbClr val="C00000"/>
                </a:solidFill>
                <a:latin typeface="思源黑体 CN Normal"/>
              </a:rPr>
              <a:t>20</a:t>
            </a:r>
            <a:r>
              <a:rPr lang="zh-CN" altLang="en-US" sz="2400" b="1" dirty="0">
                <a:solidFill>
                  <a:srgbClr val="C00000"/>
                </a:solidFill>
                <a:latin typeface="思源黑体 CN Normal"/>
              </a:rPr>
              <a:t>万亿</a:t>
            </a:r>
            <a:r>
              <a:rPr lang="en-US" altLang="zh-CN" sz="2400" b="1" dirty="0">
                <a:solidFill>
                  <a:srgbClr val="C00000"/>
                </a:solidFill>
                <a:latin typeface="思源黑体 CN Normal"/>
              </a:rPr>
              <a:t>token</a:t>
            </a:r>
            <a:r>
              <a:rPr lang="zh-CN" altLang="en-US" sz="2400" dirty="0">
                <a:latin typeface="思源黑体 CN Normal"/>
              </a:rPr>
              <a:t>是一个非常庞大的数量，它相当于</a:t>
            </a:r>
            <a:r>
              <a:rPr lang="en-US" altLang="zh-CN" sz="2400" dirty="0">
                <a:latin typeface="思源黑体 CN Normal"/>
              </a:rPr>
              <a:t>2000</a:t>
            </a:r>
            <a:r>
              <a:rPr lang="zh-CN" altLang="en-US" sz="2400" dirty="0">
                <a:latin typeface="思源黑体 CN Normal"/>
              </a:rPr>
              <a:t>万本普通书籍、</a:t>
            </a:r>
            <a:r>
              <a:rPr lang="en-US" altLang="zh-CN" sz="2400" dirty="0">
                <a:latin typeface="思源黑体 CN Normal"/>
              </a:rPr>
              <a:t>20</a:t>
            </a:r>
            <a:r>
              <a:rPr lang="zh-CN" altLang="en-US" sz="2400" dirty="0">
                <a:latin typeface="思源黑体 CN Normal"/>
              </a:rPr>
              <a:t>个大型图书馆的藏书总字数、一个人连续说</a:t>
            </a:r>
            <a:r>
              <a:rPr lang="en-US" altLang="zh-CN" sz="2400" dirty="0">
                <a:latin typeface="思源黑体 CN Normal"/>
              </a:rPr>
              <a:t>2000</a:t>
            </a:r>
            <a:r>
              <a:rPr lang="zh-CN" altLang="en-US" sz="2400" dirty="0">
                <a:latin typeface="思源黑体 CN Normal"/>
              </a:rPr>
              <a:t>亿天的总字数，或者人类历史上所有书籍总字数的</a:t>
            </a:r>
            <a:r>
              <a:rPr lang="en-US" altLang="zh-CN" sz="2400" dirty="0">
                <a:latin typeface="思源黑体 CN Normal"/>
              </a:rPr>
              <a:t>2</a:t>
            </a:r>
            <a:r>
              <a:rPr lang="zh-CN" altLang="en-US" sz="2400" dirty="0">
                <a:latin typeface="思源黑体 CN Normal"/>
              </a:rPr>
              <a:t>倍。这些比较可以帮助我们更直观地理解</a:t>
            </a:r>
            <a:r>
              <a:rPr lang="en-US" altLang="zh-CN" sz="2400" dirty="0">
                <a:latin typeface="思源黑体 CN Normal"/>
              </a:rPr>
              <a:t>20</a:t>
            </a:r>
            <a:r>
              <a:rPr lang="zh-CN" altLang="en-US" sz="2400" dirty="0">
                <a:latin typeface="思源黑体 CN Normal"/>
              </a:rPr>
              <a:t>万亿</a:t>
            </a:r>
            <a:r>
              <a:rPr lang="en-US" altLang="zh-CN" sz="2400" dirty="0">
                <a:latin typeface="思源黑体 CN Normal"/>
              </a:rPr>
              <a:t>token</a:t>
            </a:r>
            <a:r>
              <a:rPr lang="zh-CN" altLang="en-US" sz="2400" dirty="0">
                <a:latin typeface="思源黑体 CN Normal"/>
              </a:rPr>
              <a:t>的规模。</a:t>
            </a:r>
            <a:endParaRPr lang="zh-CN" altLang="en-US" sz="2400" dirty="0">
              <a:latin typeface="思源黑体 CN Norm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G-Rectangle 7"/>
          <p:cNvSpPr/>
          <p:nvPr>
            <p:custDataLst>
              <p:tags r:id="rId1"/>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矩形 7"/>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2"/>
            </p:custDataLst>
          </p:nvPr>
        </p:nvSpPr>
        <p:spPr>
          <a:xfrm>
            <a:off x="177740" y="17659"/>
            <a:ext cx="64140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数字经济发展背景</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国家政策支持</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
        <p:nvSpPr>
          <p:cNvPr id="2" name="MG-Rectangle 7"/>
          <p:cNvSpPr/>
          <p:nvPr>
            <p:custDataLst>
              <p:tags r:id="rId3"/>
            </p:custDataLst>
          </p:nvPr>
        </p:nvSpPr>
        <p:spPr>
          <a:xfrm>
            <a:off x="1" y="538359"/>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文本框 2"/>
          <p:cNvSpPr txBox="1"/>
          <p:nvPr/>
        </p:nvSpPr>
        <p:spPr>
          <a:xfrm>
            <a:off x="595696" y="1098367"/>
            <a:ext cx="10642601" cy="5021824"/>
          </a:xfrm>
          <a:prstGeom prst="rect">
            <a:avLst/>
          </a:prstGeom>
          <a:noFill/>
        </p:spPr>
        <p:txBody>
          <a:bodyPr wrap="square">
            <a:spAutoFit/>
          </a:bodyPr>
          <a:lstStyle/>
          <a:p>
            <a:pPr indent="457200">
              <a:lnSpc>
                <a:spcPct val="150000"/>
              </a:lnSpc>
            </a:pPr>
            <a:r>
              <a:rPr lang="zh-CN" altLang="en-US" sz="2400" dirty="0">
                <a:latin typeface="思源黑体 CN Normal"/>
              </a:rPr>
              <a:t>我国数字经济的快速崛起，离不开国家层面的前瞻性布局和政策支持。下表梳理了近年来国家出台的主要数字经济政策和相关会议文件。从总体上看，我国数字经济政策的演进大致经历了以下三个阶段。</a:t>
            </a:r>
            <a:endParaRPr lang="zh-CN" altLang="en-US" sz="2400" dirty="0">
              <a:latin typeface="思源黑体 CN Normal"/>
            </a:endParaRPr>
          </a:p>
          <a:p>
            <a:pPr indent="457200">
              <a:lnSpc>
                <a:spcPct val="150000"/>
              </a:lnSpc>
            </a:pPr>
            <a:r>
              <a:rPr lang="zh-CN" altLang="en-US" sz="2400" b="1" dirty="0">
                <a:solidFill>
                  <a:srgbClr val="C00000"/>
                </a:solidFill>
                <a:latin typeface="思源黑体 CN Normal"/>
              </a:rPr>
              <a:t>第一阶段是促进数字技术赋能时期（</a:t>
            </a:r>
            <a:r>
              <a:rPr lang="en-US" altLang="zh-CN" sz="2400" b="1" dirty="0">
                <a:solidFill>
                  <a:srgbClr val="C00000"/>
                </a:solidFill>
                <a:latin typeface="思源黑体 CN Normal"/>
              </a:rPr>
              <a:t>2010—2017</a:t>
            </a:r>
            <a:r>
              <a:rPr lang="zh-CN" altLang="en-US" sz="2400" b="1" dirty="0">
                <a:solidFill>
                  <a:srgbClr val="C00000"/>
                </a:solidFill>
                <a:latin typeface="思源黑体 CN Normal"/>
              </a:rPr>
              <a:t>年）</a:t>
            </a:r>
            <a:r>
              <a:rPr lang="zh-CN" altLang="en-US" sz="2400" dirty="0">
                <a:latin typeface="思源黑体 CN Normal"/>
              </a:rPr>
              <a:t>。本阶段以</a:t>
            </a:r>
            <a:r>
              <a:rPr lang="en-US" altLang="zh-CN" sz="2400" dirty="0">
                <a:latin typeface="思源黑体 CN Normal"/>
              </a:rPr>
              <a:t>《</a:t>
            </a:r>
            <a:r>
              <a:rPr lang="zh-CN" altLang="en-US" sz="2400" dirty="0">
                <a:latin typeface="思源黑体 CN Normal"/>
              </a:rPr>
              <a:t>国务院关于加快培育和发展战略性新兴产业的决定</a:t>
            </a:r>
            <a:r>
              <a:rPr lang="en-US" altLang="zh-CN" sz="2400" dirty="0">
                <a:latin typeface="思源黑体 CN Normal"/>
              </a:rPr>
              <a:t>》</a:t>
            </a:r>
            <a:r>
              <a:rPr lang="zh-CN" altLang="en-US" sz="2400" dirty="0">
                <a:latin typeface="思源黑体 CN Normal"/>
              </a:rPr>
              <a:t>（国发</a:t>
            </a:r>
            <a:r>
              <a:rPr lang="en-US" altLang="zh-CN" sz="2400" dirty="0">
                <a:latin typeface="思源黑体 CN Normal"/>
              </a:rPr>
              <a:t>〔2010〕32</a:t>
            </a:r>
            <a:r>
              <a:rPr lang="zh-CN" altLang="en-US" sz="2400" dirty="0">
                <a:latin typeface="思源黑体 CN Normal"/>
              </a:rPr>
              <a:t>号） 为起点，通过推动云计算、大数据等数字技术向传统产业渗透，初步形成“数字</a:t>
            </a:r>
            <a:r>
              <a:rPr lang="en-US" altLang="zh-CN" sz="2400" dirty="0">
                <a:latin typeface="思源黑体 CN Normal"/>
              </a:rPr>
              <a:t>+</a:t>
            </a:r>
            <a:r>
              <a:rPr lang="zh-CN" altLang="en-US" sz="2400" dirty="0">
                <a:latin typeface="思源黑体 CN Normal"/>
              </a:rPr>
              <a:t>产业”融合雏形，为后续深度融合奠定基础。政府在这一阶段的政策重点是夯实数字基础设施，推出“宽带中国”战略和网络强国战略等，推动宽带网络覆盖率提升，完善通信基础设施，为数字经济发展提供必要的技术支撑。</a:t>
            </a:r>
            <a:endParaRPr lang="zh-CN" altLang="en-US" sz="2400" dirty="0">
              <a:latin typeface="思源黑体 CN Norm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G-Rectangle 7"/>
          <p:cNvSpPr/>
          <p:nvPr>
            <p:custDataLst>
              <p:tags r:id="rId1"/>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矩形 7"/>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2"/>
            </p:custDataLst>
          </p:nvPr>
        </p:nvSpPr>
        <p:spPr>
          <a:xfrm>
            <a:off x="177739" y="17659"/>
            <a:ext cx="7519425"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数字经济发展背景</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国家政策支持</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
        <p:nvSpPr>
          <p:cNvPr id="2" name="MG-Rectangle 7"/>
          <p:cNvSpPr/>
          <p:nvPr>
            <p:custDataLst>
              <p:tags r:id="rId3"/>
            </p:custDataLst>
          </p:nvPr>
        </p:nvSpPr>
        <p:spPr>
          <a:xfrm>
            <a:off x="1" y="538359"/>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文本框 2"/>
          <p:cNvSpPr txBox="1"/>
          <p:nvPr/>
        </p:nvSpPr>
        <p:spPr>
          <a:xfrm>
            <a:off x="595696" y="1098367"/>
            <a:ext cx="10642601" cy="5021824"/>
          </a:xfrm>
          <a:prstGeom prst="rect">
            <a:avLst/>
          </a:prstGeom>
          <a:noFill/>
        </p:spPr>
        <p:txBody>
          <a:bodyPr wrap="square">
            <a:spAutoFit/>
          </a:bodyPr>
          <a:lstStyle/>
          <a:p>
            <a:pPr indent="457200">
              <a:lnSpc>
                <a:spcPct val="150000"/>
              </a:lnSpc>
            </a:pPr>
            <a:r>
              <a:rPr lang="zh-CN" altLang="en-US" sz="2400" b="1" dirty="0">
                <a:solidFill>
                  <a:srgbClr val="C00000"/>
                </a:solidFill>
                <a:latin typeface="思源黑体 CN Normal"/>
              </a:rPr>
              <a:t>第二阶段是促进数字经济和实体经济深度融合时期（</a:t>
            </a:r>
            <a:r>
              <a:rPr lang="en-US" altLang="zh-CN" sz="2400" b="1" dirty="0">
                <a:solidFill>
                  <a:srgbClr val="C00000"/>
                </a:solidFill>
                <a:latin typeface="思源黑体 CN Normal"/>
              </a:rPr>
              <a:t>2018—2022</a:t>
            </a:r>
            <a:r>
              <a:rPr lang="zh-CN" altLang="en-US" sz="2400" b="1" dirty="0">
                <a:solidFill>
                  <a:srgbClr val="C00000"/>
                </a:solidFill>
                <a:latin typeface="思源黑体 CN Normal"/>
              </a:rPr>
              <a:t>年）。</a:t>
            </a:r>
            <a:r>
              <a:rPr lang="zh-CN" altLang="en-US" sz="2400" dirty="0">
                <a:latin typeface="思源黑体 CN Normal"/>
              </a:rPr>
              <a:t>本阶段以国务院发布</a:t>
            </a:r>
            <a:r>
              <a:rPr lang="en-US" altLang="zh-CN" sz="2400" dirty="0">
                <a:latin typeface="思源黑体 CN Normal"/>
              </a:rPr>
              <a:t>《</a:t>
            </a:r>
            <a:r>
              <a:rPr lang="zh-CN" altLang="en-US" sz="2400" dirty="0">
                <a:latin typeface="思源黑体 CN Normal"/>
              </a:rPr>
              <a:t>关于深化“互联网</a:t>
            </a:r>
            <a:r>
              <a:rPr lang="en-US" altLang="zh-CN" sz="2400" dirty="0">
                <a:latin typeface="思源黑体 CN Normal"/>
              </a:rPr>
              <a:t>+</a:t>
            </a:r>
            <a:r>
              <a:rPr lang="zh-CN" altLang="en-US" sz="2400" dirty="0">
                <a:latin typeface="思源黑体 CN Normal"/>
              </a:rPr>
              <a:t>先进制造业”发展工业互联网的指导意见</a:t>
            </a:r>
            <a:r>
              <a:rPr lang="en-US" altLang="zh-CN" sz="2400" dirty="0">
                <a:latin typeface="思源黑体 CN Normal"/>
              </a:rPr>
              <a:t>》</a:t>
            </a:r>
            <a:r>
              <a:rPr lang="zh-CN" altLang="en-US" sz="2400" dirty="0">
                <a:latin typeface="思源黑体 CN Normal"/>
              </a:rPr>
              <a:t>（</a:t>
            </a:r>
            <a:r>
              <a:rPr lang="en-US" altLang="zh-CN" sz="2400" dirty="0">
                <a:latin typeface="思源黑体 CN Normal"/>
              </a:rPr>
              <a:t>2017</a:t>
            </a:r>
            <a:r>
              <a:rPr lang="zh-CN" altLang="en-US" sz="2400" dirty="0">
                <a:latin typeface="思源黑体 CN Normal"/>
              </a:rPr>
              <a:t>年</a:t>
            </a:r>
            <a:r>
              <a:rPr lang="en-US" altLang="zh-CN" sz="2400" dirty="0">
                <a:latin typeface="思源黑体 CN Normal"/>
              </a:rPr>
              <a:t>11</a:t>
            </a:r>
            <a:r>
              <a:rPr lang="zh-CN" altLang="en-US" sz="2400" dirty="0">
                <a:latin typeface="思源黑体 CN Normal"/>
              </a:rPr>
              <a:t>月） 及</a:t>
            </a:r>
            <a:r>
              <a:rPr lang="en-US" altLang="zh-CN" sz="2400" dirty="0">
                <a:latin typeface="思源黑体 CN Normal"/>
              </a:rPr>
              <a:t>《</a:t>
            </a:r>
            <a:r>
              <a:rPr lang="zh-CN" altLang="en-US" sz="2400" dirty="0">
                <a:latin typeface="思源黑体 CN Normal"/>
              </a:rPr>
              <a:t>工业互联网发展行动计划（</a:t>
            </a:r>
            <a:r>
              <a:rPr lang="en-US" altLang="zh-CN" sz="2400" dirty="0">
                <a:latin typeface="思源黑体 CN Normal"/>
              </a:rPr>
              <a:t>2018—2020</a:t>
            </a:r>
            <a:r>
              <a:rPr lang="zh-CN" altLang="en-US" sz="2400" dirty="0">
                <a:latin typeface="思源黑体 CN Normal"/>
              </a:rPr>
              <a:t>年）</a:t>
            </a:r>
            <a:r>
              <a:rPr lang="en-US" altLang="zh-CN" sz="2400" dirty="0">
                <a:latin typeface="思源黑体 CN Normal"/>
              </a:rPr>
              <a:t>》</a:t>
            </a:r>
            <a:r>
              <a:rPr lang="zh-CN" altLang="en-US" sz="2400" dirty="0">
                <a:latin typeface="思源黑体 CN Normal"/>
              </a:rPr>
              <a:t>（</a:t>
            </a:r>
            <a:r>
              <a:rPr lang="en-US" altLang="zh-CN" sz="2400" dirty="0">
                <a:latin typeface="思源黑体 CN Normal"/>
              </a:rPr>
              <a:t>2018</a:t>
            </a:r>
            <a:r>
              <a:rPr lang="zh-CN" altLang="en-US" sz="2400" dirty="0">
                <a:latin typeface="思源黑体 CN Normal"/>
              </a:rPr>
              <a:t>年</a:t>
            </a:r>
            <a:r>
              <a:rPr lang="en-US" altLang="zh-CN" sz="2400" dirty="0">
                <a:latin typeface="思源黑体 CN Normal"/>
              </a:rPr>
              <a:t>6</a:t>
            </a:r>
            <a:r>
              <a:rPr lang="zh-CN" altLang="en-US" sz="2400" dirty="0">
                <a:latin typeface="思源黑体 CN Normal"/>
              </a:rPr>
              <a:t>月） 为政策起点，通过工业互联网平台建设与智能制造试点示范，构建技术标准、产业载体与生态培育协同推进体系，推动融合模式从单点技术应用向产业链协同创新升级。政府在这一阶段加大了政策支持力度，加快推动传统产业数字化转型，实现数字产业化和产业数字化的双向发展。与此同时，高度重视数据要素的经济价值，不断推进数据治理体系建设，出台数据要素市场化配置改革方案，强化数据产权制度建设（徐翔等，</a:t>
            </a:r>
            <a:r>
              <a:rPr lang="en-US" altLang="zh-CN" sz="2400" dirty="0">
                <a:latin typeface="思源黑体 CN Normal"/>
              </a:rPr>
              <a:t>2021</a:t>
            </a:r>
            <a:r>
              <a:rPr lang="zh-CN" altLang="en-US" sz="2400" dirty="0">
                <a:latin typeface="思源黑体 CN Normal"/>
              </a:rPr>
              <a:t>）。</a:t>
            </a:r>
            <a:endParaRPr lang="zh-CN" altLang="en-US" sz="2400" dirty="0">
              <a:latin typeface="思源黑体 CN Norm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G-Rectangle 7"/>
          <p:cNvSpPr/>
          <p:nvPr>
            <p:custDataLst>
              <p:tags r:id="rId1"/>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矩形 7"/>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2"/>
            </p:custDataLst>
          </p:nvPr>
        </p:nvSpPr>
        <p:spPr>
          <a:xfrm>
            <a:off x="177739" y="17659"/>
            <a:ext cx="5754285"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数字经济发展背景</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国家政策支持</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
        <p:nvSpPr>
          <p:cNvPr id="2" name="MG-Rectangle 7"/>
          <p:cNvSpPr/>
          <p:nvPr>
            <p:custDataLst>
              <p:tags r:id="rId3"/>
            </p:custDataLst>
          </p:nvPr>
        </p:nvSpPr>
        <p:spPr>
          <a:xfrm>
            <a:off x="1" y="538359"/>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文本框 2"/>
          <p:cNvSpPr txBox="1"/>
          <p:nvPr/>
        </p:nvSpPr>
        <p:spPr>
          <a:xfrm>
            <a:off x="595696" y="1098367"/>
            <a:ext cx="10642601" cy="5021824"/>
          </a:xfrm>
          <a:prstGeom prst="rect">
            <a:avLst/>
          </a:prstGeom>
          <a:noFill/>
        </p:spPr>
        <p:txBody>
          <a:bodyPr wrap="square">
            <a:spAutoFit/>
          </a:bodyPr>
          <a:lstStyle/>
          <a:p>
            <a:pPr indent="457200">
              <a:lnSpc>
                <a:spcPct val="150000"/>
              </a:lnSpc>
            </a:pPr>
            <a:r>
              <a:rPr lang="zh-CN" altLang="en-US" sz="2400" b="1" dirty="0">
                <a:solidFill>
                  <a:srgbClr val="C00000"/>
                </a:solidFill>
                <a:latin typeface="思源黑体 CN Normal"/>
              </a:rPr>
              <a:t>第三阶段是促进数字经济和实体经济全面融合时期（</a:t>
            </a:r>
            <a:r>
              <a:rPr lang="en-US" altLang="zh-CN" sz="2400" b="1" dirty="0">
                <a:solidFill>
                  <a:srgbClr val="C00000"/>
                </a:solidFill>
                <a:latin typeface="思源黑体 CN Normal"/>
              </a:rPr>
              <a:t>2023</a:t>
            </a:r>
            <a:r>
              <a:rPr lang="zh-CN" altLang="en-US" sz="2400" b="1" dirty="0">
                <a:solidFill>
                  <a:srgbClr val="C00000"/>
                </a:solidFill>
                <a:latin typeface="思源黑体 CN Normal"/>
              </a:rPr>
              <a:t>年至今）。</a:t>
            </a:r>
            <a:r>
              <a:rPr lang="zh-CN" altLang="en-US" sz="2400" dirty="0">
                <a:latin typeface="思源黑体 CN Normal"/>
              </a:rPr>
              <a:t>本阶段以党的二十大召开为起点，政策重心转向现代化产业体系构建、数据要素市场化配置与数字产业集群培育等重点领域，加速推进实体经济与数字经济的系统性融合。进入这一阶段，数字经济与实体经济的融合已从局部渗透走向全方位智能化融合，政府的政策导向进一步明确，强调数字经济应服务于实体经济的发展。党的二十届三中全会提出“健全促进实体经济和数字经济深度融合制度”，强调数字经济的发展目标不仅是提升数字产业自身的增长能力，更重要的是促进实体经济的现代化升级，构建更加高效、协同和可持续的产业生态体系。</a:t>
            </a:r>
            <a:endParaRPr lang="zh-CN" altLang="en-US" sz="2400" dirty="0">
              <a:latin typeface="思源黑体 CN Norm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stretch>
            <a:fillRect/>
          </a:stretch>
        </p:blipFill>
        <p:spPr>
          <a:xfrm>
            <a:off x="909587" y="304394"/>
            <a:ext cx="10496350" cy="6298537"/>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a:extLst>
              <a:ext uri="{28A0092B-C50C-407E-A947-70E740481C1C}">
                <a14:useLocalDpi xmlns:a14="http://schemas.microsoft.com/office/drawing/2010/main" val="0"/>
              </a:ext>
            </a:extLst>
          </a:blip>
          <a:srcRect l="30024" r="26663"/>
          <a:stretch>
            <a:fillRect/>
          </a:stretch>
        </p:blipFill>
        <p:spPr>
          <a:xfrm>
            <a:off x="7736378" y="0"/>
            <a:ext cx="4455622" cy="6858000"/>
          </a:xfrm>
          <a:custGeom>
            <a:avLst/>
            <a:gdLst>
              <a:gd name="connsiteX0" fmla="*/ 0 w 4455622"/>
              <a:gd name="connsiteY0" fmla="*/ 0 h 6858000"/>
              <a:gd name="connsiteX1" fmla="*/ 4455622 w 4455622"/>
              <a:gd name="connsiteY1" fmla="*/ 0 h 6858000"/>
              <a:gd name="connsiteX2" fmla="*/ 4455622 w 4455622"/>
              <a:gd name="connsiteY2" fmla="*/ 6858000 h 6858000"/>
              <a:gd name="connsiteX3" fmla="*/ 0 w 445562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55622" h="6858000">
                <a:moveTo>
                  <a:pt x="0" y="0"/>
                </a:moveTo>
                <a:lnTo>
                  <a:pt x="4455622" y="0"/>
                </a:lnTo>
                <a:lnTo>
                  <a:pt x="4455622" y="6858000"/>
                </a:lnTo>
                <a:lnTo>
                  <a:pt x="0" y="6858000"/>
                </a:lnTo>
                <a:close/>
              </a:path>
            </a:pathLst>
          </a:custGeom>
        </p:spPr>
      </p:pic>
      <p:sp>
        <p:nvSpPr>
          <p:cNvPr id="4" name="矩形: 圆角 3"/>
          <p:cNvSpPr/>
          <p:nvPr/>
        </p:nvSpPr>
        <p:spPr>
          <a:xfrm flipH="1">
            <a:off x="7736378" y="0"/>
            <a:ext cx="4455622" cy="6858000"/>
          </a:xfrm>
          <a:prstGeom prst="roundRect">
            <a:avLst>
              <a:gd name="adj" fmla="val 0"/>
            </a:avLst>
          </a:prstGeom>
          <a:gradFill flip="none" rotWithShape="1">
            <a:gsLst>
              <a:gs pos="43100">
                <a:srgbClr val="285BDB">
                  <a:alpha val="88000"/>
                </a:srgbClr>
              </a:gs>
              <a:gs pos="0">
                <a:srgbClr val="285BDB"/>
              </a:gs>
              <a:gs pos="100000">
                <a:srgbClr val="285BDB">
                  <a:alpha val="43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5" name="矩形: 圆角 4"/>
          <p:cNvSpPr/>
          <p:nvPr/>
        </p:nvSpPr>
        <p:spPr>
          <a:xfrm>
            <a:off x="533400" y="1088571"/>
            <a:ext cx="11125200" cy="4793474"/>
          </a:xfrm>
          <a:prstGeom prst="roundRect">
            <a:avLst>
              <a:gd name="adj" fmla="val 50000"/>
            </a:avLst>
          </a:prstGeom>
          <a:solidFill>
            <a:schemeClr val="bg1"/>
          </a:soli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mn-ea"/>
            </a:endParaRPr>
          </a:p>
        </p:txBody>
      </p:sp>
      <p:cxnSp>
        <p:nvCxnSpPr>
          <p:cNvPr id="6" name="直接连接符 5"/>
          <p:cNvCxnSpPr/>
          <p:nvPr/>
        </p:nvCxnSpPr>
        <p:spPr>
          <a:xfrm>
            <a:off x="11067631" y="438150"/>
            <a:ext cx="674918"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1170730" y="1935381"/>
            <a:ext cx="3012769" cy="3012769"/>
          </a:xfrm>
          <a:prstGeom prst="ellipse">
            <a:avLst/>
          </a:prstGeom>
          <a:solidFill>
            <a:srgbClr val="2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0" name="弧形 9"/>
          <p:cNvSpPr/>
          <p:nvPr/>
        </p:nvSpPr>
        <p:spPr>
          <a:xfrm>
            <a:off x="925405" y="1690056"/>
            <a:ext cx="3503420" cy="3503420"/>
          </a:xfrm>
          <a:prstGeom prst="arc">
            <a:avLst/>
          </a:prstGeom>
          <a:ln>
            <a:solidFill>
              <a:srgbClr val="285BD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1" name="椭圆 10"/>
          <p:cNvSpPr/>
          <p:nvPr/>
        </p:nvSpPr>
        <p:spPr>
          <a:xfrm>
            <a:off x="4359688" y="3446341"/>
            <a:ext cx="146357" cy="146356"/>
          </a:xfrm>
          <a:prstGeom prst="ellipse">
            <a:avLst/>
          </a:prstGeom>
          <a:solidFill>
            <a:srgbClr val="285BD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5" name="文本框 14"/>
          <p:cNvSpPr txBox="1"/>
          <p:nvPr>
            <p:custDataLst>
              <p:tags r:id="rId2"/>
            </p:custDataLst>
          </p:nvPr>
        </p:nvSpPr>
        <p:spPr>
          <a:xfrm flipH="1">
            <a:off x="4783700" y="2625244"/>
            <a:ext cx="6195783" cy="923330"/>
          </a:xfrm>
          <a:prstGeom prst="rect">
            <a:avLst/>
          </a:prstGeom>
          <a:noFill/>
        </p:spPr>
        <p:txBody>
          <a:bodyPr vert="horz" wrap="square" rtlCol="0">
            <a:spAutoFit/>
          </a:bodyPr>
          <a:lstStyle/>
          <a:p>
            <a:pPr algn="dist"/>
            <a:r>
              <a:rPr lang="zh-CN" altLang="en-US" sz="5400" dirty="0">
                <a:solidFill>
                  <a:srgbClr val="285BDB"/>
                </a:solidFill>
                <a:latin typeface="思源宋体 CN Heavy" panose="02020900000000000000" charset="-122"/>
                <a:ea typeface="思源宋体 CN Heavy" panose="02020900000000000000" charset="-122"/>
                <a:sym typeface="思源黑体 CN Medium" panose="020B0600000000000000" pitchFamily="34" charset="-122"/>
              </a:rPr>
              <a:t>数字经济发展现状</a:t>
            </a:r>
            <a:endParaRPr lang="zh-CN" altLang="en-US" sz="5400" dirty="0">
              <a:solidFill>
                <a:srgbClr val="285BDB"/>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6" name="文本框 15"/>
          <p:cNvSpPr txBox="1"/>
          <p:nvPr>
            <p:custDataLst>
              <p:tags r:id="rId3"/>
            </p:custDataLst>
          </p:nvPr>
        </p:nvSpPr>
        <p:spPr>
          <a:xfrm flipH="1">
            <a:off x="4820830" y="1940441"/>
            <a:ext cx="6284079" cy="461665"/>
          </a:xfrm>
          <a:prstGeom prst="rect">
            <a:avLst/>
          </a:prstGeom>
          <a:noFill/>
        </p:spPr>
        <p:txBody>
          <a:bodyPr vert="horz" wrap="square" rtlCol="0">
            <a:spAutoFit/>
          </a:bodyPr>
          <a:lstStyle/>
          <a:p>
            <a:pPr algn="dist"/>
            <a:r>
              <a:rPr lang="en-US" altLang="zh-CN" sz="2400" kern="100" dirty="0">
                <a:solidFill>
                  <a:srgbClr val="285BDB"/>
                </a:solidFill>
                <a:latin typeface="思源宋体 CN Heavy" panose="02020900000000000000" charset="-122"/>
                <a:ea typeface="思源宋体 CN Heavy" panose="02020900000000000000" charset="-122"/>
                <a:cs typeface="汉仪旗黑-50S" panose="00020600040101010101" charset="-122"/>
              </a:rPr>
              <a:t>Definition of Digital Economy</a:t>
            </a:r>
            <a:endParaRPr lang="en-US" altLang="zh-CN" sz="2400" kern="100" dirty="0">
              <a:solidFill>
                <a:srgbClr val="285BDB"/>
              </a:solidFill>
              <a:latin typeface="思源宋体 CN Heavy" panose="02020900000000000000" charset="-122"/>
              <a:ea typeface="思源宋体 CN Heavy" panose="02020900000000000000" charset="-122"/>
              <a:cs typeface="汉仪旗黑-50S" panose="00020600040101010101" charset="-122"/>
            </a:endParaRPr>
          </a:p>
        </p:txBody>
      </p:sp>
      <p:sp>
        <p:nvSpPr>
          <p:cNvPr id="17" name="PA-文本框 88"/>
          <p:cNvSpPr txBox="1"/>
          <p:nvPr>
            <p:custDataLst>
              <p:tags r:id="rId4"/>
            </p:custDataLst>
          </p:nvPr>
        </p:nvSpPr>
        <p:spPr>
          <a:xfrm>
            <a:off x="5003222" y="4103745"/>
            <a:ext cx="5239031" cy="252762"/>
          </a:xfrm>
          <a:prstGeom prst="rect">
            <a:avLst/>
          </a:prstGeom>
          <a:noFill/>
        </p:spPr>
        <p:txBody>
          <a:bodyPr wrap="square" lIns="0" tIns="0" rIns="0" bIns="0" rtlCol="0">
            <a:spAutoFit/>
          </a:bodyPr>
          <a:lstStyle/>
          <a:p>
            <a:pPr algn="dist" hangingPunct="0">
              <a:lnSpc>
                <a:spcPct val="130000"/>
              </a:lnSpc>
            </a:pPr>
            <a:r>
              <a:rPr lang="en-US" altLang="zh-CN"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mn-lt"/>
              </a:rPr>
              <a:t> The Development Path of Digital Economy</a:t>
            </a:r>
            <a:endParaRPr lang="en-US" altLang="zh-CN"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mn-lt"/>
            </a:endParaRPr>
          </a:p>
        </p:txBody>
      </p:sp>
      <p:sp>
        <p:nvSpPr>
          <p:cNvPr id="19" name="任意多边形: 形状 18"/>
          <p:cNvSpPr/>
          <p:nvPr/>
        </p:nvSpPr>
        <p:spPr>
          <a:xfrm rot="5400000" flipV="1">
            <a:off x="10341316" y="5693885"/>
            <a:ext cx="355828" cy="944588"/>
          </a:xfrm>
          <a:custGeom>
            <a:avLst/>
            <a:gdLst>
              <a:gd name="connsiteX0" fmla="*/ 615788 w 659098"/>
              <a:gd name="connsiteY0" fmla="*/ 1663038 h 1749657"/>
              <a:gd name="connsiteX1" fmla="*/ 659098 w 659098"/>
              <a:gd name="connsiteY1" fmla="*/ 1706348 h 1749657"/>
              <a:gd name="connsiteX2" fmla="*/ 615788 w 659098"/>
              <a:gd name="connsiteY2" fmla="*/ 1749657 h 1749657"/>
              <a:gd name="connsiteX3" fmla="*/ 572478 w 659098"/>
              <a:gd name="connsiteY3" fmla="*/ 1706348 h 1749657"/>
              <a:gd name="connsiteX4" fmla="*/ 615788 w 659098"/>
              <a:gd name="connsiteY4" fmla="*/ 1663038 h 1749657"/>
              <a:gd name="connsiteX5" fmla="*/ 424962 w 659098"/>
              <a:gd name="connsiteY5" fmla="*/ 1663038 h 1749657"/>
              <a:gd name="connsiteX6" fmla="*/ 468272 w 659098"/>
              <a:gd name="connsiteY6" fmla="*/ 1706348 h 1749657"/>
              <a:gd name="connsiteX7" fmla="*/ 424962 w 659098"/>
              <a:gd name="connsiteY7" fmla="*/ 1749657 h 1749657"/>
              <a:gd name="connsiteX8" fmla="*/ 381652 w 659098"/>
              <a:gd name="connsiteY8" fmla="*/ 1706348 h 1749657"/>
              <a:gd name="connsiteX9" fmla="*/ 424962 w 659098"/>
              <a:gd name="connsiteY9" fmla="*/ 1663038 h 1749657"/>
              <a:gd name="connsiteX10" fmla="*/ 234136 w 659098"/>
              <a:gd name="connsiteY10" fmla="*/ 1663038 h 1749657"/>
              <a:gd name="connsiteX11" fmla="*/ 277446 w 659098"/>
              <a:gd name="connsiteY11" fmla="*/ 1706348 h 1749657"/>
              <a:gd name="connsiteX12" fmla="*/ 234136 w 659098"/>
              <a:gd name="connsiteY12" fmla="*/ 1749657 h 1749657"/>
              <a:gd name="connsiteX13" fmla="*/ 190826 w 659098"/>
              <a:gd name="connsiteY13" fmla="*/ 1706348 h 1749657"/>
              <a:gd name="connsiteX14" fmla="*/ 234136 w 659098"/>
              <a:gd name="connsiteY14" fmla="*/ 1663038 h 1749657"/>
              <a:gd name="connsiteX15" fmla="*/ 43310 w 659098"/>
              <a:gd name="connsiteY15" fmla="*/ 1663038 h 1749657"/>
              <a:gd name="connsiteX16" fmla="*/ 86619 w 659098"/>
              <a:gd name="connsiteY16" fmla="*/ 1706348 h 1749657"/>
              <a:gd name="connsiteX17" fmla="*/ 43310 w 659098"/>
              <a:gd name="connsiteY17" fmla="*/ 1749657 h 1749657"/>
              <a:gd name="connsiteX18" fmla="*/ 0 w 659098"/>
              <a:gd name="connsiteY18" fmla="*/ 1706348 h 1749657"/>
              <a:gd name="connsiteX19" fmla="*/ 43310 w 659098"/>
              <a:gd name="connsiteY19" fmla="*/ 1663038 h 1749657"/>
              <a:gd name="connsiteX20" fmla="*/ 615788 w 659098"/>
              <a:gd name="connsiteY20" fmla="*/ 1385865 h 1749657"/>
              <a:gd name="connsiteX21" fmla="*/ 659098 w 659098"/>
              <a:gd name="connsiteY21" fmla="*/ 1429175 h 1749657"/>
              <a:gd name="connsiteX22" fmla="*/ 615788 w 659098"/>
              <a:gd name="connsiteY22" fmla="*/ 1472484 h 1749657"/>
              <a:gd name="connsiteX23" fmla="*/ 572478 w 659098"/>
              <a:gd name="connsiteY23" fmla="*/ 1429175 h 1749657"/>
              <a:gd name="connsiteX24" fmla="*/ 615788 w 659098"/>
              <a:gd name="connsiteY24" fmla="*/ 1385865 h 1749657"/>
              <a:gd name="connsiteX25" fmla="*/ 424962 w 659098"/>
              <a:gd name="connsiteY25" fmla="*/ 1385865 h 1749657"/>
              <a:gd name="connsiteX26" fmla="*/ 468272 w 659098"/>
              <a:gd name="connsiteY26" fmla="*/ 1429175 h 1749657"/>
              <a:gd name="connsiteX27" fmla="*/ 424962 w 659098"/>
              <a:gd name="connsiteY27" fmla="*/ 1472484 h 1749657"/>
              <a:gd name="connsiteX28" fmla="*/ 381652 w 659098"/>
              <a:gd name="connsiteY28" fmla="*/ 1429175 h 1749657"/>
              <a:gd name="connsiteX29" fmla="*/ 424962 w 659098"/>
              <a:gd name="connsiteY29" fmla="*/ 1385865 h 1749657"/>
              <a:gd name="connsiteX30" fmla="*/ 234136 w 659098"/>
              <a:gd name="connsiteY30" fmla="*/ 1385865 h 1749657"/>
              <a:gd name="connsiteX31" fmla="*/ 277446 w 659098"/>
              <a:gd name="connsiteY31" fmla="*/ 1429175 h 1749657"/>
              <a:gd name="connsiteX32" fmla="*/ 234136 w 659098"/>
              <a:gd name="connsiteY32" fmla="*/ 1472484 h 1749657"/>
              <a:gd name="connsiteX33" fmla="*/ 190826 w 659098"/>
              <a:gd name="connsiteY33" fmla="*/ 1429175 h 1749657"/>
              <a:gd name="connsiteX34" fmla="*/ 234136 w 659098"/>
              <a:gd name="connsiteY34" fmla="*/ 1385865 h 1749657"/>
              <a:gd name="connsiteX35" fmla="*/ 43310 w 659098"/>
              <a:gd name="connsiteY35" fmla="*/ 1385865 h 1749657"/>
              <a:gd name="connsiteX36" fmla="*/ 86619 w 659098"/>
              <a:gd name="connsiteY36" fmla="*/ 1429175 h 1749657"/>
              <a:gd name="connsiteX37" fmla="*/ 43310 w 659098"/>
              <a:gd name="connsiteY37" fmla="*/ 1472484 h 1749657"/>
              <a:gd name="connsiteX38" fmla="*/ 0 w 659098"/>
              <a:gd name="connsiteY38" fmla="*/ 1429175 h 1749657"/>
              <a:gd name="connsiteX39" fmla="*/ 43310 w 659098"/>
              <a:gd name="connsiteY39" fmla="*/ 1385865 h 1749657"/>
              <a:gd name="connsiteX40" fmla="*/ 615788 w 659098"/>
              <a:gd name="connsiteY40" fmla="*/ 1108692 h 1749657"/>
              <a:gd name="connsiteX41" fmla="*/ 659098 w 659098"/>
              <a:gd name="connsiteY41" fmla="*/ 1152002 h 1749657"/>
              <a:gd name="connsiteX42" fmla="*/ 615788 w 659098"/>
              <a:gd name="connsiteY42" fmla="*/ 1195311 h 1749657"/>
              <a:gd name="connsiteX43" fmla="*/ 572478 w 659098"/>
              <a:gd name="connsiteY43" fmla="*/ 1152002 h 1749657"/>
              <a:gd name="connsiteX44" fmla="*/ 615788 w 659098"/>
              <a:gd name="connsiteY44" fmla="*/ 1108692 h 1749657"/>
              <a:gd name="connsiteX45" fmla="*/ 424962 w 659098"/>
              <a:gd name="connsiteY45" fmla="*/ 1108692 h 1749657"/>
              <a:gd name="connsiteX46" fmla="*/ 468272 w 659098"/>
              <a:gd name="connsiteY46" fmla="*/ 1152002 h 1749657"/>
              <a:gd name="connsiteX47" fmla="*/ 424962 w 659098"/>
              <a:gd name="connsiteY47" fmla="*/ 1195311 h 1749657"/>
              <a:gd name="connsiteX48" fmla="*/ 381652 w 659098"/>
              <a:gd name="connsiteY48" fmla="*/ 1152002 h 1749657"/>
              <a:gd name="connsiteX49" fmla="*/ 424962 w 659098"/>
              <a:gd name="connsiteY49" fmla="*/ 1108692 h 1749657"/>
              <a:gd name="connsiteX50" fmla="*/ 234136 w 659098"/>
              <a:gd name="connsiteY50" fmla="*/ 1108692 h 1749657"/>
              <a:gd name="connsiteX51" fmla="*/ 277446 w 659098"/>
              <a:gd name="connsiteY51" fmla="*/ 1152002 h 1749657"/>
              <a:gd name="connsiteX52" fmla="*/ 234136 w 659098"/>
              <a:gd name="connsiteY52" fmla="*/ 1195311 h 1749657"/>
              <a:gd name="connsiteX53" fmla="*/ 190826 w 659098"/>
              <a:gd name="connsiteY53" fmla="*/ 1152002 h 1749657"/>
              <a:gd name="connsiteX54" fmla="*/ 234136 w 659098"/>
              <a:gd name="connsiteY54" fmla="*/ 1108692 h 1749657"/>
              <a:gd name="connsiteX55" fmla="*/ 43310 w 659098"/>
              <a:gd name="connsiteY55" fmla="*/ 1108692 h 1749657"/>
              <a:gd name="connsiteX56" fmla="*/ 86619 w 659098"/>
              <a:gd name="connsiteY56" fmla="*/ 1152002 h 1749657"/>
              <a:gd name="connsiteX57" fmla="*/ 43310 w 659098"/>
              <a:gd name="connsiteY57" fmla="*/ 1195311 h 1749657"/>
              <a:gd name="connsiteX58" fmla="*/ 0 w 659098"/>
              <a:gd name="connsiteY58" fmla="*/ 1152002 h 1749657"/>
              <a:gd name="connsiteX59" fmla="*/ 43310 w 659098"/>
              <a:gd name="connsiteY59" fmla="*/ 1108692 h 1749657"/>
              <a:gd name="connsiteX60" fmla="*/ 615788 w 659098"/>
              <a:gd name="connsiteY60" fmla="*/ 831519 h 1749657"/>
              <a:gd name="connsiteX61" fmla="*/ 659098 w 659098"/>
              <a:gd name="connsiteY61" fmla="*/ 874829 h 1749657"/>
              <a:gd name="connsiteX62" fmla="*/ 615788 w 659098"/>
              <a:gd name="connsiteY62" fmla="*/ 918138 h 1749657"/>
              <a:gd name="connsiteX63" fmla="*/ 572478 w 659098"/>
              <a:gd name="connsiteY63" fmla="*/ 874829 h 1749657"/>
              <a:gd name="connsiteX64" fmla="*/ 615788 w 659098"/>
              <a:gd name="connsiteY64" fmla="*/ 831519 h 1749657"/>
              <a:gd name="connsiteX65" fmla="*/ 424962 w 659098"/>
              <a:gd name="connsiteY65" fmla="*/ 831519 h 1749657"/>
              <a:gd name="connsiteX66" fmla="*/ 468272 w 659098"/>
              <a:gd name="connsiteY66" fmla="*/ 874829 h 1749657"/>
              <a:gd name="connsiteX67" fmla="*/ 424962 w 659098"/>
              <a:gd name="connsiteY67" fmla="*/ 918138 h 1749657"/>
              <a:gd name="connsiteX68" fmla="*/ 381652 w 659098"/>
              <a:gd name="connsiteY68" fmla="*/ 874829 h 1749657"/>
              <a:gd name="connsiteX69" fmla="*/ 424962 w 659098"/>
              <a:gd name="connsiteY69" fmla="*/ 831519 h 1749657"/>
              <a:gd name="connsiteX70" fmla="*/ 234136 w 659098"/>
              <a:gd name="connsiteY70" fmla="*/ 831519 h 1749657"/>
              <a:gd name="connsiteX71" fmla="*/ 277446 w 659098"/>
              <a:gd name="connsiteY71" fmla="*/ 874829 h 1749657"/>
              <a:gd name="connsiteX72" fmla="*/ 234136 w 659098"/>
              <a:gd name="connsiteY72" fmla="*/ 918138 h 1749657"/>
              <a:gd name="connsiteX73" fmla="*/ 190826 w 659098"/>
              <a:gd name="connsiteY73" fmla="*/ 874829 h 1749657"/>
              <a:gd name="connsiteX74" fmla="*/ 234136 w 659098"/>
              <a:gd name="connsiteY74" fmla="*/ 831519 h 1749657"/>
              <a:gd name="connsiteX75" fmla="*/ 43310 w 659098"/>
              <a:gd name="connsiteY75" fmla="*/ 831519 h 1749657"/>
              <a:gd name="connsiteX76" fmla="*/ 86619 w 659098"/>
              <a:gd name="connsiteY76" fmla="*/ 874829 h 1749657"/>
              <a:gd name="connsiteX77" fmla="*/ 43310 w 659098"/>
              <a:gd name="connsiteY77" fmla="*/ 918138 h 1749657"/>
              <a:gd name="connsiteX78" fmla="*/ 0 w 659098"/>
              <a:gd name="connsiteY78" fmla="*/ 874829 h 1749657"/>
              <a:gd name="connsiteX79" fmla="*/ 43310 w 659098"/>
              <a:gd name="connsiteY79" fmla="*/ 831519 h 1749657"/>
              <a:gd name="connsiteX80" fmla="*/ 43310 w 659098"/>
              <a:gd name="connsiteY80" fmla="*/ 554348 h 1749657"/>
              <a:gd name="connsiteX81" fmla="*/ 86619 w 659098"/>
              <a:gd name="connsiteY81" fmla="*/ 597658 h 1749657"/>
              <a:gd name="connsiteX82" fmla="*/ 43310 w 659098"/>
              <a:gd name="connsiteY82" fmla="*/ 640965 h 1749657"/>
              <a:gd name="connsiteX83" fmla="*/ 0 w 659098"/>
              <a:gd name="connsiteY83" fmla="*/ 597658 h 1749657"/>
              <a:gd name="connsiteX84" fmla="*/ 43310 w 659098"/>
              <a:gd name="connsiteY84" fmla="*/ 554348 h 1749657"/>
              <a:gd name="connsiteX85" fmla="*/ 615788 w 659098"/>
              <a:gd name="connsiteY85" fmla="*/ 554346 h 1749657"/>
              <a:gd name="connsiteX86" fmla="*/ 659098 w 659098"/>
              <a:gd name="connsiteY86" fmla="*/ 597656 h 1749657"/>
              <a:gd name="connsiteX87" fmla="*/ 615788 w 659098"/>
              <a:gd name="connsiteY87" fmla="*/ 640965 h 1749657"/>
              <a:gd name="connsiteX88" fmla="*/ 572478 w 659098"/>
              <a:gd name="connsiteY88" fmla="*/ 597656 h 1749657"/>
              <a:gd name="connsiteX89" fmla="*/ 615788 w 659098"/>
              <a:gd name="connsiteY89" fmla="*/ 554346 h 1749657"/>
              <a:gd name="connsiteX90" fmla="*/ 424962 w 659098"/>
              <a:gd name="connsiteY90" fmla="*/ 554346 h 1749657"/>
              <a:gd name="connsiteX91" fmla="*/ 468272 w 659098"/>
              <a:gd name="connsiteY91" fmla="*/ 597656 h 1749657"/>
              <a:gd name="connsiteX92" fmla="*/ 424962 w 659098"/>
              <a:gd name="connsiteY92" fmla="*/ 640965 h 1749657"/>
              <a:gd name="connsiteX93" fmla="*/ 381652 w 659098"/>
              <a:gd name="connsiteY93" fmla="*/ 597656 h 1749657"/>
              <a:gd name="connsiteX94" fmla="*/ 424962 w 659098"/>
              <a:gd name="connsiteY94" fmla="*/ 554346 h 1749657"/>
              <a:gd name="connsiteX95" fmla="*/ 234136 w 659098"/>
              <a:gd name="connsiteY95" fmla="*/ 554346 h 1749657"/>
              <a:gd name="connsiteX96" fmla="*/ 277446 w 659098"/>
              <a:gd name="connsiteY96" fmla="*/ 597656 h 1749657"/>
              <a:gd name="connsiteX97" fmla="*/ 234136 w 659098"/>
              <a:gd name="connsiteY97" fmla="*/ 640965 h 1749657"/>
              <a:gd name="connsiteX98" fmla="*/ 190826 w 659098"/>
              <a:gd name="connsiteY98" fmla="*/ 597656 h 1749657"/>
              <a:gd name="connsiteX99" fmla="*/ 234136 w 659098"/>
              <a:gd name="connsiteY99" fmla="*/ 554346 h 1749657"/>
              <a:gd name="connsiteX100" fmla="*/ 615788 w 659098"/>
              <a:gd name="connsiteY100" fmla="*/ 277173 h 1749657"/>
              <a:gd name="connsiteX101" fmla="*/ 659098 w 659098"/>
              <a:gd name="connsiteY101" fmla="*/ 320483 h 1749657"/>
              <a:gd name="connsiteX102" fmla="*/ 615788 w 659098"/>
              <a:gd name="connsiteY102" fmla="*/ 363792 h 1749657"/>
              <a:gd name="connsiteX103" fmla="*/ 572478 w 659098"/>
              <a:gd name="connsiteY103" fmla="*/ 320483 h 1749657"/>
              <a:gd name="connsiteX104" fmla="*/ 615788 w 659098"/>
              <a:gd name="connsiteY104" fmla="*/ 277173 h 1749657"/>
              <a:gd name="connsiteX105" fmla="*/ 424962 w 659098"/>
              <a:gd name="connsiteY105" fmla="*/ 277173 h 1749657"/>
              <a:gd name="connsiteX106" fmla="*/ 468272 w 659098"/>
              <a:gd name="connsiteY106" fmla="*/ 320483 h 1749657"/>
              <a:gd name="connsiteX107" fmla="*/ 424962 w 659098"/>
              <a:gd name="connsiteY107" fmla="*/ 363792 h 1749657"/>
              <a:gd name="connsiteX108" fmla="*/ 381652 w 659098"/>
              <a:gd name="connsiteY108" fmla="*/ 320483 h 1749657"/>
              <a:gd name="connsiteX109" fmla="*/ 424962 w 659098"/>
              <a:gd name="connsiteY109" fmla="*/ 277173 h 1749657"/>
              <a:gd name="connsiteX110" fmla="*/ 234136 w 659098"/>
              <a:gd name="connsiteY110" fmla="*/ 277173 h 1749657"/>
              <a:gd name="connsiteX111" fmla="*/ 277446 w 659098"/>
              <a:gd name="connsiteY111" fmla="*/ 320483 h 1749657"/>
              <a:gd name="connsiteX112" fmla="*/ 234136 w 659098"/>
              <a:gd name="connsiteY112" fmla="*/ 363792 h 1749657"/>
              <a:gd name="connsiteX113" fmla="*/ 190826 w 659098"/>
              <a:gd name="connsiteY113" fmla="*/ 320483 h 1749657"/>
              <a:gd name="connsiteX114" fmla="*/ 234136 w 659098"/>
              <a:gd name="connsiteY114" fmla="*/ 277173 h 1749657"/>
              <a:gd name="connsiteX115" fmla="*/ 43310 w 659098"/>
              <a:gd name="connsiteY115" fmla="*/ 277173 h 1749657"/>
              <a:gd name="connsiteX116" fmla="*/ 86619 w 659098"/>
              <a:gd name="connsiteY116" fmla="*/ 320483 h 1749657"/>
              <a:gd name="connsiteX117" fmla="*/ 43310 w 659098"/>
              <a:gd name="connsiteY117" fmla="*/ 363792 h 1749657"/>
              <a:gd name="connsiteX118" fmla="*/ 0 w 659098"/>
              <a:gd name="connsiteY118" fmla="*/ 320483 h 1749657"/>
              <a:gd name="connsiteX119" fmla="*/ 43310 w 659098"/>
              <a:gd name="connsiteY119" fmla="*/ 277173 h 1749657"/>
              <a:gd name="connsiteX120" fmla="*/ 615788 w 659098"/>
              <a:gd name="connsiteY120" fmla="*/ 0 h 1749657"/>
              <a:gd name="connsiteX121" fmla="*/ 659098 w 659098"/>
              <a:gd name="connsiteY121" fmla="*/ 43310 h 1749657"/>
              <a:gd name="connsiteX122" fmla="*/ 615788 w 659098"/>
              <a:gd name="connsiteY122" fmla="*/ 86619 h 1749657"/>
              <a:gd name="connsiteX123" fmla="*/ 572478 w 659098"/>
              <a:gd name="connsiteY123" fmla="*/ 43310 h 1749657"/>
              <a:gd name="connsiteX124" fmla="*/ 615788 w 659098"/>
              <a:gd name="connsiteY124" fmla="*/ 0 h 1749657"/>
              <a:gd name="connsiteX125" fmla="*/ 424962 w 659098"/>
              <a:gd name="connsiteY125" fmla="*/ 0 h 1749657"/>
              <a:gd name="connsiteX126" fmla="*/ 468272 w 659098"/>
              <a:gd name="connsiteY126" fmla="*/ 43310 h 1749657"/>
              <a:gd name="connsiteX127" fmla="*/ 424962 w 659098"/>
              <a:gd name="connsiteY127" fmla="*/ 86619 h 1749657"/>
              <a:gd name="connsiteX128" fmla="*/ 381652 w 659098"/>
              <a:gd name="connsiteY128" fmla="*/ 43310 h 1749657"/>
              <a:gd name="connsiteX129" fmla="*/ 424962 w 659098"/>
              <a:gd name="connsiteY129" fmla="*/ 0 h 1749657"/>
              <a:gd name="connsiteX130" fmla="*/ 234136 w 659098"/>
              <a:gd name="connsiteY130" fmla="*/ 0 h 1749657"/>
              <a:gd name="connsiteX131" fmla="*/ 277446 w 659098"/>
              <a:gd name="connsiteY131" fmla="*/ 43310 h 1749657"/>
              <a:gd name="connsiteX132" fmla="*/ 234136 w 659098"/>
              <a:gd name="connsiteY132" fmla="*/ 86619 h 1749657"/>
              <a:gd name="connsiteX133" fmla="*/ 190826 w 659098"/>
              <a:gd name="connsiteY133" fmla="*/ 43310 h 1749657"/>
              <a:gd name="connsiteX134" fmla="*/ 234136 w 659098"/>
              <a:gd name="connsiteY134" fmla="*/ 0 h 1749657"/>
              <a:gd name="connsiteX135" fmla="*/ 43310 w 659098"/>
              <a:gd name="connsiteY135" fmla="*/ 0 h 1749657"/>
              <a:gd name="connsiteX136" fmla="*/ 86619 w 659098"/>
              <a:gd name="connsiteY136" fmla="*/ 43310 h 1749657"/>
              <a:gd name="connsiteX137" fmla="*/ 43310 w 659098"/>
              <a:gd name="connsiteY137" fmla="*/ 86619 h 1749657"/>
              <a:gd name="connsiteX138" fmla="*/ 0 w 659098"/>
              <a:gd name="connsiteY138" fmla="*/ 43310 h 1749657"/>
              <a:gd name="connsiteX139" fmla="*/ 43310 w 659098"/>
              <a:gd name="connsiteY139" fmla="*/ 0 h 17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59098" h="1749657">
                <a:moveTo>
                  <a:pt x="615788" y="1663038"/>
                </a:moveTo>
                <a:cubicBezTo>
                  <a:pt x="639708" y="1663038"/>
                  <a:pt x="659098" y="1682427"/>
                  <a:pt x="659098" y="1706348"/>
                </a:cubicBezTo>
                <a:cubicBezTo>
                  <a:pt x="659098" y="1730268"/>
                  <a:pt x="639708" y="1749657"/>
                  <a:pt x="615788" y="1749657"/>
                </a:cubicBezTo>
                <a:cubicBezTo>
                  <a:pt x="591868" y="1749657"/>
                  <a:pt x="572478" y="1730268"/>
                  <a:pt x="572478" y="1706348"/>
                </a:cubicBezTo>
                <a:cubicBezTo>
                  <a:pt x="572478" y="1682427"/>
                  <a:pt x="591868" y="1663038"/>
                  <a:pt x="615788" y="1663038"/>
                </a:cubicBezTo>
                <a:close/>
                <a:moveTo>
                  <a:pt x="424962" y="1663038"/>
                </a:moveTo>
                <a:cubicBezTo>
                  <a:pt x="448882" y="1663038"/>
                  <a:pt x="468272" y="1682427"/>
                  <a:pt x="468272" y="1706348"/>
                </a:cubicBezTo>
                <a:cubicBezTo>
                  <a:pt x="468272" y="1730268"/>
                  <a:pt x="448882" y="1749657"/>
                  <a:pt x="424962" y="1749657"/>
                </a:cubicBezTo>
                <a:cubicBezTo>
                  <a:pt x="401042" y="1749657"/>
                  <a:pt x="381652" y="1730268"/>
                  <a:pt x="381652" y="1706348"/>
                </a:cubicBezTo>
                <a:cubicBezTo>
                  <a:pt x="381652" y="1682427"/>
                  <a:pt x="401042" y="1663038"/>
                  <a:pt x="424962" y="1663038"/>
                </a:cubicBezTo>
                <a:close/>
                <a:moveTo>
                  <a:pt x="234136" y="1663038"/>
                </a:moveTo>
                <a:cubicBezTo>
                  <a:pt x="258056" y="1663038"/>
                  <a:pt x="277446" y="1682427"/>
                  <a:pt x="277446" y="1706348"/>
                </a:cubicBezTo>
                <a:cubicBezTo>
                  <a:pt x="277446" y="1730268"/>
                  <a:pt x="258056" y="1749657"/>
                  <a:pt x="234136" y="1749657"/>
                </a:cubicBezTo>
                <a:cubicBezTo>
                  <a:pt x="210216" y="1749657"/>
                  <a:pt x="190826" y="1730268"/>
                  <a:pt x="190826" y="1706348"/>
                </a:cubicBezTo>
                <a:cubicBezTo>
                  <a:pt x="190826" y="1682427"/>
                  <a:pt x="210216" y="1663038"/>
                  <a:pt x="234136" y="1663038"/>
                </a:cubicBezTo>
                <a:close/>
                <a:moveTo>
                  <a:pt x="43310" y="1663038"/>
                </a:moveTo>
                <a:cubicBezTo>
                  <a:pt x="67230" y="1663038"/>
                  <a:pt x="86619" y="1682427"/>
                  <a:pt x="86619" y="1706348"/>
                </a:cubicBezTo>
                <a:cubicBezTo>
                  <a:pt x="86619" y="1730268"/>
                  <a:pt x="67230" y="1749657"/>
                  <a:pt x="43310" y="1749657"/>
                </a:cubicBezTo>
                <a:cubicBezTo>
                  <a:pt x="19390" y="1749657"/>
                  <a:pt x="0" y="1730268"/>
                  <a:pt x="0" y="1706348"/>
                </a:cubicBezTo>
                <a:cubicBezTo>
                  <a:pt x="0" y="1682427"/>
                  <a:pt x="19390" y="1663038"/>
                  <a:pt x="43310" y="1663038"/>
                </a:cubicBezTo>
                <a:close/>
                <a:moveTo>
                  <a:pt x="615788" y="1385865"/>
                </a:moveTo>
                <a:cubicBezTo>
                  <a:pt x="639708" y="1385865"/>
                  <a:pt x="659098" y="1405255"/>
                  <a:pt x="659098" y="1429175"/>
                </a:cubicBezTo>
                <a:cubicBezTo>
                  <a:pt x="659098" y="1453095"/>
                  <a:pt x="639708" y="1472484"/>
                  <a:pt x="615788" y="1472484"/>
                </a:cubicBezTo>
                <a:cubicBezTo>
                  <a:pt x="591868" y="1472484"/>
                  <a:pt x="572478" y="1453095"/>
                  <a:pt x="572478" y="1429175"/>
                </a:cubicBezTo>
                <a:cubicBezTo>
                  <a:pt x="572478" y="1405255"/>
                  <a:pt x="591868" y="1385865"/>
                  <a:pt x="615788" y="1385865"/>
                </a:cubicBezTo>
                <a:close/>
                <a:moveTo>
                  <a:pt x="424962" y="1385865"/>
                </a:moveTo>
                <a:cubicBezTo>
                  <a:pt x="448882" y="1385865"/>
                  <a:pt x="468272" y="1405255"/>
                  <a:pt x="468272" y="1429175"/>
                </a:cubicBezTo>
                <a:cubicBezTo>
                  <a:pt x="468272" y="1453095"/>
                  <a:pt x="448882" y="1472484"/>
                  <a:pt x="424962" y="1472484"/>
                </a:cubicBezTo>
                <a:cubicBezTo>
                  <a:pt x="401042" y="1472484"/>
                  <a:pt x="381652" y="1453095"/>
                  <a:pt x="381652" y="1429175"/>
                </a:cubicBezTo>
                <a:cubicBezTo>
                  <a:pt x="381652" y="1405255"/>
                  <a:pt x="401042" y="1385865"/>
                  <a:pt x="424962" y="1385865"/>
                </a:cubicBezTo>
                <a:close/>
                <a:moveTo>
                  <a:pt x="234136" y="1385865"/>
                </a:moveTo>
                <a:cubicBezTo>
                  <a:pt x="258056" y="1385865"/>
                  <a:pt x="277446" y="1405255"/>
                  <a:pt x="277446" y="1429175"/>
                </a:cubicBezTo>
                <a:cubicBezTo>
                  <a:pt x="277446" y="1453095"/>
                  <a:pt x="258056" y="1472484"/>
                  <a:pt x="234136" y="1472484"/>
                </a:cubicBezTo>
                <a:cubicBezTo>
                  <a:pt x="210216" y="1472484"/>
                  <a:pt x="190826" y="1453095"/>
                  <a:pt x="190826" y="1429175"/>
                </a:cubicBezTo>
                <a:cubicBezTo>
                  <a:pt x="190826" y="1405255"/>
                  <a:pt x="210216" y="1385865"/>
                  <a:pt x="234136" y="1385865"/>
                </a:cubicBezTo>
                <a:close/>
                <a:moveTo>
                  <a:pt x="43310" y="1385865"/>
                </a:moveTo>
                <a:cubicBezTo>
                  <a:pt x="67230" y="1385865"/>
                  <a:pt x="86619" y="1405255"/>
                  <a:pt x="86619" y="1429175"/>
                </a:cubicBezTo>
                <a:cubicBezTo>
                  <a:pt x="86619" y="1453095"/>
                  <a:pt x="67230" y="1472484"/>
                  <a:pt x="43310" y="1472484"/>
                </a:cubicBezTo>
                <a:cubicBezTo>
                  <a:pt x="19390" y="1472484"/>
                  <a:pt x="0" y="1453095"/>
                  <a:pt x="0" y="1429175"/>
                </a:cubicBezTo>
                <a:cubicBezTo>
                  <a:pt x="0" y="1405255"/>
                  <a:pt x="19390" y="1385865"/>
                  <a:pt x="43310" y="1385865"/>
                </a:cubicBezTo>
                <a:close/>
                <a:moveTo>
                  <a:pt x="615788" y="1108692"/>
                </a:moveTo>
                <a:cubicBezTo>
                  <a:pt x="639708" y="1108692"/>
                  <a:pt x="659098" y="1128082"/>
                  <a:pt x="659098" y="1152002"/>
                </a:cubicBezTo>
                <a:cubicBezTo>
                  <a:pt x="659098" y="1175922"/>
                  <a:pt x="639708" y="1195311"/>
                  <a:pt x="615788" y="1195311"/>
                </a:cubicBezTo>
                <a:cubicBezTo>
                  <a:pt x="591868" y="1195311"/>
                  <a:pt x="572478" y="1175922"/>
                  <a:pt x="572478" y="1152002"/>
                </a:cubicBezTo>
                <a:cubicBezTo>
                  <a:pt x="572478" y="1128082"/>
                  <a:pt x="591868" y="1108692"/>
                  <a:pt x="615788" y="1108692"/>
                </a:cubicBezTo>
                <a:close/>
                <a:moveTo>
                  <a:pt x="424962" y="1108692"/>
                </a:moveTo>
                <a:cubicBezTo>
                  <a:pt x="448882" y="1108692"/>
                  <a:pt x="468272" y="1128082"/>
                  <a:pt x="468272" y="1152002"/>
                </a:cubicBezTo>
                <a:cubicBezTo>
                  <a:pt x="468272" y="1175922"/>
                  <a:pt x="448882" y="1195311"/>
                  <a:pt x="424962" y="1195311"/>
                </a:cubicBezTo>
                <a:cubicBezTo>
                  <a:pt x="401042" y="1195311"/>
                  <a:pt x="381652" y="1175922"/>
                  <a:pt x="381652" y="1152002"/>
                </a:cubicBezTo>
                <a:cubicBezTo>
                  <a:pt x="381652" y="1128082"/>
                  <a:pt x="401042" y="1108692"/>
                  <a:pt x="424962" y="1108692"/>
                </a:cubicBezTo>
                <a:close/>
                <a:moveTo>
                  <a:pt x="234136" y="1108692"/>
                </a:moveTo>
                <a:cubicBezTo>
                  <a:pt x="258056" y="1108692"/>
                  <a:pt x="277446" y="1128082"/>
                  <a:pt x="277446" y="1152002"/>
                </a:cubicBezTo>
                <a:cubicBezTo>
                  <a:pt x="277446" y="1175922"/>
                  <a:pt x="258056" y="1195311"/>
                  <a:pt x="234136" y="1195311"/>
                </a:cubicBezTo>
                <a:cubicBezTo>
                  <a:pt x="210216" y="1195311"/>
                  <a:pt x="190826" y="1175922"/>
                  <a:pt x="190826" y="1152002"/>
                </a:cubicBezTo>
                <a:cubicBezTo>
                  <a:pt x="190826" y="1128082"/>
                  <a:pt x="210216" y="1108692"/>
                  <a:pt x="234136" y="1108692"/>
                </a:cubicBezTo>
                <a:close/>
                <a:moveTo>
                  <a:pt x="43310" y="1108692"/>
                </a:moveTo>
                <a:cubicBezTo>
                  <a:pt x="67230" y="1108692"/>
                  <a:pt x="86619" y="1128082"/>
                  <a:pt x="86619" y="1152002"/>
                </a:cubicBezTo>
                <a:cubicBezTo>
                  <a:pt x="86619" y="1175922"/>
                  <a:pt x="67230" y="1195311"/>
                  <a:pt x="43310" y="1195311"/>
                </a:cubicBezTo>
                <a:cubicBezTo>
                  <a:pt x="19390" y="1195311"/>
                  <a:pt x="0" y="1175922"/>
                  <a:pt x="0" y="1152002"/>
                </a:cubicBezTo>
                <a:cubicBezTo>
                  <a:pt x="0" y="1128082"/>
                  <a:pt x="19390" y="1108692"/>
                  <a:pt x="43310" y="1108692"/>
                </a:cubicBezTo>
                <a:close/>
                <a:moveTo>
                  <a:pt x="615788" y="831519"/>
                </a:moveTo>
                <a:cubicBezTo>
                  <a:pt x="639708" y="831519"/>
                  <a:pt x="659098" y="850909"/>
                  <a:pt x="659098" y="874829"/>
                </a:cubicBezTo>
                <a:cubicBezTo>
                  <a:pt x="659098" y="898749"/>
                  <a:pt x="639708" y="918138"/>
                  <a:pt x="615788" y="918138"/>
                </a:cubicBezTo>
                <a:cubicBezTo>
                  <a:pt x="591868" y="918138"/>
                  <a:pt x="572478" y="898749"/>
                  <a:pt x="572478" y="874829"/>
                </a:cubicBezTo>
                <a:cubicBezTo>
                  <a:pt x="572478" y="850909"/>
                  <a:pt x="591868" y="831519"/>
                  <a:pt x="615788" y="831519"/>
                </a:cubicBezTo>
                <a:close/>
                <a:moveTo>
                  <a:pt x="424962" y="831519"/>
                </a:moveTo>
                <a:cubicBezTo>
                  <a:pt x="448882" y="831519"/>
                  <a:pt x="468272" y="850909"/>
                  <a:pt x="468272" y="874829"/>
                </a:cubicBezTo>
                <a:cubicBezTo>
                  <a:pt x="468272" y="898749"/>
                  <a:pt x="448882" y="918138"/>
                  <a:pt x="424962" y="918138"/>
                </a:cubicBezTo>
                <a:cubicBezTo>
                  <a:pt x="401042" y="918138"/>
                  <a:pt x="381652" y="898749"/>
                  <a:pt x="381652" y="874829"/>
                </a:cubicBezTo>
                <a:cubicBezTo>
                  <a:pt x="381652" y="850909"/>
                  <a:pt x="401042" y="831519"/>
                  <a:pt x="424962" y="831519"/>
                </a:cubicBezTo>
                <a:close/>
                <a:moveTo>
                  <a:pt x="234136" y="831519"/>
                </a:moveTo>
                <a:cubicBezTo>
                  <a:pt x="258056" y="831519"/>
                  <a:pt x="277446" y="850909"/>
                  <a:pt x="277446" y="874829"/>
                </a:cubicBezTo>
                <a:cubicBezTo>
                  <a:pt x="277446" y="898749"/>
                  <a:pt x="258056" y="918138"/>
                  <a:pt x="234136" y="918138"/>
                </a:cubicBezTo>
                <a:cubicBezTo>
                  <a:pt x="210216" y="918138"/>
                  <a:pt x="190826" y="898749"/>
                  <a:pt x="190826" y="874829"/>
                </a:cubicBezTo>
                <a:cubicBezTo>
                  <a:pt x="190826" y="850909"/>
                  <a:pt x="210216" y="831519"/>
                  <a:pt x="234136" y="831519"/>
                </a:cubicBezTo>
                <a:close/>
                <a:moveTo>
                  <a:pt x="43310" y="831519"/>
                </a:moveTo>
                <a:cubicBezTo>
                  <a:pt x="67230" y="831519"/>
                  <a:pt x="86619" y="850909"/>
                  <a:pt x="86619" y="874829"/>
                </a:cubicBezTo>
                <a:cubicBezTo>
                  <a:pt x="86619" y="898749"/>
                  <a:pt x="67230" y="918138"/>
                  <a:pt x="43310" y="918138"/>
                </a:cubicBezTo>
                <a:cubicBezTo>
                  <a:pt x="19390" y="918138"/>
                  <a:pt x="0" y="898749"/>
                  <a:pt x="0" y="874829"/>
                </a:cubicBezTo>
                <a:cubicBezTo>
                  <a:pt x="0" y="850909"/>
                  <a:pt x="19390" y="831519"/>
                  <a:pt x="43310" y="831519"/>
                </a:cubicBezTo>
                <a:close/>
                <a:moveTo>
                  <a:pt x="43310" y="554348"/>
                </a:moveTo>
                <a:cubicBezTo>
                  <a:pt x="67230" y="554348"/>
                  <a:pt x="86619" y="573738"/>
                  <a:pt x="86619" y="597658"/>
                </a:cubicBezTo>
                <a:cubicBezTo>
                  <a:pt x="86619" y="621576"/>
                  <a:pt x="67230" y="640965"/>
                  <a:pt x="43310" y="640965"/>
                </a:cubicBezTo>
                <a:cubicBezTo>
                  <a:pt x="19390" y="640965"/>
                  <a:pt x="0" y="621576"/>
                  <a:pt x="0" y="597658"/>
                </a:cubicBezTo>
                <a:cubicBezTo>
                  <a:pt x="0" y="573738"/>
                  <a:pt x="19390" y="554348"/>
                  <a:pt x="43310" y="554348"/>
                </a:cubicBezTo>
                <a:close/>
                <a:moveTo>
                  <a:pt x="615788" y="554346"/>
                </a:moveTo>
                <a:cubicBezTo>
                  <a:pt x="639708" y="554346"/>
                  <a:pt x="659098" y="573736"/>
                  <a:pt x="659098" y="597656"/>
                </a:cubicBezTo>
                <a:cubicBezTo>
                  <a:pt x="659098" y="621576"/>
                  <a:pt x="639708" y="640965"/>
                  <a:pt x="615788" y="640965"/>
                </a:cubicBezTo>
                <a:cubicBezTo>
                  <a:pt x="591868" y="640965"/>
                  <a:pt x="572478" y="621576"/>
                  <a:pt x="572478" y="597656"/>
                </a:cubicBezTo>
                <a:cubicBezTo>
                  <a:pt x="572478" y="573736"/>
                  <a:pt x="591868" y="554346"/>
                  <a:pt x="615788" y="554346"/>
                </a:cubicBezTo>
                <a:close/>
                <a:moveTo>
                  <a:pt x="424962" y="554346"/>
                </a:moveTo>
                <a:cubicBezTo>
                  <a:pt x="448882" y="554346"/>
                  <a:pt x="468272" y="573736"/>
                  <a:pt x="468272" y="597656"/>
                </a:cubicBezTo>
                <a:cubicBezTo>
                  <a:pt x="468272" y="621576"/>
                  <a:pt x="448882" y="640965"/>
                  <a:pt x="424962" y="640965"/>
                </a:cubicBezTo>
                <a:cubicBezTo>
                  <a:pt x="401042" y="640965"/>
                  <a:pt x="381652" y="621576"/>
                  <a:pt x="381652" y="597656"/>
                </a:cubicBezTo>
                <a:cubicBezTo>
                  <a:pt x="381652" y="573736"/>
                  <a:pt x="401042" y="554346"/>
                  <a:pt x="424962" y="554346"/>
                </a:cubicBezTo>
                <a:close/>
                <a:moveTo>
                  <a:pt x="234136" y="554346"/>
                </a:moveTo>
                <a:cubicBezTo>
                  <a:pt x="258056" y="554346"/>
                  <a:pt x="277446" y="573736"/>
                  <a:pt x="277446" y="597656"/>
                </a:cubicBezTo>
                <a:cubicBezTo>
                  <a:pt x="277446" y="621576"/>
                  <a:pt x="258056" y="640965"/>
                  <a:pt x="234136" y="640965"/>
                </a:cubicBezTo>
                <a:cubicBezTo>
                  <a:pt x="210216" y="640965"/>
                  <a:pt x="190826" y="621576"/>
                  <a:pt x="190826" y="597656"/>
                </a:cubicBezTo>
                <a:cubicBezTo>
                  <a:pt x="190826" y="573736"/>
                  <a:pt x="210216" y="554346"/>
                  <a:pt x="234136" y="554346"/>
                </a:cubicBezTo>
                <a:close/>
                <a:moveTo>
                  <a:pt x="615788" y="277173"/>
                </a:moveTo>
                <a:cubicBezTo>
                  <a:pt x="639708" y="277173"/>
                  <a:pt x="659098" y="296563"/>
                  <a:pt x="659098" y="320483"/>
                </a:cubicBezTo>
                <a:cubicBezTo>
                  <a:pt x="659098" y="344403"/>
                  <a:pt x="639708" y="363792"/>
                  <a:pt x="615788" y="363792"/>
                </a:cubicBezTo>
                <a:cubicBezTo>
                  <a:pt x="591868" y="363792"/>
                  <a:pt x="572478" y="344403"/>
                  <a:pt x="572478" y="320483"/>
                </a:cubicBezTo>
                <a:cubicBezTo>
                  <a:pt x="572478" y="296563"/>
                  <a:pt x="591868" y="277173"/>
                  <a:pt x="615788" y="277173"/>
                </a:cubicBezTo>
                <a:close/>
                <a:moveTo>
                  <a:pt x="424962" y="277173"/>
                </a:moveTo>
                <a:cubicBezTo>
                  <a:pt x="448882" y="277173"/>
                  <a:pt x="468272" y="296563"/>
                  <a:pt x="468272" y="320483"/>
                </a:cubicBezTo>
                <a:cubicBezTo>
                  <a:pt x="468272" y="344403"/>
                  <a:pt x="448882" y="363792"/>
                  <a:pt x="424962" y="363792"/>
                </a:cubicBezTo>
                <a:cubicBezTo>
                  <a:pt x="401042" y="363792"/>
                  <a:pt x="381652" y="344403"/>
                  <a:pt x="381652" y="320483"/>
                </a:cubicBezTo>
                <a:cubicBezTo>
                  <a:pt x="381652" y="296563"/>
                  <a:pt x="401042" y="277173"/>
                  <a:pt x="424962" y="277173"/>
                </a:cubicBezTo>
                <a:close/>
                <a:moveTo>
                  <a:pt x="234136" y="277173"/>
                </a:moveTo>
                <a:cubicBezTo>
                  <a:pt x="258056" y="277173"/>
                  <a:pt x="277446" y="296563"/>
                  <a:pt x="277446" y="320483"/>
                </a:cubicBezTo>
                <a:cubicBezTo>
                  <a:pt x="277446" y="344403"/>
                  <a:pt x="258056" y="363792"/>
                  <a:pt x="234136" y="363792"/>
                </a:cubicBezTo>
                <a:cubicBezTo>
                  <a:pt x="210216" y="363792"/>
                  <a:pt x="190826" y="344403"/>
                  <a:pt x="190826" y="320483"/>
                </a:cubicBezTo>
                <a:cubicBezTo>
                  <a:pt x="190826" y="296563"/>
                  <a:pt x="210216" y="277173"/>
                  <a:pt x="234136" y="277173"/>
                </a:cubicBezTo>
                <a:close/>
                <a:moveTo>
                  <a:pt x="43310" y="277173"/>
                </a:moveTo>
                <a:cubicBezTo>
                  <a:pt x="67230" y="277173"/>
                  <a:pt x="86619" y="296563"/>
                  <a:pt x="86619" y="320483"/>
                </a:cubicBezTo>
                <a:cubicBezTo>
                  <a:pt x="86619" y="344403"/>
                  <a:pt x="67230" y="363792"/>
                  <a:pt x="43310" y="363792"/>
                </a:cubicBezTo>
                <a:cubicBezTo>
                  <a:pt x="19390" y="363792"/>
                  <a:pt x="0" y="344403"/>
                  <a:pt x="0" y="320483"/>
                </a:cubicBezTo>
                <a:cubicBezTo>
                  <a:pt x="0" y="296563"/>
                  <a:pt x="19390" y="277173"/>
                  <a:pt x="43310" y="277173"/>
                </a:cubicBezTo>
                <a:close/>
                <a:moveTo>
                  <a:pt x="615788" y="0"/>
                </a:moveTo>
                <a:cubicBezTo>
                  <a:pt x="639708" y="0"/>
                  <a:pt x="659098" y="19390"/>
                  <a:pt x="659098" y="43310"/>
                </a:cubicBezTo>
                <a:cubicBezTo>
                  <a:pt x="659098" y="67230"/>
                  <a:pt x="639708" y="86619"/>
                  <a:pt x="615788" y="86619"/>
                </a:cubicBezTo>
                <a:cubicBezTo>
                  <a:pt x="591868" y="86619"/>
                  <a:pt x="572478" y="67230"/>
                  <a:pt x="572478" y="43310"/>
                </a:cubicBezTo>
                <a:cubicBezTo>
                  <a:pt x="572478" y="19390"/>
                  <a:pt x="591868" y="0"/>
                  <a:pt x="615788" y="0"/>
                </a:cubicBezTo>
                <a:close/>
                <a:moveTo>
                  <a:pt x="424962" y="0"/>
                </a:moveTo>
                <a:cubicBezTo>
                  <a:pt x="448882" y="0"/>
                  <a:pt x="468272" y="19390"/>
                  <a:pt x="468272" y="43310"/>
                </a:cubicBezTo>
                <a:cubicBezTo>
                  <a:pt x="468272" y="67230"/>
                  <a:pt x="448882" y="86619"/>
                  <a:pt x="424962" y="86619"/>
                </a:cubicBezTo>
                <a:cubicBezTo>
                  <a:pt x="401042" y="86619"/>
                  <a:pt x="381652" y="67230"/>
                  <a:pt x="381652" y="43310"/>
                </a:cubicBezTo>
                <a:cubicBezTo>
                  <a:pt x="381652" y="19390"/>
                  <a:pt x="401042" y="0"/>
                  <a:pt x="424962" y="0"/>
                </a:cubicBezTo>
                <a:close/>
                <a:moveTo>
                  <a:pt x="234136" y="0"/>
                </a:moveTo>
                <a:cubicBezTo>
                  <a:pt x="258056" y="0"/>
                  <a:pt x="277446" y="19390"/>
                  <a:pt x="277446" y="43310"/>
                </a:cubicBezTo>
                <a:cubicBezTo>
                  <a:pt x="277446" y="67230"/>
                  <a:pt x="258056" y="86619"/>
                  <a:pt x="234136" y="86619"/>
                </a:cubicBezTo>
                <a:cubicBezTo>
                  <a:pt x="210216" y="86619"/>
                  <a:pt x="190826" y="67230"/>
                  <a:pt x="190826" y="43310"/>
                </a:cubicBezTo>
                <a:cubicBezTo>
                  <a:pt x="190826" y="19390"/>
                  <a:pt x="210216" y="0"/>
                  <a:pt x="234136" y="0"/>
                </a:cubicBezTo>
                <a:close/>
                <a:moveTo>
                  <a:pt x="43310" y="0"/>
                </a:moveTo>
                <a:cubicBezTo>
                  <a:pt x="67230" y="0"/>
                  <a:pt x="86619" y="19390"/>
                  <a:pt x="86619" y="43310"/>
                </a:cubicBezTo>
                <a:cubicBezTo>
                  <a:pt x="86619" y="67230"/>
                  <a:pt x="67230" y="86619"/>
                  <a:pt x="43310" y="86619"/>
                </a:cubicBezTo>
                <a:cubicBezTo>
                  <a:pt x="19390" y="86619"/>
                  <a:pt x="0" y="67230"/>
                  <a:pt x="0" y="43310"/>
                </a:cubicBezTo>
                <a:cubicBezTo>
                  <a:pt x="0" y="19390"/>
                  <a:pt x="19390" y="0"/>
                  <a:pt x="43310" y="0"/>
                </a:cubicBezTo>
                <a:close/>
              </a:path>
            </a:pathLst>
          </a:custGeom>
          <a:gradFill flip="none" rotWithShape="1">
            <a:gsLst>
              <a:gs pos="0">
                <a:srgbClr val="567FCA"/>
              </a:gs>
              <a:gs pos="100000">
                <a:srgbClr val="567FCA">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sp>
        <p:nvSpPr>
          <p:cNvPr id="20" name="任意多边形: 形状 19"/>
          <p:cNvSpPr/>
          <p:nvPr/>
        </p:nvSpPr>
        <p:spPr>
          <a:xfrm rot="5400000" flipV="1">
            <a:off x="5297602" y="1112814"/>
            <a:ext cx="355828" cy="944588"/>
          </a:xfrm>
          <a:custGeom>
            <a:avLst/>
            <a:gdLst>
              <a:gd name="connsiteX0" fmla="*/ 615788 w 659098"/>
              <a:gd name="connsiteY0" fmla="*/ 1663038 h 1749657"/>
              <a:gd name="connsiteX1" fmla="*/ 659098 w 659098"/>
              <a:gd name="connsiteY1" fmla="*/ 1706348 h 1749657"/>
              <a:gd name="connsiteX2" fmla="*/ 615788 w 659098"/>
              <a:gd name="connsiteY2" fmla="*/ 1749657 h 1749657"/>
              <a:gd name="connsiteX3" fmla="*/ 572478 w 659098"/>
              <a:gd name="connsiteY3" fmla="*/ 1706348 h 1749657"/>
              <a:gd name="connsiteX4" fmla="*/ 615788 w 659098"/>
              <a:gd name="connsiteY4" fmla="*/ 1663038 h 1749657"/>
              <a:gd name="connsiteX5" fmla="*/ 424962 w 659098"/>
              <a:gd name="connsiteY5" fmla="*/ 1663038 h 1749657"/>
              <a:gd name="connsiteX6" fmla="*/ 468272 w 659098"/>
              <a:gd name="connsiteY6" fmla="*/ 1706348 h 1749657"/>
              <a:gd name="connsiteX7" fmla="*/ 424962 w 659098"/>
              <a:gd name="connsiteY7" fmla="*/ 1749657 h 1749657"/>
              <a:gd name="connsiteX8" fmla="*/ 381652 w 659098"/>
              <a:gd name="connsiteY8" fmla="*/ 1706348 h 1749657"/>
              <a:gd name="connsiteX9" fmla="*/ 424962 w 659098"/>
              <a:gd name="connsiteY9" fmla="*/ 1663038 h 1749657"/>
              <a:gd name="connsiteX10" fmla="*/ 234136 w 659098"/>
              <a:gd name="connsiteY10" fmla="*/ 1663038 h 1749657"/>
              <a:gd name="connsiteX11" fmla="*/ 277446 w 659098"/>
              <a:gd name="connsiteY11" fmla="*/ 1706348 h 1749657"/>
              <a:gd name="connsiteX12" fmla="*/ 234136 w 659098"/>
              <a:gd name="connsiteY12" fmla="*/ 1749657 h 1749657"/>
              <a:gd name="connsiteX13" fmla="*/ 190826 w 659098"/>
              <a:gd name="connsiteY13" fmla="*/ 1706348 h 1749657"/>
              <a:gd name="connsiteX14" fmla="*/ 234136 w 659098"/>
              <a:gd name="connsiteY14" fmla="*/ 1663038 h 1749657"/>
              <a:gd name="connsiteX15" fmla="*/ 43310 w 659098"/>
              <a:gd name="connsiteY15" fmla="*/ 1663038 h 1749657"/>
              <a:gd name="connsiteX16" fmla="*/ 86619 w 659098"/>
              <a:gd name="connsiteY16" fmla="*/ 1706348 h 1749657"/>
              <a:gd name="connsiteX17" fmla="*/ 43310 w 659098"/>
              <a:gd name="connsiteY17" fmla="*/ 1749657 h 1749657"/>
              <a:gd name="connsiteX18" fmla="*/ 0 w 659098"/>
              <a:gd name="connsiteY18" fmla="*/ 1706348 h 1749657"/>
              <a:gd name="connsiteX19" fmla="*/ 43310 w 659098"/>
              <a:gd name="connsiteY19" fmla="*/ 1663038 h 1749657"/>
              <a:gd name="connsiteX20" fmla="*/ 615788 w 659098"/>
              <a:gd name="connsiteY20" fmla="*/ 1385865 h 1749657"/>
              <a:gd name="connsiteX21" fmla="*/ 659098 w 659098"/>
              <a:gd name="connsiteY21" fmla="*/ 1429175 h 1749657"/>
              <a:gd name="connsiteX22" fmla="*/ 615788 w 659098"/>
              <a:gd name="connsiteY22" fmla="*/ 1472484 h 1749657"/>
              <a:gd name="connsiteX23" fmla="*/ 572478 w 659098"/>
              <a:gd name="connsiteY23" fmla="*/ 1429175 h 1749657"/>
              <a:gd name="connsiteX24" fmla="*/ 615788 w 659098"/>
              <a:gd name="connsiteY24" fmla="*/ 1385865 h 1749657"/>
              <a:gd name="connsiteX25" fmla="*/ 424962 w 659098"/>
              <a:gd name="connsiteY25" fmla="*/ 1385865 h 1749657"/>
              <a:gd name="connsiteX26" fmla="*/ 468272 w 659098"/>
              <a:gd name="connsiteY26" fmla="*/ 1429175 h 1749657"/>
              <a:gd name="connsiteX27" fmla="*/ 424962 w 659098"/>
              <a:gd name="connsiteY27" fmla="*/ 1472484 h 1749657"/>
              <a:gd name="connsiteX28" fmla="*/ 381652 w 659098"/>
              <a:gd name="connsiteY28" fmla="*/ 1429175 h 1749657"/>
              <a:gd name="connsiteX29" fmla="*/ 424962 w 659098"/>
              <a:gd name="connsiteY29" fmla="*/ 1385865 h 1749657"/>
              <a:gd name="connsiteX30" fmla="*/ 234136 w 659098"/>
              <a:gd name="connsiteY30" fmla="*/ 1385865 h 1749657"/>
              <a:gd name="connsiteX31" fmla="*/ 277446 w 659098"/>
              <a:gd name="connsiteY31" fmla="*/ 1429175 h 1749657"/>
              <a:gd name="connsiteX32" fmla="*/ 234136 w 659098"/>
              <a:gd name="connsiteY32" fmla="*/ 1472484 h 1749657"/>
              <a:gd name="connsiteX33" fmla="*/ 190826 w 659098"/>
              <a:gd name="connsiteY33" fmla="*/ 1429175 h 1749657"/>
              <a:gd name="connsiteX34" fmla="*/ 234136 w 659098"/>
              <a:gd name="connsiteY34" fmla="*/ 1385865 h 1749657"/>
              <a:gd name="connsiteX35" fmla="*/ 43310 w 659098"/>
              <a:gd name="connsiteY35" fmla="*/ 1385865 h 1749657"/>
              <a:gd name="connsiteX36" fmla="*/ 86619 w 659098"/>
              <a:gd name="connsiteY36" fmla="*/ 1429175 h 1749657"/>
              <a:gd name="connsiteX37" fmla="*/ 43310 w 659098"/>
              <a:gd name="connsiteY37" fmla="*/ 1472484 h 1749657"/>
              <a:gd name="connsiteX38" fmla="*/ 0 w 659098"/>
              <a:gd name="connsiteY38" fmla="*/ 1429175 h 1749657"/>
              <a:gd name="connsiteX39" fmla="*/ 43310 w 659098"/>
              <a:gd name="connsiteY39" fmla="*/ 1385865 h 1749657"/>
              <a:gd name="connsiteX40" fmla="*/ 615788 w 659098"/>
              <a:gd name="connsiteY40" fmla="*/ 1108692 h 1749657"/>
              <a:gd name="connsiteX41" fmla="*/ 659098 w 659098"/>
              <a:gd name="connsiteY41" fmla="*/ 1152002 h 1749657"/>
              <a:gd name="connsiteX42" fmla="*/ 615788 w 659098"/>
              <a:gd name="connsiteY42" fmla="*/ 1195311 h 1749657"/>
              <a:gd name="connsiteX43" fmla="*/ 572478 w 659098"/>
              <a:gd name="connsiteY43" fmla="*/ 1152002 h 1749657"/>
              <a:gd name="connsiteX44" fmla="*/ 615788 w 659098"/>
              <a:gd name="connsiteY44" fmla="*/ 1108692 h 1749657"/>
              <a:gd name="connsiteX45" fmla="*/ 424962 w 659098"/>
              <a:gd name="connsiteY45" fmla="*/ 1108692 h 1749657"/>
              <a:gd name="connsiteX46" fmla="*/ 468272 w 659098"/>
              <a:gd name="connsiteY46" fmla="*/ 1152002 h 1749657"/>
              <a:gd name="connsiteX47" fmla="*/ 424962 w 659098"/>
              <a:gd name="connsiteY47" fmla="*/ 1195311 h 1749657"/>
              <a:gd name="connsiteX48" fmla="*/ 381652 w 659098"/>
              <a:gd name="connsiteY48" fmla="*/ 1152002 h 1749657"/>
              <a:gd name="connsiteX49" fmla="*/ 424962 w 659098"/>
              <a:gd name="connsiteY49" fmla="*/ 1108692 h 1749657"/>
              <a:gd name="connsiteX50" fmla="*/ 234136 w 659098"/>
              <a:gd name="connsiteY50" fmla="*/ 1108692 h 1749657"/>
              <a:gd name="connsiteX51" fmla="*/ 277446 w 659098"/>
              <a:gd name="connsiteY51" fmla="*/ 1152002 h 1749657"/>
              <a:gd name="connsiteX52" fmla="*/ 234136 w 659098"/>
              <a:gd name="connsiteY52" fmla="*/ 1195311 h 1749657"/>
              <a:gd name="connsiteX53" fmla="*/ 190826 w 659098"/>
              <a:gd name="connsiteY53" fmla="*/ 1152002 h 1749657"/>
              <a:gd name="connsiteX54" fmla="*/ 234136 w 659098"/>
              <a:gd name="connsiteY54" fmla="*/ 1108692 h 1749657"/>
              <a:gd name="connsiteX55" fmla="*/ 43310 w 659098"/>
              <a:gd name="connsiteY55" fmla="*/ 1108692 h 1749657"/>
              <a:gd name="connsiteX56" fmla="*/ 86619 w 659098"/>
              <a:gd name="connsiteY56" fmla="*/ 1152002 h 1749657"/>
              <a:gd name="connsiteX57" fmla="*/ 43310 w 659098"/>
              <a:gd name="connsiteY57" fmla="*/ 1195311 h 1749657"/>
              <a:gd name="connsiteX58" fmla="*/ 0 w 659098"/>
              <a:gd name="connsiteY58" fmla="*/ 1152002 h 1749657"/>
              <a:gd name="connsiteX59" fmla="*/ 43310 w 659098"/>
              <a:gd name="connsiteY59" fmla="*/ 1108692 h 1749657"/>
              <a:gd name="connsiteX60" fmla="*/ 615788 w 659098"/>
              <a:gd name="connsiteY60" fmla="*/ 831519 h 1749657"/>
              <a:gd name="connsiteX61" fmla="*/ 659098 w 659098"/>
              <a:gd name="connsiteY61" fmla="*/ 874829 h 1749657"/>
              <a:gd name="connsiteX62" fmla="*/ 615788 w 659098"/>
              <a:gd name="connsiteY62" fmla="*/ 918138 h 1749657"/>
              <a:gd name="connsiteX63" fmla="*/ 572478 w 659098"/>
              <a:gd name="connsiteY63" fmla="*/ 874829 h 1749657"/>
              <a:gd name="connsiteX64" fmla="*/ 615788 w 659098"/>
              <a:gd name="connsiteY64" fmla="*/ 831519 h 1749657"/>
              <a:gd name="connsiteX65" fmla="*/ 424962 w 659098"/>
              <a:gd name="connsiteY65" fmla="*/ 831519 h 1749657"/>
              <a:gd name="connsiteX66" fmla="*/ 468272 w 659098"/>
              <a:gd name="connsiteY66" fmla="*/ 874829 h 1749657"/>
              <a:gd name="connsiteX67" fmla="*/ 424962 w 659098"/>
              <a:gd name="connsiteY67" fmla="*/ 918138 h 1749657"/>
              <a:gd name="connsiteX68" fmla="*/ 381652 w 659098"/>
              <a:gd name="connsiteY68" fmla="*/ 874829 h 1749657"/>
              <a:gd name="connsiteX69" fmla="*/ 424962 w 659098"/>
              <a:gd name="connsiteY69" fmla="*/ 831519 h 1749657"/>
              <a:gd name="connsiteX70" fmla="*/ 234136 w 659098"/>
              <a:gd name="connsiteY70" fmla="*/ 831519 h 1749657"/>
              <a:gd name="connsiteX71" fmla="*/ 277446 w 659098"/>
              <a:gd name="connsiteY71" fmla="*/ 874829 h 1749657"/>
              <a:gd name="connsiteX72" fmla="*/ 234136 w 659098"/>
              <a:gd name="connsiteY72" fmla="*/ 918138 h 1749657"/>
              <a:gd name="connsiteX73" fmla="*/ 190826 w 659098"/>
              <a:gd name="connsiteY73" fmla="*/ 874829 h 1749657"/>
              <a:gd name="connsiteX74" fmla="*/ 234136 w 659098"/>
              <a:gd name="connsiteY74" fmla="*/ 831519 h 1749657"/>
              <a:gd name="connsiteX75" fmla="*/ 43310 w 659098"/>
              <a:gd name="connsiteY75" fmla="*/ 831519 h 1749657"/>
              <a:gd name="connsiteX76" fmla="*/ 86619 w 659098"/>
              <a:gd name="connsiteY76" fmla="*/ 874829 h 1749657"/>
              <a:gd name="connsiteX77" fmla="*/ 43310 w 659098"/>
              <a:gd name="connsiteY77" fmla="*/ 918138 h 1749657"/>
              <a:gd name="connsiteX78" fmla="*/ 0 w 659098"/>
              <a:gd name="connsiteY78" fmla="*/ 874829 h 1749657"/>
              <a:gd name="connsiteX79" fmla="*/ 43310 w 659098"/>
              <a:gd name="connsiteY79" fmla="*/ 831519 h 1749657"/>
              <a:gd name="connsiteX80" fmla="*/ 43310 w 659098"/>
              <a:gd name="connsiteY80" fmla="*/ 554348 h 1749657"/>
              <a:gd name="connsiteX81" fmla="*/ 86619 w 659098"/>
              <a:gd name="connsiteY81" fmla="*/ 597658 h 1749657"/>
              <a:gd name="connsiteX82" fmla="*/ 43310 w 659098"/>
              <a:gd name="connsiteY82" fmla="*/ 640965 h 1749657"/>
              <a:gd name="connsiteX83" fmla="*/ 0 w 659098"/>
              <a:gd name="connsiteY83" fmla="*/ 597658 h 1749657"/>
              <a:gd name="connsiteX84" fmla="*/ 43310 w 659098"/>
              <a:gd name="connsiteY84" fmla="*/ 554348 h 1749657"/>
              <a:gd name="connsiteX85" fmla="*/ 615788 w 659098"/>
              <a:gd name="connsiteY85" fmla="*/ 554346 h 1749657"/>
              <a:gd name="connsiteX86" fmla="*/ 659098 w 659098"/>
              <a:gd name="connsiteY86" fmla="*/ 597656 h 1749657"/>
              <a:gd name="connsiteX87" fmla="*/ 615788 w 659098"/>
              <a:gd name="connsiteY87" fmla="*/ 640965 h 1749657"/>
              <a:gd name="connsiteX88" fmla="*/ 572478 w 659098"/>
              <a:gd name="connsiteY88" fmla="*/ 597656 h 1749657"/>
              <a:gd name="connsiteX89" fmla="*/ 615788 w 659098"/>
              <a:gd name="connsiteY89" fmla="*/ 554346 h 1749657"/>
              <a:gd name="connsiteX90" fmla="*/ 424962 w 659098"/>
              <a:gd name="connsiteY90" fmla="*/ 554346 h 1749657"/>
              <a:gd name="connsiteX91" fmla="*/ 468272 w 659098"/>
              <a:gd name="connsiteY91" fmla="*/ 597656 h 1749657"/>
              <a:gd name="connsiteX92" fmla="*/ 424962 w 659098"/>
              <a:gd name="connsiteY92" fmla="*/ 640965 h 1749657"/>
              <a:gd name="connsiteX93" fmla="*/ 381652 w 659098"/>
              <a:gd name="connsiteY93" fmla="*/ 597656 h 1749657"/>
              <a:gd name="connsiteX94" fmla="*/ 424962 w 659098"/>
              <a:gd name="connsiteY94" fmla="*/ 554346 h 1749657"/>
              <a:gd name="connsiteX95" fmla="*/ 234136 w 659098"/>
              <a:gd name="connsiteY95" fmla="*/ 554346 h 1749657"/>
              <a:gd name="connsiteX96" fmla="*/ 277446 w 659098"/>
              <a:gd name="connsiteY96" fmla="*/ 597656 h 1749657"/>
              <a:gd name="connsiteX97" fmla="*/ 234136 w 659098"/>
              <a:gd name="connsiteY97" fmla="*/ 640965 h 1749657"/>
              <a:gd name="connsiteX98" fmla="*/ 190826 w 659098"/>
              <a:gd name="connsiteY98" fmla="*/ 597656 h 1749657"/>
              <a:gd name="connsiteX99" fmla="*/ 234136 w 659098"/>
              <a:gd name="connsiteY99" fmla="*/ 554346 h 1749657"/>
              <a:gd name="connsiteX100" fmla="*/ 615788 w 659098"/>
              <a:gd name="connsiteY100" fmla="*/ 277173 h 1749657"/>
              <a:gd name="connsiteX101" fmla="*/ 659098 w 659098"/>
              <a:gd name="connsiteY101" fmla="*/ 320483 h 1749657"/>
              <a:gd name="connsiteX102" fmla="*/ 615788 w 659098"/>
              <a:gd name="connsiteY102" fmla="*/ 363792 h 1749657"/>
              <a:gd name="connsiteX103" fmla="*/ 572478 w 659098"/>
              <a:gd name="connsiteY103" fmla="*/ 320483 h 1749657"/>
              <a:gd name="connsiteX104" fmla="*/ 615788 w 659098"/>
              <a:gd name="connsiteY104" fmla="*/ 277173 h 1749657"/>
              <a:gd name="connsiteX105" fmla="*/ 424962 w 659098"/>
              <a:gd name="connsiteY105" fmla="*/ 277173 h 1749657"/>
              <a:gd name="connsiteX106" fmla="*/ 468272 w 659098"/>
              <a:gd name="connsiteY106" fmla="*/ 320483 h 1749657"/>
              <a:gd name="connsiteX107" fmla="*/ 424962 w 659098"/>
              <a:gd name="connsiteY107" fmla="*/ 363792 h 1749657"/>
              <a:gd name="connsiteX108" fmla="*/ 381652 w 659098"/>
              <a:gd name="connsiteY108" fmla="*/ 320483 h 1749657"/>
              <a:gd name="connsiteX109" fmla="*/ 424962 w 659098"/>
              <a:gd name="connsiteY109" fmla="*/ 277173 h 1749657"/>
              <a:gd name="connsiteX110" fmla="*/ 234136 w 659098"/>
              <a:gd name="connsiteY110" fmla="*/ 277173 h 1749657"/>
              <a:gd name="connsiteX111" fmla="*/ 277446 w 659098"/>
              <a:gd name="connsiteY111" fmla="*/ 320483 h 1749657"/>
              <a:gd name="connsiteX112" fmla="*/ 234136 w 659098"/>
              <a:gd name="connsiteY112" fmla="*/ 363792 h 1749657"/>
              <a:gd name="connsiteX113" fmla="*/ 190826 w 659098"/>
              <a:gd name="connsiteY113" fmla="*/ 320483 h 1749657"/>
              <a:gd name="connsiteX114" fmla="*/ 234136 w 659098"/>
              <a:gd name="connsiteY114" fmla="*/ 277173 h 1749657"/>
              <a:gd name="connsiteX115" fmla="*/ 43310 w 659098"/>
              <a:gd name="connsiteY115" fmla="*/ 277173 h 1749657"/>
              <a:gd name="connsiteX116" fmla="*/ 86619 w 659098"/>
              <a:gd name="connsiteY116" fmla="*/ 320483 h 1749657"/>
              <a:gd name="connsiteX117" fmla="*/ 43310 w 659098"/>
              <a:gd name="connsiteY117" fmla="*/ 363792 h 1749657"/>
              <a:gd name="connsiteX118" fmla="*/ 0 w 659098"/>
              <a:gd name="connsiteY118" fmla="*/ 320483 h 1749657"/>
              <a:gd name="connsiteX119" fmla="*/ 43310 w 659098"/>
              <a:gd name="connsiteY119" fmla="*/ 277173 h 1749657"/>
              <a:gd name="connsiteX120" fmla="*/ 615788 w 659098"/>
              <a:gd name="connsiteY120" fmla="*/ 0 h 1749657"/>
              <a:gd name="connsiteX121" fmla="*/ 659098 w 659098"/>
              <a:gd name="connsiteY121" fmla="*/ 43310 h 1749657"/>
              <a:gd name="connsiteX122" fmla="*/ 615788 w 659098"/>
              <a:gd name="connsiteY122" fmla="*/ 86619 h 1749657"/>
              <a:gd name="connsiteX123" fmla="*/ 572478 w 659098"/>
              <a:gd name="connsiteY123" fmla="*/ 43310 h 1749657"/>
              <a:gd name="connsiteX124" fmla="*/ 615788 w 659098"/>
              <a:gd name="connsiteY124" fmla="*/ 0 h 1749657"/>
              <a:gd name="connsiteX125" fmla="*/ 424962 w 659098"/>
              <a:gd name="connsiteY125" fmla="*/ 0 h 1749657"/>
              <a:gd name="connsiteX126" fmla="*/ 468272 w 659098"/>
              <a:gd name="connsiteY126" fmla="*/ 43310 h 1749657"/>
              <a:gd name="connsiteX127" fmla="*/ 424962 w 659098"/>
              <a:gd name="connsiteY127" fmla="*/ 86619 h 1749657"/>
              <a:gd name="connsiteX128" fmla="*/ 381652 w 659098"/>
              <a:gd name="connsiteY128" fmla="*/ 43310 h 1749657"/>
              <a:gd name="connsiteX129" fmla="*/ 424962 w 659098"/>
              <a:gd name="connsiteY129" fmla="*/ 0 h 1749657"/>
              <a:gd name="connsiteX130" fmla="*/ 234136 w 659098"/>
              <a:gd name="connsiteY130" fmla="*/ 0 h 1749657"/>
              <a:gd name="connsiteX131" fmla="*/ 277446 w 659098"/>
              <a:gd name="connsiteY131" fmla="*/ 43310 h 1749657"/>
              <a:gd name="connsiteX132" fmla="*/ 234136 w 659098"/>
              <a:gd name="connsiteY132" fmla="*/ 86619 h 1749657"/>
              <a:gd name="connsiteX133" fmla="*/ 190826 w 659098"/>
              <a:gd name="connsiteY133" fmla="*/ 43310 h 1749657"/>
              <a:gd name="connsiteX134" fmla="*/ 234136 w 659098"/>
              <a:gd name="connsiteY134" fmla="*/ 0 h 1749657"/>
              <a:gd name="connsiteX135" fmla="*/ 43310 w 659098"/>
              <a:gd name="connsiteY135" fmla="*/ 0 h 1749657"/>
              <a:gd name="connsiteX136" fmla="*/ 86619 w 659098"/>
              <a:gd name="connsiteY136" fmla="*/ 43310 h 1749657"/>
              <a:gd name="connsiteX137" fmla="*/ 43310 w 659098"/>
              <a:gd name="connsiteY137" fmla="*/ 86619 h 1749657"/>
              <a:gd name="connsiteX138" fmla="*/ 0 w 659098"/>
              <a:gd name="connsiteY138" fmla="*/ 43310 h 1749657"/>
              <a:gd name="connsiteX139" fmla="*/ 43310 w 659098"/>
              <a:gd name="connsiteY139" fmla="*/ 0 h 17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59098" h="1749657">
                <a:moveTo>
                  <a:pt x="615788" y="1663038"/>
                </a:moveTo>
                <a:cubicBezTo>
                  <a:pt x="639708" y="1663038"/>
                  <a:pt x="659098" y="1682427"/>
                  <a:pt x="659098" y="1706348"/>
                </a:cubicBezTo>
                <a:cubicBezTo>
                  <a:pt x="659098" y="1730268"/>
                  <a:pt x="639708" y="1749657"/>
                  <a:pt x="615788" y="1749657"/>
                </a:cubicBezTo>
                <a:cubicBezTo>
                  <a:pt x="591868" y="1749657"/>
                  <a:pt x="572478" y="1730268"/>
                  <a:pt x="572478" y="1706348"/>
                </a:cubicBezTo>
                <a:cubicBezTo>
                  <a:pt x="572478" y="1682427"/>
                  <a:pt x="591868" y="1663038"/>
                  <a:pt x="615788" y="1663038"/>
                </a:cubicBezTo>
                <a:close/>
                <a:moveTo>
                  <a:pt x="424962" y="1663038"/>
                </a:moveTo>
                <a:cubicBezTo>
                  <a:pt x="448882" y="1663038"/>
                  <a:pt x="468272" y="1682427"/>
                  <a:pt x="468272" y="1706348"/>
                </a:cubicBezTo>
                <a:cubicBezTo>
                  <a:pt x="468272" y="1730268"/>
                  <a:pt x="448882" y="1749657"/>
                  <a:pt x="424962" y="1749657"/>
                </a:cubicBezTo>
                <a:cubicBezTo>
                  <a:pt x="401042" y="1749657"/>
                  <a:pt x="381652" y="1730268"/>
                  <a:pt x="381652" y="1706348"/>
                </a:cubicBezTo>
                <a:cubicBezTo>
                  <a:pt x="381652" y="1682427"/>
                  <a:pt x="401042" y="1663038"/>
                  <a:pt x="424962" y="1663038"/>
                </a:cubicBezTo>
                <a:close/>
                <a:moveTo>
                  <a:pt x="234136" y="1663038"/>
                </a:moveTo>
                <a:cubicBezTo>
                  <a:pt x="258056" y="1663038"/>
                  <a:pt x="277446" y="1682427"/>
                  <a:pt x="277446" y="1706348"/>
                </a:cubicBezTo>
                <a:cubicBezTo>
                  <a:pt x="277446" y="1730268"/>
                  <a:pt x="258056" y="1749657"/>
                  <a:pt x="234136" y="1749657"/>
                </a:cubicBezTo>
                <a:cubicBezTo>
                  <a:pt x="210216" y="1749657"/>
                  <a:pt x="190826" y="1730268"/>
                  <a:pt x="190826" y="1706348"/>
                </a:cubicBezTo>
                <a:cubicBezTo>
                  <a:pt x="190826" y="1682427"/>
                  <a:pt x="210216" y="1663038"/>
                  <a:pt x="234136" y="1663038"/>
                </a:cubicBezTo>
                <a:close/>
                <a:moveTo>
                  <a:pt x="43310" y="1663038"/>
                </a:moveTo>
                <a:cubicBezTo>
                  <a:pt x="67230" y="1663038"/>
                  <a:pt x="86619" y="1682427"/>
                  <a:pt x="86619" y="1706348"/>
                </a:cubicBezTo>
                <a:cubicBezTo>
                  <a:pt x="86619" y="1730268"/>
                  <a:pt x="67230" y="1749657"/>
                  <a:pt x="43310" y="1749657"/>
                </a:cubicBezTo>
                <a:cubicBezTo>
                  <a:pt x="19390" y="1749657"/>
                  <a:pt x="0" y="1730268"/>
                  <a:pt x="0" y="1706348"/>
                </a:cubicBezTo>
                <a:cubicBezTo>
                  <a:pt x="0" y="1682427"/>
                  <a:pt x="19390" y="1663038"/>
                  <a:pt x="43310" y="1663038"/>
                </a:cubicBezTo>
                <a:close/>
                <a:moveTo>
                  <a:pt x="615788" y="1385865"/>
                </a:moveTo>
                <a:cubicBezTo>
                  <a:pt x="639708" y="1385865"/>
                  <a:pt x="659098" y="1405255"/>
                  <a:pt x="659098" y="1429175"/>
                </a:cubicBezTo>
                <a:cubicBezTo>
                  <a:pt x="659098" y="1453095"/>
                  <a:pt x="639708" y="1472484"/>
                  <a:pt x="615788" y="1472484"/>
                </a:cubicBezTo>
                <a:cubicBezTo>
                  <a:pt x="591868" y="1472484"/>
                  <a:pt x="572478" y="1453095"/>
                  <a:pt x="572478" y="1429175"/>
                </a:cubicBezTo>
                <a:cubicBezTo>
                  <a:pt x="572478" y="1405255"/>
                  <a:pt x="591868" y="1385865"/>
                  <a:pt x="615788" y="1385865"/>
                </a:cubicBezTo>
                <a:close/>
                <a:moveTo>
                  <a:pt x="424962" y="1385865"/>
                </a:moveTo>
                <a:cubicBezTo>
                  <a:pt x="448882" y="1385865"/>
                  <a:pt x="468272" y="1405255"/>
                  <a:pt x="468272" y="1429175"/>
                </a:cubicBezTo>
                <a:cubicBezTo>
                  <a:pt x="468272" y="1453095"/>
                  <a:pt x="448882" y="1472484"/>
                  <a:pt x="424962" y="1472484"/>
                </a:cubicBezTo>
                <a:cubicBezTo>
                  <a:pt x="401042" y="1472484"/>
                  <a:pt x="381652" y="1453095"/>
                  <a:pt x="381652" y="1429175"/>
                </a:cubicBezTo>
                <a:cubicBezTo>
                  <a:pt x="381652" y="1405255"/>
                  <a:pt x="401042" y="1385865"/>
                  <a:pt x="424962" y="1385865"/>
                </a:cubicBezTo>
                <a:close/>
                <a:moveTo>
                  <a:pt x="234136" y="1385865"/>
                </a:moveTo>
                <a:cubicBezTo>
                  <a:pt x="258056" y="1385865"/>
                  <a:pt x="277446" y="1405255"/>
                  <a:pt x="277446" y="1429175"/>
                </a:cubicBezTo>
                <a:cubicBezTo>
                  <a:pt x="277446" y="1453095"/>
                  <a:pt x="258056" y="1472484"/>
                  <a:pt x="234136" y="1472484"/>
                </a:cubicBezTo>
                <a:cubicBezTo>
                  <a:pt x="210216" y="1472484"/>
                  <a:pt x="190826" y="1453095"/>
                  <a:pt x="190826" y="1429175"/>
                </a:cubicBezTo>
                <a:cubicBezTo>
                  <a:pt x="190826" y="1405255"/>
                  <a:pt x="210216" y="1385865"/>
                  <a:pt x="234136" y="1385865"/>
                </a:cubicBezTo>
                <a:close/>
                <a:moveTo>
                  <a:pt x="43310" y="1385865"/>
                </a:moveTo>
                <a:cubicBezTo>
                  <a:pt x="67230" y="1385865"/>
                  <a:pt x="86619" y="1405255"/>
                  <a:pt x="86619" y="1429175"/>
                </a:cubicBezTo>
                <a:cubicBezTo>
                  <a:pt x="86619" y="1453095"/>
                  <a:pt x="67230" y="1472484"/>
                  <a:pt x="43310" y="1472484"/>
                </a:cubicBezTo>
                <a:cubicBezTo>
                  <a:pt x="19390" y="1472484"/>
                  <a:pt x="0" y="1453095"/>
                  <a:pt x="0" y="1429175"/>
                </a:cubicBezTo>
                <a:cubicBezTo>
                  <a:pt x="0" y="1405255"/>
                  <a:pt x="19390" y="1385865"/>
                  <a:pt x="43310" y="1385865"/>
                </a:cubicBezTo>
                <a:close/>
                <a:moveTo>
                  <a:pt x="615788" y="1108692"/>
                </a:moveTo>
                <a:cubicBezTo>
                  <a:pt x="639708" y="1108692"/>
                  <a:pt x="659098" y="1128082"/>
                  <a:pt x="659098" y="1152002"/>
                </a:cubicBezTo>
                <a:cubicBezTo>
                  <a:pt x="659098" y="1175922"/>
                  <a:pt x="639708" y="1195311"/>
                  <a:pt x="615788" y="1195311"/>
                </a:cubicBezTo>
                <a:cubicBezTo>
                  <a:pt x="591868" y="1195311"/>
                  <a:pt x="572478" y="1175922"/>
                  <a:pt x="572478" y="1152002"/>
                </a:cubicBezTo>
                <a:cubicBezTo>
                  <a:pt x="572478" y="1128082"/>
                  <a:pt x="591868" y="1108692"/>
                  <a:pt x="615788" y="1108692"/>
                </a:cubicBezTo>
                <a:close/>
                <a:moveTo>
                  <a:pt x="424962" y="1108692"/>
                </a:moveTo>
                <a:cubicBezTo>
                  <a:pt x="448882" y="1108692"/>
                  <a:pt x="468272" y="1128082"/>
                  <a:pt x="468272" y="1152002"/>
                </a:cubicBezTo>
                <a:cubicBezTo>
                  <a:pt x="468272" y="1175922"/>
                  <a:pt x="448882" y="1195311"/>
                  <a:pt x="424962" y="1195311"/>
                </a:cubicBezTo>
                <a:cubicBezTo>
                  <a:pt x="401042" y="1195311"/>
                  <a:pt x="381652" y="1175922"/>
                  <a:pt x="381652" y="1152002"/>
                </a:cubicBezTo>
                <a:cubicBezTo>
                  <a:pt x="381652" y="1128082"/>
                  <a:pt x="401042" y="1108692"/>
                  <a:pt x="424962" y="1108692"/>
                </a:cubicBezTo>
                <a:close/>
                <a:moveTo>
                  <a:pt x="234136" y="1108692"/>
                </a:moveTo>
                <a:cubicBezTo>
                  <a:pt x="258056" y="1108692"/>
                  <a:pt x="277446" y="1128082"/>
                  <a:pt x="277446" y="1152002"/>
                </a:cubicBezTo>
                <a:cubicBezTo>
                  <a:pt x="277446" y="1175922"/>
                  <a:pt x="258056" y="1195311"/>
                  <a:pt x="234136" y="1195311"/>
                </a:cubicBezTo>
                <a:cubicBezTo>
                  <a:pt x="210216" y="1195311"/>
                  <a:pt x="190826" y="1175922"/>
                  <a:pt x="190826" y="1152002"/>
                </a:cubicBezTo>
                <a:cubicBezTo>
                  <a:pt x="190826" y="1128082"/>
                  <a:pt x="210216" y="1108692"/>
                  <a:pt x="234136" y="1108692"/>
                </a:cubicBezTo>
                <a:close/>
                <a:moveTo>
                  <a:pt x="43310" y="1108692"/>
                </a:moveTo>
                <a:cubicBezTo>
                  <a:pt x="67230" y="1108692"/>
                  <a:pt x="86619" y="1128082"/>
                  <a:pt x="86619" y="1152002"/>
                </a:cubicBezTo>
                <a:cubicBezTo>
                  <a:pt x="86619" y="1175922"/>
                  <a:pt x="67230" y="1195311"/>
                  <a:pt x="43310" y="1195311"/>
                </a:cubicBezTo>
                <a:cubicBezTo>
                  <a:pt x="19390" y="1195311"/>
                  <a:pt x="0" y="1175922"/>
                  <a:pt x="0" y="1152002"/>
                </a:cubicBezTo>
                <a:cubicBezTo>
                  <a:pt x="0" y="1128082"/>
                  <a:pt x="19390" y="1108692"/>
                  <a:pt x="43310" y="1108692"/>
                </a:cubicBezTo>
                <a:close/>
                <a:moveTo>
                  <a:pt x="615788" y="831519"/>
                </a:moveTo>
                <a:cubicBezTo>
                  <a:pt x="639708" y="831519"/>
                  <a:pt x="659098" y="850909"/>
                  <a:pt x="659098" y="874829"/>
                </a:cubicBezTo>
                <a:cubicBezTo>
                  <a:pt x="659098" y="898749"/>
                  <a:pt x="639708" y="918138"/>
                  <a:pt x="615788" y="918138"/>
                </a:cubicBezTo>
                <a:cubicBezTo>
                  <a:pt x="591868" y="918138"/>
                  <a:pt x="572478" y="898749"/>
                  <a:pt x="572478" y="874829"/>
                </a:cubicBezTo>
                <a:cubicBezTo>
                  <a:pt x="572478" y="850909"/>
                  <a:pt x="591868" y="831519"/>
                  <a:pt x="615788" y="831519"/>
                </a:cubicBezTo>
                <a:close/>
                <a:moveTo>
                  <a:pt x="424962" y="831519"/>
                </a:moveTo>
                <a:cubicBezTo>
                  <a:pt x="448882" y="831519"/>
                  <a:pt x="468272" y="850909"/>
                  <a:pt x="468272" y="874829"/>
                </a:cubicBezTo>
                <a:cubicBezTo>
                  <a:pt x="468272" y="898749"/>
                  <a:pt x="448882" y="918138"/>
                  <a:pt x="424962" y="918138"/>
                </a:cubicBezTo>
                <a:cubicBezTo>
                  <a:pt x="401042" y="918138"/>
                  <a:pt x="381652" y="898749"/>
                  <a:pt x="381652" y="874829"/>
                </a:cubicBezTo>
                <a:cubicBezTo>
                  <a:pt x="381652" y="850909"/>
                  <a:pt x="401042" y="831519"/>
                  <a:pt x="424962" y="831519"/>
                </a:cubicBezTo>
                <a:close/>
                <a:moveTo>
                  <a:pt x="234136" y="831519"/>
                </a:moveTo>
                <a:cubicBezTo>
                  <a:pt x="258056" y="831519"/>
                  <a:pt x="277446" y="850909"/>
                  <a:pt x="277446" y="874829"/>
                </a:cubicBezTo>
                <a:cubicBezTo>
                  <a:pt x="277446" y="898749"/>
                  <a:pt x="258056" y="918138"/>
                  <a:pt x="234136" y="918138"/>
                </a:cubicBezTo>
                <a:cubicBezTo>
                  <a:pt x="210216" y="918138"/>
                  <a:pt x="190826" y="898749"/>
                  <a:pt x="190826" y="874829"/>
                </a:cubicBezTo>
                <a:cubicBezTo>
                  <a:pt x="190826" y="850909"/>
                  <a:pt x="210216" y="831519"/>
                  <a:pt x="234136" y="831519"/>
                </a:cubicBezTo>
                <a:close/>
                <a:moveTo>
                  <a:pt x="43310" y="831519"/>
                </a:moveTo>
                <a:cubicBezTo>
                  <a:pt x="67230" y="831519"/>
                  <a:pt x="86619" y="850909"/>
                  <a:pt x="86619" y="874829"/>
                </a:cubicBezTo>
                <a:cubicBezTo>
                  <a:pt x="86619" y="898749"/>
                  <a:pt x="67230" y="918138"/>
                  <a:pt x="43310" y="918138"/>
                </a:cubicBezTo>
                <a:cubicBezTo>
                  <a:pt x="19390" y="918138"/>
                  <a:pt x="0" y="898749"/>
                  <a:pt x="0" y="874829"/>
                </a:cubicBezTo>
                <a:cubicBezTo>
                  <a:pt x="0" y="850909"/>
                  <a:pt x="19390" y="831519"/>
                  <a:pt x="43310" y="831519"/>
                </a:cubicBezTo>
                <a:close/>
                <a:moveTo>
                  <a:pt x="43310" y="554348"/>
                </a:moveTo>
                <a:cubicBezTo>
                  <a:pt x="67230" y="554348"/>
                  <a:pt x="86619" y="573738"/>
                  <a:pt x="86619" y="597658"/>
                </a:cubicBezTo>
                <a:cubicBezTo>
                  <a:pt x="86619" y="621576"/>
                  <a:pt x="67230" y="640965"/>
                  <a:pt x="43310" y="640965"/>
                </a:cubicBezTo>
                <a:cubicBezTo>
                  <a:pt x="19390" y="640965"/>
                  <a:pt x="0" y="621576"/>
                  <a:pt x="0" y="597658"/>
                </a:cubicBezTo>
                <a:cubicBezTo>
                  <a:pt x="0" y="573738"/>
                  <a:pt x="19390" y="554348"/>
                  <a:pt x="43310" y="554348"/>
                </a:cubicBezTo>
                <a:close/>
                <a:moveTo>
                  <a:pt x="615788" y="554346"/>
                </a:moveTo>
                <a:cubicBezTo>
                  <a:pt x="639708" y="554346"/>
                  <a:pt x="659098" y="573736"/>
                  <a:pt x="659098" y="597656"/>
                </a:cubicBezTo>
                <a:cubicBezTo>
                  <a:pt x="659098" y="621576"/>
                  <a:pt x="639708" y="640965"/>
                  <a:pt x="615788" y="640965"/>
                </a:cubicBezTo>
                <a:cubicBezTo>
                  <a:pt x="591868" y="640965"/>
                  <a:pt x="572478" y="621576"/>
                  <a:pt x="572478" y="597656"/>
                </a:cubicBezTo>
                <a:cubicBezTo>
                  <a:pt x="572478" y="573736"/>
                  <a:pt x="591868" y="554346"/>
                  <a:pt x="615788" y="554346"/>
                </a:cubicBezTo>
                <a:close/>
                <a:moveTo>
                  <a:pt x="424962" y="554346"/>
                </a:moveTo>
                <a:cubicBezTo>
                  <a:pt x="448882" y="554346"/>
                  <a:pt x="468272" y="573736"/>
                  <a:pt x="468272" y="597656"/>
                </a:cubicBezTo>
                <a:cubicBezTo>
                  <a:pt x="468272" y="621576"/>
                  <a:pt x="448882" y="640965"/>
                  <a:pt x="424962" y="640965"/>
                </a:cubicBezTo>
                <a:cubicBezTo>
                  <a:pt x="401042" y="640965"/>
                  <a:pt x="381652" y="621576"/>
                  <a:pt x="381652" y="597656"/>
                </a:cubicBezTo>
                <a:cubicBezTo>
                  <a:pt x="381652" y="573736"/>
                  <a:pt x="401042" y="554346"/>
                  <a:pt x="424962" y="554346"/>
                </a:cubicBezTo>
                <a:close/>
                <a:moveTo>
                  <a:pt x="234136" y="554346"/>
                </a:moveTo>
                <a:cubicBezTo>
                  <a:pt x="258056" y="554346"/>
                  <a:pt x="277446" y="573736"/>
                  <a:pt x="277446" y="597656"/>
                </a:cubicBezTo>
                <a:cubicBezTo>
                  <a:pt x="277446" y="621576"/>
                  <a:pt x="258056" y="640965"/>
                  <a:pt x="234136" y="640965"/>
                </a:cubicBezTo>
                <a:cubicBezTo>
                  <a:pt x="210216" y="640965"/>
                  <a:pt x="190826" y="621576"/>
                  <a:pt x="190826" y="597656"/>
                </a:cubicBezTo>
                <a:cubicBezTo>
                  <a:pt x="190826" y="573736"/>
                  <a:pt x="210216" y="554346"/>
                  <a:pt x="234136" y="554346"/>
                </a:cubicBezTo>
                <a:close/>
                <a:moveTo>
                  <a:pt x="615788" y="277173"/>
                </a:moveTo>
                <a:cubicBezTo>
                  <a:pt x="639708" y="277173"/>
                  <a:pt x="659098" y="296563"/>
                  <a:pt x="659098" y="320483"/>
                </a:cubicBezTo>
                <a:cubicBezTo>
                  <a:pt x="659098" y="344403"/>
                  <a:pt x="639708" y="363792"/>
                  <a:pt x="615788" y="363792"/>
                </a:cubicBezTo>
                <a:cubicBezTo>
                  <a:pt x="591868" y="363792"/>
                  <a:pt x="572478" y="344403"/>
                  <a:pt x="572478" y="320483"/>
                </a:cubicBezTo>
                <a:cubicBezTo>
                  <a:pt x="572478" y="296563"/>
                  <a:pt x="591868" y="277173"/>
                  <a:pt x="615788" y="277173"/>
                </a:cubicBezTo>
                <a:close/>
                <a:moveTo>
                  <a:pt x="424962" y="277173"/>
                </a:moveTo>
                <a:cubicBezTo>
                  <a:pt x="448882" y="277173"/>
                  <a:pt x="468272" y="296563"/>
                  <a:pt x="468272" y="320483"/>
                </a:cubicBezTo>
                <a:cubicBezTo>
                  <a:pt x="468272" y="344403"/>
                  <a:pt x="448882" y="363792"/>
                  <a:pt x="424962" y="363792"/>
                </a:cubicBezTo>
                <a:cubicBezTo>
                  <a:pt x="401042" y="363792"/>
                  <a:pt x="381652" y="344403"/>
                  <a:pt x="381652" y="320483"/>
                </a:cubicBezTo>
                <a:cubicBezTo>
                  <a:pt x="381652" y="296563"/>
                  <a:pt x="401042" y="277173"/>
                  <a:pt x="424962" y="277173"/>
                </a:cubicBezTo>
                <a:close/>
                <a:moveTo>
                  <a:pt x="234136" y="277173"/>
                </a:moveTo>
                <a:cubicBezTo>
                  <a:pt x="258056" y="277173"/>
                  <a:pt x="277446" y="296563"/>
                  <a:pt x="277446" y="320483"/>
                </a:cubicBezTo>
                <a:cubicBezTo>
                  <a:pt x="277446" y="344403"/>
                  <a:pt x="258056" y="363792"/>
                  <a:pt x="234136" y="363792"/>
                </a:cubicBezTo>
                <a:cubicBezTo>
                  <a:pt x="210216" y="363792"/>
                  <a:pt x="190826" y="344403"/>
                  <a:pt x="190826" y="320483"/>
                </a:cubicBezTo>
                <a:cubicBezTo>
                  <a:pt x="190826" y="296563"/>
                  <a:pt x="210216" y="277173"/>
                  <a:pt x="234136" y="277173"/>
                </a:cubicBezTo>
                <a:close/>
                <a:moveTo>
                  <a:pt x="43310" y="277173"/>
                </a:moveTo>
                <a:cubicBezTo>
                  <a:pt x="67230" y="277173"/>
                  <a:pt x="86619" y="296563"/>
                  <a:pt x="86619" y="320483"/>
                </a:cubicBezTo>
                <a:cubicBezTo>
                  <a:pt x="86619" y="344403"/>
                  <a:pt x="67230" y="363792"/>
                  <a:pt x="43310" y="363792"/>
                </a:cubicBezTo>
                <a:cubicBezTo>
                  <a:pt x="19390" y="363792"/>
                  <a:pt x="0" y="344403"/>
                  <a:pt x="0" y="320483"/>
                </a:cubicBezTo>
                <a:cubicBezTo>
                  <a:pt x="0" y="296563"/>
                  <a:pt x="19390" y="277173"/>
                  <a:pt x="43310" y="277173"/>
                </a:cubicBezTo>
                <a:close/>
                <a:moveTo>
                  <a:pt x="615788" y="0"/>
                </a:moveTo>
                <a:cubicBezTo>
                  <a:pt x="639708" y="0"/>
                  <a:pt x="659098" y="19390"/>
                  <a:pt x="659098" y="43310"/>
                </a:cubicBezTo>
                <a:cubicBezTo>
                  <a:pt x="659098" y="67230"/>
                  <a:pt x="639708" y="86619"/>
                  <a:pt x="615788" y="86619"/>
                </a:cubicBezTo>
                <a:cubicBezTo>
                  <a:pt x="591868" y="86619"/>
                  <a:pt x="572478" y="67230"/>
                  <a:pt x="572478" y="43310"/>
                </a:cubicBezTo>
                <a:cubicBezTo>
                  <a:pt x="572478" y="19390"/>
                  <a:pt x="591868" y="0"/>
                  <a:pt x="615788" y="0"/>
                </a:cubicBezTo>
                <a:close/>
                <a:moveTo>
                  <a:pt x="424962" y="0"/>
                </a:moveTo>
                <a:cubicBezTo>
                  <a:pt x="448882" y="0"/>
                  <a:pt x="468272" y="19390"/>
                  <a:pt x="468272" y="43310"/>
                </a:cubicBezTo>
                <a:cubicBezTo>
                  <a:pt x="468272" y="67230"/>
                  <a:pt x="448882" y="86619"/>
                  <a:pt x="424962" y="86619"/>
                </a:cubicBezTo>
                <a:cubicBezTo>
                  <a:pt x="401042" y="86619"/>
                  <a:pt x="381652" y="67230"/>
                  <a:pt x="381652" y="43310"/>
                </a:cubicBezTo>
                <a:cubicBezTo>
                  <a:pt x="381652" y="19390"/>
                  <a:pt x="401042" y="0"/>
                  <a:pt x="424962" y="0"/>
                </a:cubicBezTo>
                <a:close/>
                <a:moveTo>
                  <a:pt x="234136" y="0"/>
                </a:moveTo>
                <a:cubicBezTo>
                  <a:pt x="258056" y="0"/>
                  <a:pt x="277446" y="19390"/>
                  <a:pt x="277446" y="43310"/>
                </a:cubicBezTo>
                <a:cubicBezTo>
                  <a:pt x="277446" y="67230"/>
                  <a:pt x="258056" y="86619"/>
                  <a:pt x="234136" y="86619"/>
                </a:cubicBezTo>
                <a:cubicBezTo>
                  <a:pt x="210216" y="86619"/>
                  <a:pt x="190826" y="67230"/>
                  <a:pt x="190826" y="43310"/>
                </a:cubicBezTo>
                <a:cubicBezTo>
                  <a:pt x="190826" y="19390"/>
                  <a:pt x="210216" y="0"/>
                  <a:pt x="234136" y="0"/>
                </a:cubicBezTo>
                <a:close/>
                <a:moveTo>
                  <a:pt x="43310" y="0"/>
                </a:moveTo>
                <a:cubicBezTo>
                  <a:pt x="67230" y="0"/>
                  <a:pt x="86619" y="19390"/>
                  <a:pt x="86619" y="43310"/>
                </a:cubicBezTo>
                <a:cubicBezTo>
                  <a:pt x="86619" y="67230"/>
                  <a:pt x="67230" y="86619"/>
                  <a:pt x="43310" y="86619"/>
                </a:cubicBezTo>
                <a:cubicBezTo>
                  <a:pt x="19390" y="86619"/>
                  <a:pt x="0" y="67230"/>
                  <a:pt x="0" y="43310"/>
                </a:cubicBezTo>
                <a:cubicBezTo>
                  <a:pt x="0" y="19390"/>
                  <a:pt x="19390" y="0"/>
                  <a:pt x="43310" y="0"/>
                </a:cubicBezTo>
                <a:close/>
              </a:path>
            </a:pathLst>
          </a:custGeom>
          <a:gradFill flip="none" rotWithShape="1">
            <a:gsLst>
              <a:gs pos="0">
                <a:srgbClr val="567FCA"/>
              </a:gs>
              <a:gs pos="100000">
                <a:srgbClr val="567FCA">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grpSp>
        <p:nvGrpSpPr>
          <p:cNvPr id="26" name="组合 25"/>
          <p:cNvGrpSpPr/>
          <p:nvPr/>
        </p:nvGrpSpPr>
        <p:grpSpPr>
          <a:xfrm flipH="1">
            <a:off x="636276" y="342900"/>
            <a:ext cx="5759681" cy="190500"/>
            <a:chOff x="6184669" y="342900"/>
            <a:chExt cx="5759681" cy="190500"/>
          </a:xfrm>
        </p:grpSpPr>
        <p:cxnSp>
          <p:nvCxnSpPr>
            <p:cNvPr id="27" name="直接连接符 26"/>
            <p:cNvCxnSpPr/>
            <p:nvPr/>
          </p:nvCxnSpPr>
          <p:spPr>
            <a:xfrm>
              <a:off x="6184669" y="438150"/>
              <a:ext cx="5585362"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11753850" y="342900"/>
              <a:ext cx="190500" cy="190500"/>
            </a:xfrm>
            <a:prstGeom prst="ellipse">
              <a:avLst/>
            </a:prstGeom>
            <a:solidFill>
              <a:srgbClr val="285BDB"/>
            </a:soli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endParaRPr>
            </a:p>
          </p:txBody>
        </p:sp>
      </p:grpSp>
      <p:sp>
        <p:nvSpPr>
          <p:cNvPr id="30" name="矩形 29"/>
          <p:cNvSpPr/>
          <p:nvPr/>
        </p:nvSpPr>
        <p:spPr>
          <a:xfrm>
            <a:off x="0" y="6184900"/>
            <a:ext cx="701676" cy="673100"/>
          </a:xfrm>
          <a:prstGeom prst="rect">
            <a:avLst/>
          </a:prstGeom>
          <a:gradFill>
            <a:gsLst>
              <a:gs pos="44925">
                <a:srgbClr val="306DDE"/>
              </a:gs>
              <a:gs pos="6000">
                <a:srgbClr val="3981E2">
                  <a:alpha val="73000"/>
                </a:srgbClr>
              </a:gs>
              <a:gs pos="81000">
                <a:srgbClr val="285BDB"/>
              </a:gs>
            </a:gsLst>
            <a:lin ang="2700000" scaled="0"/>
          </a:gra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mn-ea"/>
            </a:endParaRPr>
          </a:p>
        </p:txBody>
      </p:sp>
      <p:pic>
        <p:nvPicPr>
          <p:cNvPr id="34" name="图片 33"/>
          <p:cNvPicPr>
            <a:picLocks noChangeAspect="1"/>
          </p:cNvPicPr>
          <p:nvPr/>
        </p:nvPicPr>
        <p:blipFill>
          <a:blip r:embed="rId5">
            <a:extLst>
              <a:ext uri="{28A0092B-C50C-407E-A947-70E740481C1C}">
                <a14:useLocalDpi xmlns:a14="http://schemas.microsoft.com/office/drawing/2010/main" val="0"/>
              </a:ext>
            </a:extLst>
          </a:blip>
          <a:srcRect l="27920" t="-1023" r="8370" b="5460"/>
          <a:stretch>
            <a:fillRect/>
          </a:stretch>
        </p:blipFill>
        <p:spPr>
          <a:xfrm>
            <a:off x="1325231" y="2089882"/>
            <a:ext cx="2703768" cy="2703768"/>
          </a:xfrm>
          <a:custGeom>
            <a:avLst/>
            <a:gdLst>
              <a:gd name="connsiteX0" fmla="*/ 1351884 w 2703768"/>
              <a:gd name="connsiteY0" fmla="*/ 0 h 2703768"/>
              <a:gd name="connsiteX1" fmla="*/ 2703768 w 2703768"/>
              <a:gd name="connsiteY1" fmla="*/ 1351884 h 2703768"/>
              <a:gd name="connsiteX2" fmla="*/ 1351884 w 2703768"/>
              <a:gd name="connsiteY2" fmla="*/ 2703768 h 2703768"/>
              <a:gd name="connsiteX3" fmla="*/ 0 w 2703768"/>
              <a:gd name="connsiteY3" fmla="*/ 1351884 h 2703768"/>
              <a:gd name="connsiteX4" fmla="*/ 1351884 w 2703768"/>
              <a:gd name="connsiteY4" fmla="*/ 0 h 2703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3768" h="2703768">
                <a:moveTo>
                  <a:pt x="1351884" y="0"/>
                </a:moveTo>
                <a:cubicBezTo>
                  <a:pt x="2098509" y="0"/>
                  <a:pt x="2703768" y="605259"/>
                  <a:pt x="2703768" y="1351884"/>
                </a:cubicBezTo>
                <a:cubicBezTo>
                  <a:pt x="2703768" y="2098509"/>
                  <a:pt x="2098509" y="2703768"/>
                  <a:pt x="1351884" y="2703768"/>
                </a:cubicBezTo>
                <a:cubicBezTo>
                  <a:pt x="605259" y="2703768"/>
                  <a:pt x="0" y="2098509"/>
                  <a:pt x="0" y="1351884"/>
                </a:cubicBezTo>
                <a:cubicBezTo>
                  <a:pt x="0" y="605259"/>
                  <a:pt x="605259" y="0"/>
                  <a:pt x="1351884" y="0"/>
                </a:cubicBezTo>
                <a:close/>
              </a:path>
            </a:pathLst>
          </a:custGeom>
        </p:spPr>
      </p:pic>
      <p:grpSp>
        <p:nvGrpSpPr>
          <p:cNvPr id="35" name="组合 34"/>
          <p:cNvGrpSpPr/>
          <p:nvPr/>
        </p:nvGrpSpPr>
        <p:grpSpPr>
          <a:xfrm>
            <a:off x="3122975" y="4134237"/>
            <a:ext cx="1113620" cy="982956"/>
            <a:chOff x="6485282" y="-1420938"/>
            <a:chExt cx="1262849" cy="1114676"/>
          </a:xfrm>
          <a:gradFill>
            <a:gsLst>
              <a:gs pos="44925">
                <a:srgbClr val="306DDE"/>
              </a:gs>
              <a:gs pos="6000">
                <a:srgbClr val="3981E2">
                  <a:alpha val="73000"/>
                </a:srgbClr>
              </a:gs>
              <a:gs pos="81000">
                <a:srgbClr val="285BDB"/>
              </a:gs>
            </a:gsLst>
            <a:lin ang="2700000" scaled="0"/>
          </a:gradFill>
        </p:grpSpPr>
        <p:sp>
          <p:nvSpPr>
            <p:cNvPr id="36" name="椭圆 35"/>
            <p:cNvSpPr/>
            <p:nvPr/>
          </p:nvSpPr>
          <p:spPr>
            <a:xfrm>
              <a:off x="6529262" y="-1420938"/>
              <a:ext cx="1114678" cy="1114676"/>
            </a:xfrm>
            <a:prstGeom prst="ellipse">
              <a:avLst/>
            </a:prstGeom>
            <a:grp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宋体 CN Heavy" panose="02020900000000000000" charset="-122"/>
                <a:ea typeface="思源宋体 CN Heavy" panose="02020900000000000000" charset="-122"/>
                <a:cs typeface="+mn-ea"/>
              </a:endParaRPr>
            </a:p>
          </p:txBody>
        </p:sp>
        <p:sp>
          <p:nvSpPr>
            <p:cNvPr id="37" name="文本框 36"/>
            <p:cNvSpPr txBox="1"/>
            <p:nvPr>
              <p:custDataLst>
                <p:tags r:id="rId6"/>
              </p:custDataLst>
            </p:nvPr>
          </p:nvSpPr>
          <p:spPr>
            <a:xfrm flipH="1">
              <a:off x="6485282" y="-1359077"/>
              <a:ext cx="1262849" cy="1047060"/>
            </a:xfrm>
            <a:prstGeom prst="rect">
              <a:avLst/>
            </a:prstGeom>
            <a:noFill/>
          </p:spPr>
          <p:txBody>
            <a:bodyPr vert="horz" wrap="square" rtlCol="0">
              <a:spAutoFit/>
            </a:bodyPr>
            <a:lstStyle/>
            <a:p>
              <a:pPr algn="ctr"/>
              <a:r>
                <a:rPr lang="en-US" altLang="zh-CN" sz="5400" kern="100" dirty="0">
                  <a:solidFill>
                    <a:schemeClr val="bg1"/>
                  </a:solidFill>
                  <a:latin typeface="思源宋体 CN Heavy" panose="02020900000000000000" charset="-122"/>
                  <a:ea typeface="思源宋体 CN Heavy" panose="02020900000000000000" charset="-122"/>
                  <a:cs typeface="汉仪旗黑-50S" panose="00020600040101010101" charset="-122"/>
                </a:rPr>
                <a:t>02</a:t>
              </a:r>
              <a:endParaRPr lang="zh-CN" altLang="en-US" sz="5400" kern="100" dirty="0">
                <a:solidFill>
                  <a:schemeClr val="bg1"/>
                </a:solidFill>
                <a:latin typeface="思源宋体 CN Heavy" panose="02020900000000000000" charset="-122"/>
                <a:ea typeface="思源宋体 CN Heavy" panose="02020900000000000000" charset="-122"/>
                <a:cs typeface="汉仪旗黑-50S" panose="00020600040101010101" charset="-122"/>
              </a:endParaRPr>
            </a:p>
          </p:txBody>
        </p:sp>
      </p:gr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972770" y="1929401"/>
            <a:ext cx="4642584" cy="4132689"/>
            <a:chOff x="972770" y="1929401"/>
            <a:chExt cx="4642584" cy="4132689"/>
          </a:xfrm>
        </p:grpSpPr>
        <p:grpSp>
          <p:nvGrpSpPr>
            <p:cNvPr id="3" name="组合 2"/>
            <p:cNvGrpSpPr/>
            <p:nvPr/>
          </p:nvGrpSpPr>
          <p:grpSpPr>
            <a:xfrm>
              <a:off x="972770" y="1929401"/>
              <a:ext cx="4642584" cy="4132689"/>
              <a:chOff x="687916" y="1962616"/>
              <a:chExt cx="4175125" cy="3716571"/>
            </a:xfrm>
          </p:grpSpPr>
          <p:sp>
            <p:nvSpPr>
              <p:cNvPr id="4" name="矩形 3"/>
              <p:cNvSpPr/>
              <p:nvPr/>
            </p:nvSpPr>
            <p:spPr>
              <a:xfrm>
                <a:off x="687916" y="1962616"/>
                <a:ext cx="4175125" cy="3348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5" name="Group 71"/>
              <p:cNvGrpSpPr/>
              <p:nvPr/>
            </p:nvGrpSpPr>
            <p:grpSpPr>
              <a:xfrm>
                <a:off x="897467" y="2174976"/>
                <a:ext cx="648216" cy="648216"/>
                <a:chOff x="868892" y="2882384"/>
                <a:chExt cx="648216" cy="648216"/>
              </a:xfrm>
            </p:grpSpPr>
            <p:sp>
              <p:nvSpPr>
                <p:cNvPr id="7" name="椭圆 6"/>
                <p:cNvSpPr/>
                <p:nvPr/>
              </p:nvSpPr>
              <p:spPr>
                <a:xfrm>
                  <a:off x="868892" y="2882384"/>
                  <a:ext cx="648216" cy="648216"/>
                </a:xfrm>
                <a:prstGeom prst="ellipse">
                  <a:avLst/>
                </a:prstGeom>
                <a:solidFill>
                  <a:srgbClr val="F4FAFF"/>
                </a:solidFill>
                <a:ln w="12700" cap="rnd">
                  <a:solidFill>
                    <a:srgbClr val="B0C3F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endPar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Freeform 64"/>
                <p:cNvSpPr>
                  <a:spLocks noEditPoints="1"/>
                </p:cNvSpPr>
                <p:nvPr/>
              </p:nvSpPr>
              <p:spPr bwMode="auto">
                <a:xfrm>
                  <a:off x="1056300" y="3070071"/>
                  <a:ext cx="314052" cy="30678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gradFill flip="none" rotWithShape="1">
                  <a:gsLst>
                    <a:gs pos="0">
                      <a:srgbClr val="529AFD"/>
                    </a:gs>
                    <a:gs pos="70000">
                      <a:srgbClr val="4175FD"/>
                    </a:gs>
                  </a:gsLst>
                  <a:lin ang="27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6" name="矩形 5"/>
              <p:cNvSpPr/>
              <p:nvPr/>
            </p:nvSpPr>
            <p:spPr>
              <a:xfrm>
                <a:off x="687916" y="5321300"/>
                <a:ext cx="4175125" cy="357887"/>
              </a:xfrm>
              <a:prstGeom prst="rect">
                <a:avLst/>
              </a:prstGeom>
              <a:gradFill flip="none" rotWithShape="1">
                <a:gsLst>
                  <a:gs pos="0">
                    <a:srgbClr val="529AFD"/>
                  </a:gs>
                  <a:gs pos="70000">
                    <a:srgbClr val="4175FD"/>
                  </a:gs>
                </a:gsLst>
                <a:lin ang="27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3" name="组合 22"/>
            <p:cNvGrpSpPr/>
            <p:nvPr/>
          </p:nvGrpSpPr>
          <p:grpSpPr>
            <a:xfrm>
              <a:off x="1372088" y="2379036"/>
              <a:ext cx="3974612" cy="3185764"/>
              <a:chOff x="5128846" y="2145551"/>
              <a:chExt cx="3974612" cy="3185764"/>
            </a:xfrm>
          </p:grpSpPr>
          <p:grpSp>
            <p:nvGrpSpPr>
              <p:cNvPr id="24" name="组合 23"/>
              <p:cNvGrpSpPr/>
              <p:nvPr/>
            </p:nvGrpSpPr>
            <p:grpSpPr>
              <a:xfrm>
                <a:off x="5714000" y="2145551"/>
                <a:ext cx="3389458" cy="3185764"/>
                <a:chOff x="1677988" y="2339935"/>
                <a:chExt cx="3389458" cy="3185764"/>
              </a:xfrm>
            </p:grpSpPr>
            <p:sp>
              <p:nvSpPr>
                <p:cNvPr id="26" name="矩形 25"/>
                <p:cNvSpPr/>
                <p:nvPr/>
              </p:nvSpPr>
              <p:spPr>
                <a:xfrm>
                  <a:off x="1677988" y="2339935"/>
                  <a:ext cx="2731713" cy="36933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 全国数字经济发展态势</a:t>
                  </a:r>
                  <a:endPar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27" name="矩形 26"/>
                <p:cNvSpPr/>
                <p:nvPr/>
              </p:nvSpPr>
              <p:spPr>
                <a:xfrm>
                  <a:off x="1677989" y="2999238"/>
                  <a:ext cx="3389457" cy="2526461"/>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数字经济规模持续扩大：</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2024</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年数字经济核心产业增加值占</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GDP</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比重达</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10%</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数字技术创新成果显著：国产人工智能崛起，人形机器人商业化落地。</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数字基础设施建设加速：实现县县通千兆、乡乡通</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5G</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，算力规模位居全球前列</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5" name="椭圆 24"/>
              <p:cNvSpPr/>
              <p:nvPr/>
            </p:nvSpPr>
            <p:spPr>
              <a:xfrm>
                <a:off x="5128846" y="4762318"/>
                <a:ext cx="381000" cy="381000"/>
              </a:xfrm>
              <a:prstGeom prst="ellipse">
                <a:avLst/>
              </a:prstGeom>
              <a:gradFill flip="none" rotWithShape="1">
                <a:gsLst>
                  <a:gs pos="44925">
                    <a:srgbClr val="306DDE"/>
                  </a:gs>
                  <a:gs pos="6000">
                    <a:srgbClr val="3981E2">
                      <a:alpha val="73000"/>
                    </a:srgbClr>
                  </a:gs>
                  <a:gs pos="81000">
                    <a:srgbClr val="285BDB"/>
                  </a:gs>
                </a:gsLst>
                <a:lin ang="27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1</a:t>
                </a:r>
                <a:endParaRPr lang="zh-CN" altLang="en-US"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grpSp>
      </p:grpSp>
      <p:grpSp>
        <p:nvGrpSpPr>
          <p:cNvPr id="30" name="组合 29"/>
          <p:cNvGrpSpPr/>
          <p:nvPr/>
        </p:nvGrpSpPr>
        <p:grpSpPr>
          <a:xfrm>
            <a:off x="6787416" y="1929401"/>
            <a:ext cx="4642584" cy="4132689"/>
            <a:chOff x="972770" y="1929401"/>
            <a:chExt cx="4642584" cy="4132689"/>
          </a:xfrm>
        </p:grpSpPr>
        <p:grpSp>
          <p:nvGrpSpPr>
            <p:cNvPr id="31" name="组合 30"/>
            <p:cNvGrpSpPr/>
            <p:nvPr/>
          </p:nvGrpSpPr>
          <p:grpSpPr>
            <a:xfrm>
              <a:off x="972770" y="1929401"/>
              <a:ext cx="4642584" cy="4132689"/>
              <a:chOff x="687916" y="1962616"/>
              <a:chExt cx="4175125" cy="3716571"/>
            </a:xfrm>
          </p:grpSpPr>
          <p:sp>
            <p:nvSpPr>
              <p:cNvPr id="38" name="矩形 37"/>
              <p:cNvSpPr/>
              <p:nvPr/>
            </p:nvSpPr>
            <p:spPr>
              <a:xfrm>
                <a:off x="687916" y="1962616"/>
                <a:ext cx="4175125" cy="33482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9" name="Group 71"/>
              <p:cNvGrpSpPr/>
              <p:nvPr/>
            </p:nvGrpSpPr>
            <p:grpSpPr>
              <a:xfrm>
                <a:off x="897467" y="2174976"/>
                <a:ext cx="648216" cy="648216"/>
                <a:chOff x="868892" y="2882384"/>
                <a:chExt cx="648216" cy="648216"/>
              </a:xfrm>
            </p:grpSpPr>
            <p:sp>
              <p:nvSpPr>
                <p:cNvPr id="41" name="椭圆 40"/>
                <p:cNvSpPr/>
                <p:nvPr/>
              </p:nvSpPr>
              <p:spPr>
                <a:xfrm>
                  <a:off x="868892" y="2882384"/>
                  <a:ext cx="648216" cy="648216"/>
                </a:xfrm>
                <a:prstGeom prst="ellipse">
                  <a:avLst/>
                </a:prstGeom>
                <a:solidFill>
                  <a:srgbClr val="F4FAFF"/>
                </a:solidFill>
                <a:ln w="12700" cap="rnd">
                  <a:solidFill>
                    <a:srgbClr val="B0C3F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endPar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Freeform 64"/>
                <p:cNvSpPr>
                  <a:spLocks noEditPoints="1"/>
                </p:cNvSpPr>
                <p:nvPr/>
              </p:nvSpPr>
              <p:spPr bwMode="auto">
                <a:xfrm>
                  <a:off x="1056300" y="3070071"/>
                  <a:ext cx="314052" cy="306780"/>
                </a:xfrm>
                <a:custGeom>
                  <a:avLst/>
                  <a:gdLst>
                    <a:gd name="T0" fmla="*/ 59 w 415"/>
                    <a:gd name="T1" fmla="*/ 406 h 406"/>
                    <a:gd name="T2" fmla="*/ 25 w 415"/>
                    <a:gd name="T3" fmla="*/ 394 h 406"/>
                    <a:gd name="T4" fmla="*/ 19 w 415"/>
                    <a:gd name="T5" fmla="*/ 318 h 406"/>
                    <a:gd name="T6" fmla="*/ 114 w 415"/>
                    <a:gd name="T7" fmla="*/ 206 h 406"/>
                    <a:gd name="T8" fmla="*/ 19 w 415"/>
                    <a:gd name="T9" fmla="*/ 94 h 406"/>
                    <a:gd name="T10" fmla="*/ 25 w 415"/>
                    <a:gd name="T11" fmla="*/ 19 h 406"/>
                    <a:gd name="T12" fmla="*/ 100 w 415"/>
                    <a:gd name="T13" fmla="*/ 25 h 406"/>
                    <a:gd name="T14" fmla="*/ 225 w 415"/>
                    <a:gd name="T15" fmla="*/ 172 h 406"/>
                    <a:gd name="T16" fmla="*/ 225 w 415"/>
                    <a:gd name="T17" fmla="*/ 241 h 406"/>
                    <a:gd name="T18" fmla="*/ 100 w 415"/>
                    <a:gd name="T19" fmla="*/ 388 h 406"/>
                    <a:gd name="T20" fmla="*/ 59 w 415"/>
                    <a:gd name="T21" fmla="*/ 406 h 406"/>
                    <a:gd name="T22" fmla="*/ 273 w 415"/>
                    <a:gd name="T23" fmla="*/ 388 h 406"/>
                    <a:gd name="T24" fmla="*/ 398 w 415"/>
                    <a:gd name="T25" fmla="*/ 241 h 406"/>
                    <a:gd name="T26" fmla="*/ 398 w 415"/>
                    <a:gd name="T27" fmla="*/ 172 h 406"/>
                    <a:gd name="T28" fmla="*/ 273 w 415"/>
                    <a:gd name="T29" fmla="*/ 25 h 406"/>
                    <a:gd name="T30" fmla="*/ 198 w 415"/>
                    <a:gd name="T31" fmla="*/ 19 h 406"/>
                    <a:gd name="T32" fmla="*/ 192 w 415"/>
                    <a:gd name="T33" fmla="*/ 94 h 406"/>
                    <a:gd name="T34" fmla="*/ 287 w 415"/>
                    <a:gd name="T35" fmla="*/ 206 h 406"/>
                    <a:gd name="T36" fmla="*/ 192 w 415"/>
                    <a:gd name="T37" fmla="*/ 318 h 406"/>
                    <a:gd name="T38" fmla="*/ 198 w 415"/>
                    <a:gd name="T39" fmla="*/ 394 h 406"/>
                    <a:gd name="T40" fmla="*/ 232 w 415"/>
                    <a:gd name="T41" fmla="*/ 406 h 406"/>
                    <a:gd name="T42" fmla="*/ 273 w 415"/>
                    <a:gd name="T43" fmla="*/ 388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5" h="406">
                      <a:moveTo>
                        <a:pt x="59" y="406"/>
                      </a:moveTo>
                      <a:cubicBezTo>
                        <a:pt x="47" y="406"/>
                        <a:pt x="35" y="402"/>
                        <a:pt x="25" y="394"/>
                      </a:cubicBezTo>
                      <a:cubicBezTo>
                        <a:pt x="2" y="375"/>
                        <a:pt x="0" y="341"/>
                        <a:pt x="19" y="318"/>
                      </a:cubicBezTo>
                      <a:lnTo>
                        <a:pt x="114" y="206"/>
                      </a:lnTo>
                      <a:lnTo>
                        <a:pt x="19" y="94"/>
                      </a:lnTo>
                      <a:cubicBezTo>
                        <a:pt x="0" y="71"/>
                        <a:pt x="2" y="38"/>
                        <a:pt x="25" y="19"/>
                      </a:cubicBezTo>
                      <a:cubicBezTo>
                        <a:pt x="47" y="0"/>
                        <a:pt x="81" y="2"/>
                        <a:pt x="100" y="25"/>
                      </a:cubicBezTo>
                      <a:lnTo>
                        <a:pt x="225" y="172"/>
                      </a:lnTo>
                      <a:cubicBezTo>
                        <a:pt x="242" y="192"/>
                        <a:pt x="242" y="221"/>
                        <a:pt x="225" y="241"/>
                      </a:cubicBezTo>
                      <a:lnTo>
                        <a:pt x="100" y="388"/>
                      </a:lnTo>
                      <a:cubicBezTo>
                        <a:pt x="89" y="400"/>
                        <a:pt x="74" y="406"/>
                        <a:pt x="59" y="406"/>
                      </a:cubicBezTo>
                      <a:close/>
                      <a:moveTo>
                        <a:pt x="273" y="388"/>
                      </a:moveTo>
                      <a:lnTo>
                        <a:pt x="398" y="241"/>
                      </a:lnTo>
                      <a:cubicBezTo>
                        <a:pt x="415" y="221"/>
                        <a:pt x="415" y="192"/>
                        <a:pt x="398" y="172"/>
                      </a:cubicBezTo>
                      <a:lnTo>
                        <a:pt x="273" y="25"/>
                      </a:lnTo>
                      <a:cubicBezTo>
                        <a:pt x="254" y="2"/>
                        <a:pt x="220" y="0"/>
                        <a:pt x="198" y="19"/>
                      </a:cubicBezTo>
                      <a:cubicBezTo>
                        <a:pt x="175" y="38"/>
                        <a:pt x="173" y="71"/>
                        <a:pt x="192" y="94"/>
                      </a:cubicBezTo>
                      <a:lnTo>
                        <a:pt x="287" y="206"/>
                      </a:lnTo>
                      <a:lnTo>
                        <a:pt x="192" y="318"/>
                      </a:lnTo>
                      <a:cubicBezTo>
                        <a:pt x="173" y="341"/>
                        <a:pt x="175" y="375"/>
                        <a:pt x="198" y="394"/>
                      </a:cubicBezTo>
                      <a:cubicBezTo>
                        <a:pt x="208" y="402"/>
                        <a:pt x="220" y="406"/>
                        <a:pt x="232" y="406"/>
                      </a:cubicBezTo>
                      <a:cubicBezTo>
                        <a:pt x="247" y="406"/>
                        <a:pt x="262" y="400"/>
                        <a:pt x="273" y="388"/>
                      </a:cubicBezTo>
                      <a:close/>
                    </a:path>
                  </a:pathLst>
                </a:custGeom>
                <a:gradFill flip="none" rotWithShape="1">
                  <a:gsLst>
                    <a:gs pos="0">
                      <a:srgbClr val="529AFD"/>
                    </a:gs>
                    <a:gs pos="70000">
                      <a:srgbClr val="4175FD"/>
                    </a:gs>
                  </a:gsLst>
                  <a:lin ang="27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40" name="矩形 39"/>
              <p:cNvSpPr/>
              <p:nvPr/>
            </p:nvSpPr>
            <p:spPr>
              <a:xfrm>
                <a:off x="687916" y="5321300"/>
                <a:ext cx="4175125" cy="357887"/>
              </a:xfrm>
              <a:prstGeom prst="rect">
                <a:avLst/>
              </a:prstGeom>
              <a:gradFill flip="none" rotWithShape="1">
                <a:gsLst>
                  <a:gs pos="0">
                    <a:srgbClr val="529AFD"/>
                  </a:gs>
                  <a:gs pos="70000">
                    <a:srgbClr val="4175FD"/>
                  </a:gs>
                </a:gsLst>
                <a:lin ang="27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32" name="组合 31"/>
            <p:cNvGrpSpPr/>
            <p:nvPr/>
          </p:nvGrpSpPr>
          <p:grpSpPr>
            <a:xfrm>
              <a:off x="1372088" y="2379036"/>
              <a:ext cx="3720612" cy="3185764"/>
              <a:chOff x="5128846" y="2145551"/>
              <a:chExt cx="3720612" cy="3185764"/>
            </a:xfrm>
          </p:grpSpPr>
          <p:grpSp>
            <p:nvGrpSpPr>
              <p:cNvPr id="33" name="组合 32"/>
              <p:cNvGrpSpPr/>
              <p:nvPr/>
            </p:nvGrpSpPr>
            <p:grpSpPr>
              <a:xfrm>
                <a:off x="5714001" y="2145551"/>
                <a:ext cx="3135457" cy="3185764"/>
                <a:chOff x="1677989" y="2339935"/>
                <a:chExt cx="3135457" cy="3185764"/>
              </a:xfrm>
            </p:grpSpPr>
            <p:sp>
              <p:nvSpPr>
                <p:cNvPr id="35" name="矩形 34"/>
                <p:cNvSpPr/>
                <p:nvPr/>
              </p:nvSpPr>
              <p:spPr>
                <a:xfrm>
                  <a:off x="1677989" y="2339935"/>
                  <a:ext cx="2648461" cy="36933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江西数字经济发展成效</a:t>
                  </a:r>
                  <a:endPar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36" name="矩形 35"/>
                <p:cNvSpPr/>
                <p:nvPr/>
              </p:nvSpPr>
              <p:spPr>
                <a:xfrm>
                  <a:off x="1677989" y="2999238"/>
                  <a:ext cx="3135457" cy="2526461"/>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2022</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年数字经济增加值达</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11874</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亿元，占</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GDP</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比重</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37%</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，增速</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14.4%</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电子信息制造业营收达</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10269</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亿元，锂电新能源、</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VR</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、物联网等赛道发展迅猛。</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数字经济核心产业企业数量增加，优势企业引领作用显现。</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34" name="椭圆 33"/>
              <p:cNvSpPr/>
              <p:nvPr/>
            </p:nvSpPr>
            <p:spPr>
              <a:xfrm>
                <a:off x="5128846" y="4762318"/>
                <a:ext cx="381000" cy="381000"/>
              </a:xfrm>
              <a:prstGeom prst="ellipse">
                <a:avLst/>
              </a:prstGeom>
              <a:gradFill flip="none" rotWithShape="1">
                <a:gsLst>
                  <a:gs pos="44925">
                    <a:srgbClr val="306DDE"/>
                  </a:gs>
                  <a:gs pos="6000">
                    <a:srgbClr val="3981E2">
                      <a:alpha val="73000"/>
                    </a:srgbClr>
                  </a:gs>
                  <a:gs pos="81000">
                    <a:srgbClr val="285BDB"/>
                  </a:gs>
                </a:gsLst>
                <a:lin ang="27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2</a:t>
                </a:r>
                <a:endParaRPr lang="zh-CN" altLang="en-US"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grpSp>
      </p:grpSp>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40" y="17659"/>
            <a:ext cx="3035360" cy="477361"/>
          </a:xfrm>
          <a:prstGeom prst="rect">
            <a:avLst/>
          </a:prstGeom>
          <a:noFill/>
          <a:effectLst/>
        </p:spPr>
        <p:txBody>
          <a:bodyPr wrap="square" lIns="106985" tIns="53492" rIns="106985" bIns="53492" rtlCol="0">
            <a:spAutoFit/>
          </a:bodyPr>
          <a:lstStyle/>
          <a:p>
            <a:pPr algn="dist"/>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数字经济发展现状</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2" name="组合 11"/>
          <p:cNvGrpSpPr/>
          <p:nvPr/>
        </p:nvGrpSpPr>
        <p:grpSpPr>
          <a:xfrm>
            <a:off x="10605916" y="-6858"/>
            <a:ext cx="1586085" cy="528405"/>
            <a:chOff x="10605916" y="5727392"/>
            <a:chExt cx="1586085" cy="528405"/>
          </a:xfrm>
        </p:grpSpPr>
        <p:sp>
          <p:nvSpPr>
            <p:cNvPr id="13" name="矩形 12"/>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4" name="文本框 13"/>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a:extLst>
              <a:ext uri="{28A0092B-C50C-407E-A947-70E740481C1C}">
                <a14:useLocalDpi xmlns:a14="http://schemas.microsoft.com/office/drawing/2010/main" val="0"/>
              </a:ext>
            </a:extLst>
          </a:blip>
          <a:srcRect l="30024" r="26663"/>
          <a:stretch>
            <a:fillRect/>
          </a:stretch>
        </p:blipFill>
        <p:spPr>
          <a:xfrm>
            <a:off x="7736378" y="0"/>
            <a:ext cx="4455622" cy="6858000"/>
          </a:xfrm>
          <a:custGeom>
            <a:avLst/>
            <a:gdLst>
              <a:gd name="connsiteX0" fmla="*/ 0 w 4455622"/>
              <a:gd name="connsiteY0" fmla="*/ 0 h 6858000"/>
              <a:gd name="connsiteX1" fmla="*/ 4455622 w 4455622"/>
              <a:gd name="connsiteY1" fmla="*/ 0 h 6858000"/>
              <a:gd name="connsiteX2" fmla="*/ 4455622 w 4455622"/>
              <a:gd name="connsiteY2" fmla="*/ 6858000 h 6858000"/>
              <a:gd name="connsiteX3" fmla="*/ 0 w 445562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55622" h="6858000">
                <a:moveTo>
                  <a:pt x="0" y="0"/>
                </a:moveTo>
                <a:lnTo>
                  <a:pt x="4455622" y="0"/>
                </a:lnTo>
                <a:lnTo>
                  <a:pt x="4455622" y="6858000"/>
                </a:lnTo>
                <a:lnTo>
                  <a:pt x="0" y="6858000"/>
                </a:lnTo>
                <a:close/>
              </a:path>
            </a:pathLst>
          </a:custGeom>
        </p:spPr>
      </p:pic>
      <p:sp>
        <p:nvSpPr>
          <p:cNvPr id="4" name="矩形: 圆角 3"/>
          <p:cNvSpPr/>
          <p:nvPr/>
        </p:nvSpPr>
        <p:spPr>
          <a:xfrm flipH="1">
            <a:off x="7736378" y="0"/>
            <a:ext cx="4455622" cy="6858000"/>
          </a:xfrm>
          <a:prstGeom prst="roundRect">
            <a:avLst>
              <a:gd name="adj" fmla="val 0"/>
            </a:avLst>
          </a:prstGeom>
          <a:gradFill flip="none" rotWithShape="1">
            <a:gsLst>
              <a:gs pos="43100">
                <a:srgbClr val="285BDB">
                  <a:alpha val="88000"/>
                </a:srgbClr>
              </a:gs>
              <a:gs pos="0">
                <a:srgbClr val="285BDB"/>
              </a:gs>
              <a:gs pos="100000">
                <a:srgbClr val="285BDB">
                  <a:alpha val="43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5" name="矩形: 圆角 4"/>
          <p:cNvSpPr/>
          <p:nvPr/>
        </p:nvSpPr>
        <p:spPr>
          <a:xfrm>
            <a:off x="533400" y="1088571"/>
            <a:ext cx="11125200" cy="4793474"/>
          </a:xfrm>
          <a:prstGeom prst="roundRect">
            <a:avLst>
              <a:gd name="adj" fmla="val 50000"/>
            </a:avLst>
          </a:prstGeom>
          <a:solidFill>
            <a:schemeClr val="bg1"/>
          </a:soli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mn-ea"/>
            </a:endParaRPr>
          </a:p>
        </p:txBody>
      </p:sp>
      <p:cxnSp>
        <p:nvCxnSpPr>
          <p:cNvPr id="6" name="直接连接符 5"/>
          <p:cNvCxnSpPr/>
          <p:nvPr/>
        </p:nvCxnSpPr>
        <p:spPr>
          <a:xfrm>
            <a:off x="11067631" y="438150"/>
            <a:ext cx="674918"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1170730" y="1935381"/>
            <a:ext cx="3012769" cy="3012769"/>
          </a:xfrm>
          <a:prstGeom prst="ellipse">
            <a:avLst/>
          </a:prstGeom>
          <a:solidFill>
            <a:srgbClr val="2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0" name="弧形 9"/>
          <p:cNvSpPr/>
          <p:nvPr/>
        </p:nvSpPr>
        <p:spPr>
          <a:xfrm>
            <a:off x="925405" y="1690056"/>
            <a:ext cx="3503420" cy="3503420"/>
          </a:xfrm>
          <a:prstGeom prst="arc">
            <a:avLst/>
          </a:prstGeom>
          <a:ln>
            <a:solidFill>
              <a:srgbClr val="285BD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1" name="椭圆 10"/>
          <p:cNvSpPr/>
          <p:nvPr/>
        </p:nvSpPr>
        <p:spPr>
          <a:xfrm>
            <a:off x="4359688" y="3446341"/>
            <a:ext cx="146357" cy="146356"/>
          </a:xfrm>
          <a:prstGeom prst="ellipse">
            <a:avLst/>
          </a:prstGeom>
          <a:solidFill>
            <a:srgbClr val="285BD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5" name="文本框 14"/>
          <p:cNvSpPr txBox="1"/>
          <p:nvPr>
            <p:custDataLst>
              <p:tags r:id="rId2"/>
            </p:custDataLst>
          </p:nvPr>
        </p:nvSpPr>
        <p:spPr>
          <a:xfrm flipH="1">
            <a:off x="4783700" y="2625244"/>
            <a:ext cx="6195783" cy="923330"/>
          </a:xfrm>
          <a:prstGeom prst="rect">
            <a:avLst/>
          </a:prstGeom>
          <a:noFill/>
        </p:spPr>
        <p:txBody>
          <a:bodyPr vert="horz" wrap="square" rtlCol="0">
            <a:spAutoFit/>
          </a:bodyPr>
          <a:lstStyle/>
          <a:p>
            <a:pPr algn="dist"/>
            <a:r>
              <a:rPr lang="zh-CN" altLang="en-US" sz="5400" dirty="0">
                <a:solidFill>
                  <a:srgbClr val="285BDB"/>
                </a:solidFill>
                <a:latin typeface="思源宋体 CN Heavy" panose="02020900000000000000" charset="-122"/>
                <a:ea typeface="思源宋体 CN Heavy" panose="02020900000000000000" charset="-122"/>
                <a:sym typeface="思源黑体 CN Medium" panose="020B0600000000000000" pitchFamily="34" charset="-122"/>
              </a:rPr>
              <a:t>数字经济的定义</a:t>
            </a:r>
            <a:endParaRPr lang="zh-CN" altLang="en-US" sz="5400" dirty="0">
              <a:solidFill>
                <a:srgbClr val="285BDB"/>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6" name="文本框 15"/>
          <p:cNvSpPr txBox="1"/>
          <p:nvPr>
            <p:custDataLst>
              <p:tags r:id="rId3"/>
            </p:custDataLst>
          </p:nvPr>
        </p:nvSpPr>
        <p:spPr>
          <a:xfrm flipH="1">
            <a:off x="4820830" y="1940441"/>
            <a:ext cx="6284079" cy="830997"/>
          </a:xfrm>
          <a:prstGeom prst="rect">
            <a:avLst/>
          </a:prstGeom>
          <a:noFill/>
        </p:spPr>
        <p:txBody>
          <a:bodyPr vert="horz" wrap="square" rtlCol="0">
            <a:spAutoFit/>
          </a:bodyPr>
          <a:lstStyle/>
          <a:p>
            <a:pPr algn="r"/>
            <a:r>
              <a:rPr lang="en-US" altLang="zh-CN" sz="2400" kern="100" dirty="0">
                <a:solidFill>
                  <a:srgbClr val="285BDB"/>
                </a:solidFill>
                <a:latin typeface="思源宋体 CN Heavy" panose="02020900000000000000" charset="-122"/>
                <a:ea typeface="思源宋体 CN Heavy" panose="02020900000000000000" charset="-122"/>
                <a:cs typeface="汉仪旗黑-50S" panose="00020600040101010101" charset="-122"/>
              </a:rPr>
              <a:t>Current Status of Digital Economy Development</a:t>
            </a:r>
            <a:endParaRPr lang="en-US" altLang="zh-CN" sz="2400" kern="100" dirty="0">
              <a:solidFill>
                <a:srgbClr val="285BDB"/>
              </a:solidFill>
              <a:latin typeface="思源宋体 CN Heavy" panose="02020900000000000000" charset="-122"/>
              <a:ea typeface="思源宋体 CN Heavy" panose="02020900000000000000" charset="-122"/>
              <a:cs typeface="汉仪旗黑-50S" panose="00020600040101010101" charset="-122"/>
            </a:endParaRPr>
          </a:p>
        </p:txBody>
      </p:sp>
      <p:sp>
        <p:nvSpPr>
          <p:cNvPr id="17" name="PA-文本框 88"/>
          <p:cNvSpPr txBox="1"/>
          <p:nvPr>
            <p:custDataLst>
              <p:tags r:id="rId4"/>
            </p:custDataLst>
          </p:nvPr>
        </p:nvSpPr>
        <p:spPr>
          <a:xfrm>
            <a:off x="4924632" y="4198994"/>
            <a:ext cx="5239031" cy="252762"/>
          </a:xfrm>
          <a:prstGeom prst="rect">
            <a:avLst/>
          </a:prstGeom>
          <a:noFill/>
        </p:spPr>
        <p:txBody>
          <a:bodyPr wrap="square" lIns="0" tIns="0" rIns="0" bIns="0" rtlCol="0">
            <a:spAutoFit/>
          </a:bodyPr>
          <a:lstStyle/>
          <a:p>
            <a:pPr algn="dist" hangingPunct="0">
              <a:lnSpc>
                <a:spcPct val="130000"/>
              </a:lnSpc>
            </a:pPr>
            <a:r>
              <a:rPr lang="en-US" altLang="zh-CN"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mn-lt"/>
              </a:rPr>
              <a:t> The Development Path of Digital Economy</a:t>
            </a:r>
            <a:endParaRPr lang="en-US" altLang="zh-CN"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mn-lt"/>
            </a:endParaRPr>
          </a:p>
        </p:txBody>
      </p:sp>
      <p:sp>
        <p:nvSpPr>
          <p:cNvPr id="19" name="任意多边形: 形状 18"/>
          <p:cNvSpPr/>
          <p:nvPr/>
        </p:nvSpPr>
        <p:spPr>
          <a:xfrm rot="5400000" flipV="1">
            <a:off x="10341316" y="5693885"/>
            <a:ext cx="355828" cy="944588"/>
          </a:xfrm>
          <a:custGeom>
            <a:avLst/>
            <a:gdLst>
              <a:gd name="connsiteX0" fmla="*/ 615788 w 659098"/>
              <a:gd name="connsiteY0" fmla="*/ 1663038 h 1749657"/>
              <a:gd name="connsiteX1" fmla="*/ 659098 w 659098"/>
              <a:gd name="connsiteY1" fmla="*/ 1706348 h 1749657"/>
              <a:gd name="connsiteX2" fmla="*/ 615788 w 659098"/>
              <a:gd name="connsiteY2" fmla="*/ 1749657 h 1749657"/>
              <a:gd name="connsiteX3" fmla="*/ 572478 w 659098"/>
              <a:gd name="connsiteY3" fmla="*/ 1706348 h 1749657"/>
              <a:gd name="connsiteX4" fmla="*/ 615788 w 659098"/>
              <a:gd name="connsiteY4" fmla="*/ 1663038 h 1749657"/>
              <a:gd name="connsiteX5" fmla="*/ 424962 w 659098"/>
              <a:gd name="connsiteY5" fmla="*/ 1663038 h 1749657"/>
              <a:gd name="connsiteX6" fmla="*/ 468272 w 659098"/>
              <a:gd name="connsiteY6" fmla="*/ 1706348 h 1749657"/>
              <a:gd name="connsiteX7" fmla="*/ 424962 w 659098"/>
              <a:gd name="connsiteY7" fmla="*/ 1749657 h 1749657"/>
              <a:gd name="connsiteX8" fmla="*/ 381652 w 659098"/>
              <a:gd name="connsiteY8" fmla="*/ 1706348 h 1749657"/>
              <a:gd name="connsiteX9" fmla="*/ 424962 w 659098"/>
              <a:gd name="connsiteY9" fmla="*/ 1663038 h 1749657"/>
              <a:gd name="connsiteX10" fmla="*/ 234136 w 659098"/>
              <a:gd name="connsiteY10" fmla="*/ 1663038 h 1749657"/>
              <a:gd name="connsiteX11" fmla="*/ 277446 w 659098"/>
              <a:gd name="connsiteY11" fmla="*/ 1706348 h 1749657"/>
              <a:gd name="connsiteX12" fmla="*/ 234136 w 659098"/>
              <a:gd name="connsiteY12" fmla="*/ 1749657 h 1749657"/>
              <a:gd name="connsiteX13" fmla="*/ 190826 w 659098"/>
              <a:gd name="connsiteY13" fmla="*/ 1706348 h 1749657"/>
              <a:gd name="connsiteX14" fmla="*/ 234136 w 659098"/>
              <a:gd name="connsiteY14" fmla="*/ 1663038 h 1749657"/>
              <a:gd name="connsiteX15" fmla="*/ 43310 w 659098"/>
              <a:gd name="connsiteY15" fmla="*/ 1663038 h 1749657"/>
              <a:gd name="connsiteX16" fmla="*/ 86619 w 659098"/>
              <a:gd name="connsiteY16" fmla="*/ 1706348 h 1749657"/>
              <a:gd name="connsiteX17" fmla="*/ 43310 w 659098"/>
              <a:gd name="connsiteY17" fmla="*/ 1749657 h 1749657"/>
              <a:gd name="connsiteX18" fmla="*/ 0 w 659098"/>
              <a:gd name="connsiteY18" fmla="*/ 1706348 h 1749657"/>
              <a:gd name="connsiteX19" fmla="*/ 43310 w 659098"/>
              <a:gd name="connsiteY19" fmla="*/ 1663038 h 1749657"/>
              <a:gd name="connsiteX20" fmla="*/ 615788 w 659098"/>
              <a:gd name="connsiteY20" fmla="*/ 1385865 h 1749657"/>
              <a:gd name="connsiteX21" fmla="*/ 659098 w 659098"/>
              <a:gd name="connsiteY21" fmla="*/ 1429175 h 1749657"/>
              <a:gd name="connsiteX22" fmla="*/ 615788 w 659098"/>
              <a:gd name="connsiteY22" fmla="*/ 1472484 h 1749657"/>
              <a:gd name="connsiteX23" fmla="*/ 572478 w 659098"/>
              <a:gd name="connsiteY23" fmla="*/ 1429175 h 1749657"/>
              <a:gd name="connsiteX24" fmla="*/ 615788 w 659098"/>
              <a:gd name="connsiteY24" fmla="*/ 1385865 h 1749657"/>
              <a:gd name="connsiteX25" fmla="*/ 424962 w 659098"/>
              <a:gd name="connsiteY25" fmla="*/ 1385865 h 1749657"/>
              <a:gd name="connsiteX26" fmla="*/ 468272 w 659098"/>
              <a:gd name="connsiteY26" fmla="*/ 1429175 h 1749657"/>
              <a:gd name="connsiteX27" fmla="*/ 424962 w 659098"/>
              <a:gd name="connsiteY27" fmla="*/ 1472484 h 1749657"/>
              <a:gd name="connsiteX28" fmla="*/ 381652 w 659098"/>
              <a:gd name="connsiteY28" fmla="*/ 1429175 h 1749657"/>
              <a:gd name="connsiteX29" fmla="*/ 424962 w 659098"/>
              <a:gd name="connsiteY29" fmla="*/ 1385865 h 1749657"/>
              <a:gd name="connsiteX30" fmla="*/ 234136 w 659098"/>
              <a:gd name="connsiteY30" fmla="*/ 1385865 h 1749657"/>
              <a:gd name="connsiteX31" fmla="*/ 277446 w 659098"/>
              <a:gd name="connsiteY31" fmla="*/ 1429175 h 1749657"/>
              <a:gd name="connsiteX32" fmla="*/ 234136 w 659098"/>
              <a:gd name="connsiteY32" fmla="*/ 1472484 h 1749657"/>
              <a:gd name="connsiteX33" fmla="*/ 190826 w 659098"/>
              <a:gd name="connsiteY33" fmla="*/ 1429175 h 1749657"/>
              <a:gd name="connsiteX34" fmla="*/ 234136 w 659098"/>
              <a:gd name="connsiteY34" fmla="*/ 1385865 h 1749657"/>
              <a:gd name="connsiteX35" fmla="*/ 43310 w 659098"/>
              <a:gd name="connsiteY35" fmla="*/ 1385865 h 1749657"/>
              <a:gd name="connsiteX36" fmla="*/ 86619 w 659098"/>
              <a:gd name="connsiteY36" fmla="*/ 1429175 h 1749657"/>
              <a:gd name="connsiteX37" fmla="*/ 43310 w 659098"/>
              <a:gd name="connsiteY37" fmla="*/ 1472484 h 1749657"/>
              <a:gd name="connsiteX38" fmla="*/ 0 w 659098"/>
              <a:gd name="connsiteY38" fmla="*/ 1429175 h 1749657"/>
              <a:gd name="connsiteX39" fmla="*/ 43310 w 659098"/>
              <a:gd name="connsiteY39" fmla="*/ 1385865 h 1749657"/>
              <a:gd name="connsiteX40" fmla="*/ 615788 w 659098"/>
              <a:gd name="connsiteY40" fmla="*/ 1108692 h 1749657"/>
              <a:gd name="connsiteX41" fmla="*/ 659098 w 659098"/>
              <a:gd name="connsiteY41" fmla="*/ 1152002 h 1749657"/>
              <a:gd name="connsiteX42" fmla="*/ 615788 w 659098"/>
              <a:gd name="connsiteY42" fmla="*/ 1195311 h 1749657"/>
              <a:gd name="connsiteX43" fmla="*/ 572478 w 659098"/>
              <a:gd name="connsiteY43" fmla="*/ 1152002 h 1749657"/>
              <a:gd name="connsiteX44" fmla="*/ 615788 w 659098"/>
              <a:gd name="connsiteY44" fmla="*/ 1108692 h 1749657"/>
              <a:gd name="connsiteX45" fmla="*/ 424962 w 659098"/>
              <a:gd name="connsiteY45" fmla="*/ 1108692 h 1749657"/>
              <a:gd name="connsiteX46" fmla="*/ 468272 w 659098"/>
              <a:gd name="connsiteY46" fmla="*/ 1152002 h 1749657"/>
              <a:gd name="connsiteX47" fmla="*/ 424962 w 659098"/>
              <a:gd name="connsiteY47" fmla="*/ 1195311 h 1749657"/>
              <a:gd name="connsiteX48" fmla="*/ 381652 w 659098"/>
              <a:gd name="connsiteY48" fmla="*/ 1152002 h 1749657"/>
              <a:gd name="connsiteX49" fmla="*/ 424962 w 659098"/>
              <a:gd name="connsiteY49" fmla="*/ 1108692 h 1749657"/>
              <a:gd name="connsiteX50" fmla="*/ 234136 w 659098"/>
              <a:gd name="connsiteY50" fmla="*/ 1108692 h 1749657"/>
              <a:gd name="connsiteX51" fmla="*/ 277446 w 659098"/>
              <a:gd name="connsiteY51" fmla="*/ 1152002 h 1749657"/>
              <a:gd name="connsiteX52" fmla="*/ 234136 w 659098"/>
              <a:gd name="connsiteY52" fmla="*/ 1195311 h 1749657"/>
              <a:gd name="connsiteX53" fmla="*/ 190826 w 659098"/>
              <a:gd name="connsiteY53" fmla="*/ 1152002 h 1749657"/>
              <a:gd name="connsiteX54" fmla="*/ 234136 w 659098"/>
              <a:gd name="connsiteY54" fmla="*/ 1108692 h 1749657"/>
              <a:gd name="connsiteX55" fmla="*/ 43310 w 659098"/>
              <a:gd name="connsiteY55" fmla="*/ 1108692 h 1749657"/>
              <a:gd name="connsiteX56" fmla="*/ 86619 w 659098"/>
              <a:gd name="connsiteY56" fmla="*/ 1152002 h 1749657"/>
              <a:gd name="connsiteX57" fmla="*/ 43310 w 659098"/>
              <a:gd name="connsiteY57" fmla="*/ 1195311 h 1749657"/>
              <a:gd name="connsiteX58" fmla="*/ 0 w 659098"/>
              <a:gd name="connsiteY58" fmla="*/ 1152002 h 1749657"/>
              <a:gd name="connsiteX59" fmla="*/ 43310 w 659098"/>
              <a:gd name="connsiteY59" fmla="*/ 1108692 h 1749657"/>
              <a:gd name="connsiteX60" fmla="*/ 615788 w 659098"/>
              <a:gd name="connsiteY60" fmla="*/ 831519 h 1749657"/>
              <a:gd name="connsiteX61" fmla="*/ 659098 w 659098"/>
              <a:gd name="connsiteY61" fmla="*/ 874829 h 1749657"/>
              <a:gd name="connsiteX62" fmla="*/ 615788 w 659098"/>
              <a:gd name="connsiteY62" fmla="*/ 918138 h 1749657"/>
              <a:gd name="connsiteX63" fmla="*/ 572478 w 659098"/>
              <a:gd name="connsiteY63" fmla="*/ 874829 h 1749657"/>
              <a:gd name="connsiteX64" fmla="*/ 615788 w 659098"/>
              <a:gd name="connsiteY64" fmla="*/ 831519 h 1749657"/>
              <a:gd name="connsiteX65" fmla="*/ 424962 w 659098"/>
              <a:gd name="connsiteY65" fmla="*/ 831519 h 1749657"/>
              <a:gd name="connsiteX66" fmla="*/ 468272 w 659098"/>
              <a:gd name="connsiteY66" fmla="*/ 874829 h 1749657"/>
              <a:gd name="connsiteX67" fmla="*/ 424962 w 659098"/>
              <a:gd name="connsiteY67" fmla="*/ 918138 h 1749657"/>
              <a:gd name="connsiteX68" fmla="*/ 381652 w 659098"/>
              <a:gd name="connsiteY68" fmla="*/ 874829 h 1749657"/>
              <a:gd name="connsiteX69" fmla="*/ 424962 w 659098"/>
              <a:gd name="connsiteY69" fmla="*/ 831519 h 1749657"/>
              <a:gd name="connsiteX70" fmla="*/ 234136 w 659098"/>
              <a:gd name="connsiteY70" fmla="*/ 831519 h 1749657"/>
              <a:gd name="connsiteX71" fmla="*/ 277446 w 659098"/>
              <a:gd name="connsiteY71" fmla="*/ 874829 h 1749657"/>
              <a:gd name="connsiteX72" fmla="*/ 234136 w 659098"/>
              <a:gd name="connsiteY72" fmla="*/ 918138 h 1749657"/>
              <a:gd name="connsiteX73" fmla="*/ 190826 w 659098"/>
              <a:gd name="connsiteY73" fmla="*/ 874829 h 1749657"/>
              <a:gd name="connsiteX74" fmla="*/ 234136 w 659098"/>
              <a:gd name="connsiteY74" fmla="*/ 831519 h 1749657"/>
              <a:gd name="connsiteX75" fmla="*/ 43310 w 659098"/>
              <a:gd name="connsiteY75" fmla="*/ 831519 h 1749657"/>
              <a:gd name="connsiteX76" fmla="*/ 86619 w 659098"/>
              <a:gd name="connsiteY76" fmla="*/ 874829 h 1749657"/>
              <a:gd name="connsiteX77" fmla="*/ 43310 w 659098"/>
              <a:gd name="connsiteY77" fmla="*/ 918138 h 1749657"/>
              <a:gd name="connsiteX78" fmla="*/ 0 w 659098"/>
              <a:gd name="connsiteY78" fmla="*/ 874829 h 1749657"/>
              <a:gd name="connsiteX79" fmla="*/ 43310 w 659098"/>
              <a:gd name="connsiteY79" fmla="*/ 831519 h 1749657"/>
              <a:gd name="connsiteX80" fmla="*/ 43310 w 659098"/>
              <a:gd name="connsiteY80" fmla="*/ 554348 h 1749657"/>
              <a:gd name="connsiteX81" fmla="*/ 86619 w 659098"/>
              <a:gd name="connsiteY81" fmla="*/ 597658 h 1749657"/>
              <a:gd name="connsiteX82" fmla="*/ 43310 w 659098"/>
              <a:gd name="connsiteY82" fmla="*/ 640965 h 1749657"/>
              <a:gd name="connsiteX83" fmla="*/ 0 w 659098"/>
              <a:gd name="connsiteY83" fmla="*/ 597658 h 1749657"/>
              <a:gd name="connsiteX84" fmla="*/ 43310 w 659098"/>
              <a:gd name="connsiteY84" fmla="*/ 554348 h 1749657"/>
              <a:gd name="connsiteX85" fmla="*/ 615788 w 659098"/>
              <a:gd name="connsiteY85" fmla="*/ 554346 h 1749657"/>
              <a:gd name="connsiteX86" fmla="*/ 659098 w 659098"/>
              <a:gd name="connsiteY86" fmla="*/ 597656 h 1749657"/>
              <a:gd name="connsiteX87" fmla="*/ 615788 w 659098"/>
              <a:gd name="connsiteY87" fmla="*/ 640965 h 1749657"/>
              <a:gd name="connsiteX88" fmla="*/ 572478 w 659098"/>
              <a:gd name="connsiteY88" fmla="*/ 597656 h 1749657"/>
              <a:gd name="connsiteX89" fmla="*/ 615788 w 659098"/>
              <a:gd name="connsiteY89" fmla="*/ 554346 h 1749657"/>
              <a:gd name="connsiteX90" fmla="*/ 424962 w 659098"/>
              <a:gd name="connsiteY90" fmla="*/ 554346 h 1749657"/>
              <a:gd name="connsiteX91" fmla="*/ 468272 w 659098"/>
              <a:gd name="connsiteY91" fmla="*/ 597656 h 1749657"/>
              <a:gd name="connsiteX92" fmla="*/ 424962 w 659098"/>
              <a:gd name="connsiteY92" fmla="*/ 640965 h 1749657"/>
              <a:gd name="connsiteX93" fmla="*/ 381652 w 659098"/>
              <a:gd name="connsiteY93" fmla="*/ 597656 h 1749657"/>
              <a:gd name="connsiteX94" fmla="*/ 424962 w 659098"/>
              <a:gd name="connsiteY94" fmla="*/ 554346 h 1749657"/>
              <a:gd name="connsiteX95" fmla="*/ 234136 w 659098"/>
              <a:gd name="connsiteY95" fmla="*/ 554346 h 1749657"/>
              <a:gd name="connsiteX96" fmla="*/ 277446 w 659098"/>
              <a:gd name="connsiteY96" fmla="*/ 597656 h 1749657"/>
              <a:gd name="connsiteX97" fmla="*/ 234136 w 659098"/>
              <a:gd name="connsiteY97" fmla="*/ 640965 h 1749657"/>
              <a:gd name="connsiteX98" fmla="*/ 190826 w 659098"/>
              <a:gd name="connsiteY98" fmla="*/ 597656 h 1749657"/>
              <a:gd name="connsiteX99" fmla="*/ 234136 w 659098"/>
              <a:gd name="connsiteY99" fmla="*/ 554346 h 1749657"/>
              <a:gd name="connsiteX100" fmla="*/ 615788 w 659098"/>
              <a:gd name="connsiteY100" fmla="*/ 277173 h 1749657"/>
              <a:gd name="connsiteX101" fmla="*/ 659098 w 659098"/>
              <a:gd name="connsiteY101" fmla="*/ 320483 h 1749657"/>
              <a:gd name="connsiteX102" fmla="*/ 615788 w 659098"/>
              <a:gd name="connsiteY102" fmla="*/ 363792 h 1749657"/>
              <a:gd name="connsiteX103" fmla="*/ 572478 w 659098"/>
              <a:gd name="connsiteY103" fmla="*/ 320483 h 1749657"/>
              <a:gd name="connsiteX104" fmla="*/ 615788 w 659098"/>
              <a:gd name="connsiteY104" fmla="*/ 277173 h 1749657"/>
              <a:gd name="connsiteX105" fmla="*/ 424962 w 659098"/>
              <a:gd name="connsiteY105" fmla="*/ 277173 h 1749657"/>
              <a:gd name="connsiteX106" fmla="*/ 468272 w 659098"/>
              <a:gd name="connsiteY106" fmla="*/ 320483 h 1749657"/>
              <a:gd name="connsiteX107" fmla="*/ 424962 w 659098"/>
              <a:gd name="connsiteY107" fmla="*/ 363792 h 1749657"/>
              <a:gd name="connsiteX108" fmla="*/ 381652 w 659098"/>
              <a:gd name="connsiteY108" fmla="*/ 320483 h 1749657"/>
              <a:gd name="connsiteX109" fmla="*/ 424962 w 659098"/>
              <a:gd name="connsiteY109" fmla="*/ 277173 h 1749657"/>
              <a:gd name="connsiteX110" fmla="*/ 234136 w 659098"/>
              <a:gd name="connsiteY110" fmla="*/ 277173 h 1749657"/>
              <a:gd name="connsiteX111" fmla="*/ 277446 w 659098"/>
              <a:gd name="connsiteY111" fmla="*/ 320483 h 1749657"/>
              <a:gd name="connsiteX112" fmla="*/ 234136 w 659098"/>
              <a:gd name="connsiteY112" fmla="*/ 363792 h 1749657"/>
              <a:gd name="connsiteX113" fmla="*/ 190826 w 659098"/>
              <a:gd name="connsiteY113" fmla="*/ 320483 h 1749657"/>
              <a:gd name="connsiteX114" fmla="*/ 234136 w 659098"/>
              <a:gd name="connsiteY114" fmla="*/ 277173 h 1749657"/>
              <a:gd name="connsiteX115" fmla="*/ 43310 w 659098"/>
              <a:gd name="connsiteY115" fmla="*/ 277173 h 1749657"/>
              <a:gd name="connsiteX116" fmla="*/ 86619 w 659098"/>
              <a:gd name="connsiteY116" fmla="*/ 320483 h 1749657"/>
              <a:gd name="connsiteX117" fmla="*/ 43310 w 659098"/>
              <a:gd name="connsiteY117" fmla="*/ 363792 h 1749657"/>
              <a:gd name="connsiteX118" fmla="*/ 0 w 659098"/>
              <a:gd name="connsiteY118" fmla="*/ 320483 h 1749657"/>
              <a:gd name="connsiteX119" fmla="*/ 43310 w 659098"/>
              <a:gd name="connsiteY119" fmla="*/ 277173 h 1749657"/>
              <a:gd name="connsiteX120" fmla="*/ 615788 w 659098"/>
              <a:gd name="connsiteY120" fmla="*/ 0 h 1749657"/>
              <a:gd name="connsiteX121" fmla="*/ 659098 w 659098"/>
              <a:gd name="connsiteY121" fmla="*/ 43310 h 1749657"/>
              <a:gd name="connsiteX122" fmla="*/ 615788 w 659098"/>
              <a:gd name="connsiteY122" fmla="*/ 86619 h 1749657"/>
              <a:gd name="connsiteX123" fmla="*/ 572478 w 659098"/>
              <a:gd name="connsiteY123" fmla="*/ 43310 h 1749657"/>
              <a:gd name="connsiteX124" fmla="*/ 615788 w 659098"/>
              <a:gd name="connsiteY124" fmla="*/ 0 h 1749657"/>
              <a:gd name="connsiteX125" fmla="*/ 424962 w 659098"/>
              <a:gd name="connsiteY125" fmla="*/ 0 h 1749657"/>
              <a:gd name="connsiteX126" fmla="*/ 468272 w 659098"/>
              <a:gd name="connsiteY126" fmla="*/ 43310 h 1749657"/>
              <a:gd name="connsiteX127" fmla="*/ 424962 w 659098"/>
              <a:gd name="connsiteY127" fmla="*/ 86619 h 1749657"/>
              <a:gd name="connsiteX128" fmla="*/ 381652 w 659098"/>
              <a:gd name="connsiteY128" fmla="*/ 43310 h 1749657"/>
              <a:gd name="connsiteX129" fmla="*/ 424962 w 659098"/>
              <a:gd name="connsiteY129" fmla="*/ 0 h 1749657"/>
              <a:gd name="connsiteX130" fmla="*/ 234136 w 659098"/>
              <a:gd name="connsiteY130" fmla="*/ 0 h 1749657"/>
              <a:gd name="connsiteX131" fmla="*/ 277446 w 659098"/>
              <a:gd name="connsiteY131" fmla="*/ 43310 h 1749657"/>
              <a:gd name="connsiteX132" fmla="*/ 234136 w 659098"/>
              <a:gd name="connsiteY132" fmla="*/ 86619 h 1749657"/>
              <a:gd name="connsiteX133" fmla="*/ 190826 w 659098"/>
              <a:gd name="connsiteY133" fmla="*/ 43310 h 1749657"/>
              <a:gd name="connsiteX134" fmla="*/ 234136 w 659098"/>
              <a:gd name="connsiteY134" fmla="*/ 0 h 1749657"/>
              <a:gd name="connsiteX135" fmla="*/ 43310 w 659098"/>
              <a:gd name="connsiteY135" fmla="*/ 0 h 1749657"/>
              <a:gd name="connsiteX136" fmla="*/ 86619 w 659098"/>
              <a:gd name="connsiteY136" fmla="*/ 43310 h 1749657"/>
              <a:gd name="connsiteX137" fmla="*/ 43310 w 659098"/>
              <a:gd name="connsiteY137" fmla="*/ 86619 h 1749657"/>
              <a:gd name="connsiteX138" fmla="*/ 0 w 659098"/>
              <a:gd name="connsiteY138" fmla="*/ 43310 h 1749657"/>
              <a:gd name="connsiteX139" fmla="*/ 43310 w 659098"/>
              <a:gd name="connsiteY139" fmla="*/ 0 h 17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59098" h="1749657">
                <a:moveTo>
                  <a:pt x="615788" y="1663038"/>
                </a:moveTo>
                <a:cubicBezTo>
                  <a:pt x="639708" y="1663038"/>
                  <a:pt x="659098" y="1682427"/>
                  <a:pt x="659098" y="1706348"/>
                </a:cubicBezTo>
                <a:cubicBezTo>
                  <a:pt x="659098" y="1730268"/>
                  <a:pt x="639708" y="1749657"/>
                  <a:pt x="615788" y="1749657"/>
                </a:cubicBezTo>
                <a:cubicBezTo>
                  <a:pt x="591868" y="1749657"/>
                  <a:pt x="572478" y="1730268"/>
                  <a:pt x="572478" y="1706348"/>
                </a:cubicBezTo>
                <a:cubicBezTo>
                  <a:pt x="572478" y="1682427"/>
                  <a:pt x="591868" y="1663038"/>
                  <a:pt x="615788" y="1663038"/>
                </a:cubicBezTo>
                <a:close/>
                <a:moveTo>
                  <a:pt x="424962" y="1663038"/>
                </a:moveTo>
                <a:cubicBezTo>
                  <a:pt x="448882" y="1663038"/>
                  <a:pt x="468272" y="1682427"/>
                  <a:pt x="468272" y="1706348"/>
                </a:cubicBezTo>
                <a:cubicBezTo>
                  <a:pt x="468272" y="1730268"/>
                  <a:pt x="448882" y="1749657"/>
                  <a:pt x="424962" y="1749657"/>
                </a:cubicBezTo>
                <a:cubicBezTo>
                  <a:pt x="401042" y="1749657"/>
                  <a:pt x="381652" y="1730268"/>
                  <a:pt x="381652" y="1706348"/>
                </a:cubicBezTo>
                <a:cubicBezTo>
                  <a:pt x="381652" y="1682427"/>
                  <a:pt x="401042" y="1663038"/>
                  <a:pt x="424962" y="1663038"/>
                </a:cubicBezTo>
                <a:close/>
                <a:moveTo>
                  <a:pt x="234136" y="1663038"/>
                </a:moveTo>
                <a:cubicBezTo>
                  <a:pt x="258056" y="1663038"/>
                  <a:pt x="277446" y="1682427"/>
                  <a:pt x="277446" y="1706348"/>
                </a:cubicBezTo>
                <a:cubicBezTo>
                  <a:pt x="277446" y="1730268"/>
                  <a:pt x="258056" y="1749657"/>
                  <a:pt x="234136" y="1749657"/>
                </a:cubicBezTo>
                <a:cubicBezTo>
                  <a:pt x="210216" y="1749657"/>
                  <a:pt x="190826" y="1730268"/>
                  <a:pt x="190826" y="1706348"/>
                </a:cubicBezTo>
                <a:cubicBezTo>
                  <a:pt x="190826" y="1682427"/>
                  <a:pt x="210216" y="1663038"/>
                  <a:pt x="234136" y="1663038"/>
                </a:cubicBezTo>
                <a:close/>
                <a:moveTo>
                  <a:pt x="43310" y="1663038"/>
                </a:moveTo>
                <a:cubicBezTo>
                  <a:pt x="67230" y="1663038"/>
                  <a:pt x="86619" y="1682427"/>
                  <a:pt x="86619" y="1706348"/>
                </a:cubicBezTo>
                <a:cubicBezTo>
                  <a:pt x="86619" y="1730268"/>
                  <a:pt x="67230" y="1749657"/>
                  <a:pt x="43310" y="1749657"/>
                </a:cubicBezTo>
                <a:cubicBezTo>
                  <a:pt x="19390" y="1749657"/>
                  <a:pt x="0" y="1730268"/>
                  <a:pt x="0" y="1706348"/>
                </a:cubicBezTo>
                <a:cubicBezTo>
                  <a:pt x="0" y="1682427"/>
                  <a:pt x="19390" y="1663038"/>
                  <a:pt x="43310" y="1663038"/>
                </a:cubicBezTo>
                <a:close/>
                <a:moveTo>
                  <a:pt x="615788" y="1385865"/>
                </a:moveTo>
                <a:cubicBezTo>
                  <a:pt x="639708" y="1385865"/>
                  <a:pt x="659098" y="1405255"/>
                  <a:pt x="659098" y="1429175"/>
                </a:cubicBezTo>
                <a:cubicBezTo>
                  <a:pt x="659098" y="1453095"/>
                  <a:pt x="639708" y="1472484"/>
                  <a:pt x="615788" y="1472484"/>
                </a:cubicBezTo>
                <a:cubicBezTo>
                  <a:pt x="591868" y="1472484"/>
                  <a:pt x="572478" y="1453095"/>
                  <a:pt x="572478" y="1429175"/>
                </a:cubicBezTo>
                <a:cubicBezTo>
                  <a:pt x="572478" y="1405255"/>
                  <a:pt x="591868" y="1385865"/>
                  <a:pt x="615788" y="1385865"/>
                </a:cubicBezTo>
                <a:close/>
                <a:moveTo>
                  <a:pt x="424962" y="1385865"/>
                </a:moveTo>
                <a:cubicBezTo>
                  <a:pt x="448882" y="1385865"/>
                  <a:pt x="468272" y="1405255"/>
                  <a:pt x="468272" y="1429175"/>
                </a:cubicBezTo>
                <a:cubicBezTo>
                  <a:pt x="468272" y="1453095"/>
                  <a:pt x="448882" y="1472484"/>
                  <a:pt x="424962" y="1472484"/>
                </a:cubicBezTo>
                <a:cubicBezTo>
                  <a:pt x="401042" y="1472484"/>
                  <a:pt x="381652" y="1453095"/>
                  <a:pt x="381652" y="1429175"/>
                </a:cubicBezTo>
                <a:cubicBezTo>
                  <a:pt x="381652" y="1405255"/>
                  <a:pt x="401042" y="1385865"/>
                  <a:pt x="424962" y="1385865"/>
                </a:cubicBezTo>
                <a:close/>
                <a:moveTo>
                  <a:pt x="234136" y="1385865"/>
                </a:moveTo>
                <a:cubicBezTo>
                  <a:pt x="258056" y="1385865"/>
                  <a:pt x="277446" y="1405255"/>
                  <a:pt x="277446" y="1429175"/>
                </a:cubicBezTo>
                <a:cubicBezTo>
                  <a:pt x="277446" y="1453095"/>
                  <a:pt x="258056" y="1472484"/>
                  <a:pt x="234136" y="1472484"/>
                </a:cubicBezTo>
                <a:cubicBezTo>
                  <a:pt x="210216" y="1472484"/>
                  <a:pt x="190826" y="1453095"/>
                  <a:pt x="190826" y="1429175"/>
                </a:cubicBezTo>
                <a:cubicBezTo>
                  <a:pt x="190826" y="1405255"/>
                  <a:pt x="210216" y="1385865"/>
                  <a:pt x="234136" y="1385865"/>
                </a:cubicBezTo>
                <a:close/>
                <a:moveTo>
                  <a:pt x="43310" y="1385865"/>
                </a:moveTo>
                <a:cubicBezTo>
                  <a:pt x="67230" y="1385865"/>
                  <a:pt x="86619" y="1405255"/>
                  <a:pt x="86619" y="1429175"/>
                </a:cubicBezTo>
                <a:cubicBezTo>
                  <a:pt x="86619" y="1453095"/>
                  <a:pt x="67230" y="1472484"/>
                  <a:pt x="43310" y="1472484"/>
                </a:cubicBezTo>
                <a:cubicBezTo>
                  <a:pt x="19390" y="1472484"/>
                  <a:pt x="0" y="1453095"/>
                  <a:pt x="0" y="1429175"/>
                </a:cubicBezTo>
                <a:cubicBezTo>
                  <a:pt x="0" y="1405255"/>
                  <a:pt x="19390" y="1385865"/>
                  <a:pt x="43310" y="1385865"/>
                </a:cubicBezTo>
                <a:close/>
                <a:moveTo>
                  <a:pt x="615788" y="1108692"/>
                </a:moveTo>
                <a:cubicBezTo>
                  <a:pt x="639708" y="1108692"/>
                  <a:pt x="659098" y="1128082"/>
                  <a:pt x="659098" y="1152002"/>
                </a:cubicBezTo>
                <a:cubicBezTo>
                  <a:pt x="659098" y="1175922"/>
                  <a:pt x="639708" y="1195311"/>
                  <a:pt x="615788" y="1195311"/>
                </a:cubicBezTo>
                <a:cubicBezTo>
                  <a:pt x="591868" y="1195311"/>
                  <a:pt x="572478" y="1175922"/>
                  <a:pt x="572478" y="1152002"/>
                </a:cubicBezTo>
                <a:cubicBezTo>
                  <a:pt x="572478" y="1128082"/>
                  <a:pt x="591868" y="1108692"/>
                  <a:pt x="615788" y="1108692"/>
                </a:cubicBezTo>
                <a:close/>
                <a:moveTo>
                  <a:pt x="424962" y="1108692"/>
                </a:moveTo>
                <a:cubicBezTo>
                  <a:pt x="448882" y="1108692"/>
                  <a:pt x="468272" y="1128082"/>
                  <a:pt x="468272" y="1152002"/>
                </a:cubicBezTo>
                <a:cubicBezTo>
                  <a:pt x="468272" y="1175922"/>
                  <a:pt x="448882" y="1195311"/>
                  <a:pt x="424962" y="1195311"/>
                </a:cubicBezTo>
                <a:cubicBezTo>
                  <a:pt x="401042" y="1195311"/>
                  <a:pt x="381652" y="1175922"/>
                  <a:pt x="381652" y="1152002"/>
                </a:cubicBezTo>
                <a:cubicBezTo>
                  <a:pt x="381652" y="1128082"/>
                  <a:pt x="401042" y="1108692"/>
                  <a:pt x="424962" y="1108692"/>
                </a:cubicBezTo>
                <a:close/>
                <a:moveTo>
                  <a:pt x="234136" y="1108692"/>
                </a:moveTo>
                <a:cubicBezTo>
                  <a:pt x="258056" y="1108692"/>
                  <a:pt x="277446" y="1128082"/>
                  <a:pt x="277446" y="1152002"/>
                </a:cubicBezTo>
                <a:cubicBezTo>
                  <a:pt x="277446" y="1175922"/>
                  <a:pt x="258056" y="1195311"/>
                  <a:pt x="234136" y="1195311"/>
                </a:cubicBezTo>
                <a:cubicBezTo>
                  <a:pt x="210216" y="1195311"/>
                  <a:pt x="190826" y="1175922"/>
                  <a:pt x="190826" y="1152002"/>
                </a:cubicBezTo>
                <a:cubicBezTo>
                  <a:pt x="190826" y="1128082"/>
                  <a:pt x="210216" y="1108692"/>
                  <a:pt x="234136" y="1108692"/>
                </a:cubicBezTo>
                <a:close/>
                <a:moveTo>
                  <a:pt x="43310" y="1108692"/>
                </a:moveTo>
                <a:cubicBezTo>
                  <a:pt x="67230" y="1108692"/>
                  <a:pt x="86619" y="1128082"/>
                  <a:pt x="86619" y="1152002"/>
                </a:cubicBezTo>
                <a:cubicBezTo>
                  <a:pt x="86619" y="1175922"/>
                  <a:pt x="67230" y="1195311"/>
                  <a:pt x="43310" y="1195311"/>
                </a:cubicBezTo>
                <a:cubicBezTo>
                  <a:pt x="19390" y="1195311"/>
                  <a:pt x="0" y="1175922"/>
                  <a:pt x="0" y="1152002"/>
                </a:cubicBezTo>
                <a:cubicBezTo>
                  <a:pt x="0" y="1128082"/>
                  <a:pt x="19390" y="1108692"/>
                  <a:pt x="43310" y="1108692"/>
                </a:cubicBezTo>
                <a:close/>
                <a:moveTo>
                  <a:pt x="615788" y="831519"/>
                </a:moveTo>
                <a:cubicBezTo>
                  <a:pt x="639708" y="831519"/>
                  <a:pt x="659098" y="850909"/>
                  <a:pt x="659098" y="874829"/>
                </a:cubicBezTo>
                <a:cubicBezTo>
                  <a:pt x="659098" y="898749"/>
                  <a:pt x="639708" y="918138"/>
                  <a:pt x="615788" y="918138"/>
                </a:cubicBezTo>
                <a:cubicBezTo>
                  <a:pt x="591868" y="918138"/>
                  <a:pt x="572478" y="898749"/>
                  <a:pt x="572478" y="874829"/>
                </a:cubicBezTo>
                <a:cubicBezTo>
                  <a:pt x="572478" y="850909"/>
                  <a:pt x="591868" y="831519"/>
                  <a:pt x="615788" y="831519"/>
                </a:cubicBezTo>
                <a:close/>
                <a:moveTo>
                  <a:pt x="424962" y="831519"/>
                </a:moveTo>
                <a:cubicBezTo>
                  <a:pt x="448882" y="831519"/>
                  <a:pt x="468272" y="850909"/>
                  <a:pt x="468272" y="874829"/>
                </a:cubicBezTo>
                <a:cubicBezTo>
                  <a:pt x="468272" y="898749"/>
                  <a:pt x="448882" y="918138"/>
                  <a:pt x="424962" y="918138"/>
                </a:cubicBezTo>
                <a:cubicBezTo>
                  <a:pt x="401042" y="918138"/>
                  <a:pt x="381652" y="898749"/>
                  <a:pt x="381652" y="874829"/>
                </a:cubicBezTo>
                <a:cubicBezTo>
                  <a:pt x="381652" y="850909"/>
                  <a:pt x="401042" y="831519"/>
                  <a:pt x="424962" y="831519"/>
                </a:cubicBezTo>
                <a:close/>
                <a:moveTo>
                  <a:pt x="234136" y="831519"/>
                </a:moveTo>
                <a:cubicBezTo>
                  <a:pt x="258056" y="831519"/>
                  <a:pt x="277446" y="850909"/>
                  <a:pt x="277446" y="874829"/>
                </a:cubicBezTo>
                <a:cubicBezTo>
                  <a:pt x="277446" y="898749"/>
                  <a:pt x="258056" y="918138"/>
                  <a:pt x="234136" y="918138"/>
                </a:cubicBezTo>
                <a:cubicBezTo>
                  <a:pt x="210216" y="918138"/>
                  <a:pt x="190826" y="898749"/>
                  <a:pt x="190826" y="874829"/>
                </a:cubicBezTo>
                <a:cubicBezTo>
                  <a:pt x="190826" y="850909"/>
                  <a:pt x="210216" y="831519"/>
                  <a:pt x="234136" y="831519"/>
                </a:cubicBezTo>
                <a:close/>
                <a:moveTo>
                  <a:pt x="43310" y="831519"/>
                </a:moveTo>
                <a:cubicBezTo>
                  <a:pt x="67230" y="831519"/>
                  <a:pt x="86619" y="850909"/>
                  <a:pt x="86619" y="874829"/>
                </a:cubicBezTo>
                <a:cubicBezTo>
                  <a:pt x="86619" y="898749"/>
                  <a:pt x="67230" y="918138"/>
                  <a:pt x="43310" y="918138"/>
                </a:cubicBezTo>
                <a:cubicBezTo>
                  <a:pt x="19390" y="918138"/>
                  <a:pt x="0" y="898749"/>
                  <a:pt x="0" y="874829"/>
                </a:cubicBezTo>
                <a:cubicBezTo>
                  <a:pt x="0" y="850909"/>
                  <a:pt x="19390" y="831519"/>
                  <a:pt x="43310" y="831519"/>
                </a:cubicBezTo>
                <a:close/>
                <a:moveTo>
                  <a:pt x="43310" y="554348"/>
                </a:moveTo>
                <a:cubicBezTo>
                  <a:pt x="67230" y="554348"/>
                  <a:pt x="86619" y="573738"/>
                  <a:pt x="86619" y="597658"/>
                </a:cubicBezTo>
                <a:cubicBezTo>
                  <a:pt x="86619" y="621576"/>
                  <a:pt x="67230" y="640965"/>
                  <a:pt x="43310" y="640965"/>
                </a:cubicBezTo>
                <a:cubicBezTo>
                  <a:pt x="19390" y="640965"/>
                  <a:pt x="0" y="621576"/>
                  <a:pt x="0" y="597658"/>
                </a:cubicBezTo>
                <a:cubicBezTo>
                  <a:pt x="0" y="573738"/>
                  <a:pt x="19390" y="554348"/>
                  <a:pt x="43310" y="554348"/>
                </a:cubicBezTo>
                <a:close/>
                <a:moveTo>
                  <a:pt x="615788" y="554346"/>
                </a:moveTo>
                <a:cubicBezTo>
                  <a:pt x="639708" y="554346"/>
                  <a:pt x="659098" y="573736"/>
                  <a:pt x="659098" y="597656"/>
                </a:cubicBezTo>
                <a:cubicBezTo>
                  <a:pt x="659098" y="621576"/>
                  <a:pt x="639708" y="640965"/>
                  <a:pt x="615788" y="640965"/>
                </a:cubicBezTo>
                <a:cubicBezTo>
                  <a:pt x="591868" y="640965"/>
                  <a:pt x="572478" y="621576"/>
                  <a:pt x="572478" y="597656"/>
                </a:cubicBezTo>
                <a:cubicBezTo>
                  <a:pt x="572478" y="573736"/>
                  <a:pt x="591868" y="554346"/>
                  <a:pt x="615788" y="554346"/>
                </a:cubicBezTo>
                <a:close/>
                <a:moveTo>
                  <a:pt x="424962" y="554346"/>
                </a:moveTo>
                <a:cubicBezTo>
                  <a:pt x="448882" y="554346"/>
                  <a:pt x="468272" y="573736"/>
                  <a:pt x="468272" y="597656"/>
                </a:cubicBezTo>
                <a:cubicBezTo>
                  <a:pt x="468272" y="621576"/>
                  <a:pt x="448882" y="640965"/>
                  <a:pt x="424962" y="640965"/>
                </a:cubicBezTo>
                <a:cubicBezTo>
                  <a:pt x="401042" y="640965"/>
                  <a:pt x="381652" y="621576"/>
                  <a:pt x="381652" y="597656"/>
                </a:cubicBezTo>
                <a:cubicBezTo>
                  <a:pt x="381652" y="573736"/>
                  <a:pt x="401042" y="554346"/>
                  <a:pt x="424962" y="554346"/>
                </a:cubicBezTo>
                <a:close/>
                <a:moveTo>
                  <a:pt x="234136" y="554346"/>
                </a:moveTo>
                <a:cubicBezTo>
                  <a:pt x="258056" y="554346"/>
                  <a:pt x="277446" y="573736"/>
                  <a:pt x="277446" y="597656"/>
                </a:cubicBezTo>
                <a:cubicBezTo>
                  <a:pt x="277446" y="621576"/>
                  <a:pt x="258056" y="640965"/>
                  <a:pt x="234136" y="640965"/>
                </a:cubicBezTo>
                <a:cubicBezTo>
                  <a:pt x="210216" y="640965"/>
                  <a:pt x="190826" y="621576"/>
                  <a:pt x="190826" y="597656"/>
                </a:cubicBezTo>
                <a:cubicBezTo>
                  <a:pt x="190826" y="573736"/>
                  <a:pt x="210216" y="554346"/>
                  <a:pt x="234136" y="554346"/>
                </a:cubicBezTo>
                <a:close/>
                <a:moveTo>
                  <a:pt x="615788" y="277173"/>
                </a:moveTo>
                <a:cubicBezTo>
                  <a:pt x="639708" y="277173"/>
                  <a:pt x="659098" y="296563"/>
                  <a:pt x="659098" y="320483"/>
                </a:cubicBezTo>
                <a:cubicBezTo>
                  <a:pt x="659098" y="344403"/>
                  <a:pt x="639708" y="363792"/>
                  <a:pt x="615788" y="363792"/>
                </a:cubicBezTo>
                <a:cubicBezTo>
                  <a:pt x="591868" y="363792"/>
                  <a:pt x="572478" y="344403"/>
                  <a:pt x="572478" y="320483"/>
                </a:cubicBezTo>
                <a:cubicBezTo>
                  <a:pt x="572478" y="296563"/>
                  <a:pt x="591868" y="277173"/>
                  <a:pt x="615788" y="277173"/>
                </a:cubicBezTo>
                <a:close/>
                <a:moveTo>
                  <a:pt x="424962" y="277173"/>
                </a:moveTo>
                <a:cubicBezTo>
                  <a:pt x="448882" y="277173"/>
                  <a:pt x="468272" y="296563"/>
                  <a:pt x="468272" y="320483"/>
                </a:cubicBezTo>
                <a:cubicBezTo>
                  <a:pt x="468272" y="344403"/>
                  <a:pt x="448882" y="363792"/>
                  <a:pt x="424962" y="363792"/>
                </a:cubicBezTo>
                <a:cubicBezTo>
                  <a:pt x="401042" y="363792"/>
                  <a:pt x="381652" y="344403"/>
                  <a:pt x="381652" y="320483"/>
                </a:cubicBezTo>
                <a:cubicBezTo>
                  <a:pt x="381652" y="296563"/>
                  <a:pt x="401042" y="277173"/>
                  <a:pt x="424962" y="277173"/>
                </a:cubicBezTo>
                <a:close/>
                <a:moveTo>
                  <a:pt x="234136" y="277173"/>
                </a:moveTo>
                <a:cubicBezTo>
                  <a:pt x="258056" y="277173"/>
                  <a:pt x="277446" y="296563"/>
                  <a:pt x="277446" y="320483"/>
                </a:cubicBezTo>
                <a:cubicBezTo>
                  <a:pt x="277446" y="344403"/>
                  <a:pt x="258056" y="363792"/>
                  <a:pt x="234136" y="363792"/>
                </a:cubicBezTo>
                <a:cubicBezTo>
                  <a:pt x="210216" y="363792"/>
                  <a:pt x="190826" y="344403"/>
                  <a:pt x="190826" y="320483"/>
                </a:cubicBezTo>
                <a:cubicBezTo>
                  <a:pt x="190826" y="296563"/>
                  <a:pt x="210216" y="277173"/>
                  <a:pt x="234136" y="277173"/>
                </a:cubicBezTo>
                <a:close/>
                <a:moveTo>
                  <a:pt x="43310" y="277173"/>
                </a:moveTo>
                <a:cubicBezTo>
                  <a:pt x="67230" y="277173"/>
                  <a:pt x="86619" y="296563"/>
                  <a:pt x="86619" y="320483"/>
                </a:cubicBezTo>
                <a:cubicBezTo>
                  <a:pt x="86619" y="344403"/>
                  <a:pt x="67230" y="363792"/>
                  <a:pt x="43310" y="363792"/>
                </a:cubicBezTo>
                <a:cubicBezTo>
                  <a:pt x="19390" y="363792"/>
                  <a:pt x="0" y="344403"/>
                  <a:pt x="0" y="320483"/>
                </a:cubicBezTo>
                <a:cubicBezTo>
                  <a:pt x="0" y="296563"/>
                  <a:pt x="19390" y="277173"/>
                  <a:pt x="43310" y="277173"/>
                </a:cubicBezTo>
                <a:close/>
                <a:moveTo>
                  <a:pt x="615788" y="0"/>
                </a:moveTo>
                <a:cubicBezTo>
                  <a:pt x="639708" y="0"/>
                  <a:pt x="659098" y="19390"/>
                  <a:pt x="659098" y="43310"/>
                </a:cubicBezTo>
                <a:cubicBezTo>
                  <a:pt x="659098" y="67230"/>
                  <a:pt x="639708" y="86619"/>
                  <a:pt x="615788" y="86619"/>
                </a:cubicBezTo>
                <a:cubicBezTo>
                  <a:pt x="591868" y="86619"/>
                  <a:pt x="572478" y="67230"/>
                  <a:pt x="572478" y="43310"/>
                </a:cubicBezTo>
                <a:cubicBezTo>
                  <a:pt x="572478" y="19390"/>
                  <a:pt x="591868" y="0"/>
                  <a:pt x="615788" y="0"/>
                </a:cubicBezTo>
                <a:close/>
                <a:moveTo>
                  <a:pt x="424962" y="0"/>
                </a:moveTo>
                <a:cubicBezTo>
                  <a:pt x="448882" y="0"/>
                  <a:pt x="468272" y="19390"/>
                  <a:pt x="468272" y="43310"/>
                </a:cubicBezTo>
                <a:cubicBezTo>
                  <a:pt x="468272" y="67230"/>
                  <a:pt x="448882" y="86619"/>
                  <a:pt x="424962" y="86619"/>
                </a:cubicBezTo>
                <a:cubicBezTo>
                  <a:pt x="401042" y="86619"/>
                  <a:pt x="381652" y="67230"/>
                  <a:pt x="381652" y="43310"/>
                </a:cubicBezTo>
                <a:cubicBezTo>
                  <a:pt x="381652" y="19390"/>
                  <a:pt x="401042" y="0"/>
                  <a:pt x="424962" y="0"/>
                </a:cubicBezTo>
                <a:close/>
                <a:moveTo>
                  <a:pt x="234136" y="0"/>
                </a:moveTo>
                <a:cubicBezTo>
                  <a:pt x="258056" y="0"/>
                  <a:pt x="277446" y="19390"/>
                  <a:pt x="277446" y="43310"/>
                </a:cubicBezTo>
                <a:cubicBezTo>
                  <a:pt x="277446" y="67230"/>
                  <a:pt x="258056" y="86619"/>
                  <a:pt x="234136" y="86619"/>
                </a:cubicBezTo>
                <a:cubicBezTo>
                  <a:pt x="210216" y="86619"/>
                  <a:pt x="190826" y="67230"/>
                  <a:pt x="190826" y="43310"/>
                </a:cubicBezTo>
                <a:cubicBezTo>
                  <a:pt x="190826" y="19390"/>
                  <a:pt x="210216" y="0"/>
                  <a:pt x="234136" y="0"/>
                </a:cubicBezTo>
                <a:close/>
                <a:moveTo>
                  <a:pt x="43310" y="0"/>
                </a:moveTo>
                <a:cubicBezTo>
                  <a:pt x="67230" y="0"/>
                  <a:pt x="86619" y="19390"/>
                  <a:pt x="86619" y="43310"/>
                </a:cubicBezTo>
                <a:cubicBezTo>
                  <a:pt x="86619" y="67230"/>
                  <a:pt x="67230" y="86619"/>
                  <a:pt x="43310" y="86619"/>
                </a:cubicBezTo>
                <a:cubicBezTo>
                  <a:pt x="19390" y="86619"/>
                  <a:pt x="0" y="67230"/>
                  <a:pt x="0" y="43310"/>
                </a:cubicBezTo>
                <a:cubicBezTo>
                  <a:pt x="0" y="19390"/>
                  <a:pt x="19390" y="0"/>
                  <a:pt x="43310" y="0"/>
                </a:cubicBezTo>
                <a:close/>
              </a:path>
            </a:pathLst>
          </a:custGeom>
          <a:gradFill flip="none" rotWithShape="1">
            <a:gsLst>
              <a:gs pos="0">
                <a:srgbClr val="567FCA"/>
              </a:gs>
              <a:gs pos="100000">
                <a:srgbClr val="567FCA">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sp>
        <p:nvSpPr>
          <p:cNvPr id="20" name="任意多边形: 形状 19"/>
          <p:cNvSpPr/>
          <p:nvPr/>
        </p:nvSpPr>
        <p:spPr>
          <a:xfrm rot="5400000" flipV="1">
            <a:off x="5297602" y="1112814"/>
            <a:ext cx="355828" cy="944588"/>
          </a:xfrm>
          <a:custGeom>
            <a:avLst/>
            <a:gdLst>
              <a:gd name="connsiteX0" fmla="*/ 615788 w 659098"/>
              <a:gd name="connsiteY0" fmla="*/ 1663038 h 1749657"/>
              <a:gd name="connsiteX1" fmla="*/ 659098 w 659098"/>
              <a:gd name="connsiteY1" fmla="*/ 1706348 h 1749657"/>
              <a:gd name="connsiteX2" fmla="*/ 615788 w 659098"/>
              <a:gd name="connsiteY2" fmla="*/ 1749657 h 1749657"/>
              <a:gd name="connsiteX3" fmla="*/ 572478 w 659098"/>
              <a:gd name="connsiteY3" fmla="*/ 1706348 h 1749657"/>
              <a:gd name="connsiteX4" fmla="*/ 615788 w 659098"/>
              <a:gd name="connsiteY4" fmla="*/ 1663038 h 1749657"/>
              <a:gd name="connsiteX5" fmla="*/ 424962 w 659098"/>
              <a:gd name="connsiteY5" fmla="*/ 1663038 h 1749657"/>
              <a:gd name="connsiteX6" fmla="*/ 468272 w 659098"/>
              <a:gd name="connsiteY6" fmla="*/ 1706348 h 1749657"/>
              <a:gd name="connsiteX7" fmla="*/ 424962 w 659098"/>
              <a:gd name="connsiteY7" fmla="*/ 1749657 h 1749657"/>
              <a:gd name="connsiteX8" fmla="*/ 381652 w 659098"/>
              <a:gd name="connsiteY8" fmla="*/ 1706348 h 1749657"/>
              <a:gd name="connsiteX9" fmla="*/ 424962 w 659098"/>
              <a:gd name="connsiteY9" fmla="*/ 1663038 h 1749657"/>
              <a:gd name="connsiteX10" fmla="*/ 234136 w 659098"/>
              <a:gd name="connsiteY10" fmla="*/ 1663038 h 1749657"/>
              <a:gd name="connsiteX11" fmla="*/ 277446 w 659098"/>
              <a:gd name="connsiteY11" fmla="*/ 1706348 h 1749657"/>
              <a:gd name="connsiteX12" fmla="*/ 234136 w 659098"/>
              <a:gd name="connsiteY12" fmla="*/ 1749657 h 1749657"/>
              <a:gd name="connsiteX13" fmla="*/ 190826 w 659098"/>
              <a:gd name="connsiteY13" fmla="*/ 1706348 h 1749657"/>
              <a:gd name="connsiteX14" fmla="*/ 234136 w 659098"/>
              <a:gd name="connsiteY14" fmla="*/ 1663038 h 1749657"/>
              <a:gd name="connsiteX15" fmla="*/ 43310 w 659098"/>
              <a:gd name="connsiteY15" fmla="*/ 1663038 h 1749657"/>
              <a:gd name="connsiteX16" fmla="*/ 86619 w 659098"/>
              <a:gd name="connsiteY16" fmla="*/ 1706348 h 1749657"/>
              <a:gd name="connsiteX17" fmla="*/ 43310 w 659098"/>
              <a:gd name="connsiteY17" fmla="*/ 1749657 h 1749657"/>
              <a:gd name="connsiteX18" fmla="*/ 0 w 659098"/>
              <a:gd name="connsiteY18" fmla="*/ 1706348 h 1749657"/>
              <a:gd name="connsiteX19" fmla="*/ 43310 w 659098"/>
              <a:gd name="connsiteY19" fmla="*/ 1663038 h 1749657"/>
              <a:gd name="connsiteX20" fmla="*/ 615788 w 659098"/>
              <a:gd name="connsiteY20" fmla="*/ 1385865 h 1749657"/>
              <a:gd name="connsiteX21" fmla="*/ 659098 w 659098"/>
              <a:gd name="connsiteY21" fmla="*/ 1429175 h 1749657"/>
              <a:gd name="connsiteX22" fmla="*/ 615788 w 659098"/>
              <a:gd name="connsiteY22" fmla="*/ 1472484 h 1749657"/>
              <a:gd name="connsiteX23" fmla="*/ 572478 w 659098"/>
              <a:gd name="connsiteY23" fmla="*/ 1429175 h 1749657"/>
              <a:gd name="connsiteX24" fmla="*/ 615788 w 659098"/>
              <a:gd name="connsiteY24" fmla="*/ 1385865 h 1749657"/>
              <a:gd name="connsiteX25" fmla="*/ 424962 w 659098"/>
              <a:gd name="connsiteY25" fmla="*/ 1385865 h 1749657"/>
              <a:gd name="connsiteX26" fmla="*/ 468272 w 659098"/>
              <a:gd name="connsiteY26" fmla="*/ 1429175 h 1749657"/>
              <a:gd name="connsiteX27" fmla="*/ 424962 w 659098"/>
              <a:gd name="connsiteY27" fmla="*/ 1472484 h 1749657"/>
              <a:gd name="connsiteX28" fmla="*/ 381652 w 659098"/>
              <a:gd name="connsiteY28" fmla="*/ 1429175 h 1749657"/>
              <a:gd name="connsiteX29" fmla="*/ 424962 w 659098"/>
              <a:gd name="connsiteY29" fmla="*/ 1385865 h 1749657"/>
              <a:gd name="connsiteX30" fmla="*/ 234136 w 659098"/>
              <a:gd name="connsiteY30" fmla="*/ 1385865 h 1749657"/>
              <a:gd name="connsiteX31" fmla="*/ 277446 w 659098"/>
              <a:gd name="connsiteY31" fmla="*/ 1429175 h 1749657"/>
              <a:gd name="connsiteX32" fmla="*/ 234136 w 659098"/>
              <a:gd name="connsiteY32" fmla="*/ 1472484 h 1749657"/>
              <a:gd name="connsiteX33" fmla="*/ 190826 w 659098"/>
              <a:gd name="connsiteY33" fmla="*/ 1429175 h 1749657"/>
              <a:gd name="connsiteX34" fmla="*/ 234136 w 659098"/>
              <a:gd name="connsiteY34" fmla="*/ 1385865 h 1749657"/>
              <a:gd name="connsiteX35" fmla="*/ 43310 w 659098"/>
              <a:gd name="connsiteY35" fmla="*/ 1385865 h 1749657"/>
              <a:gd name="connsiteX36" fmla="*/ 86619 w 659098"/>
              <a:gd name="connsiteY36" fmla="*/ 1429175 h 1749657"/>
              <a:gd name="connsiteX37" fmla="*/ 43310 w 659098"/>
              <a:gd name="connsiteY37" fmla="*/ 1472484 h 1749657"/>
              <a:gd name="connsiteX38" fmla="*/ 0 w 659098"/>
              <a:gd name="connsiteY38" fmla="*/ 1429175 h 1749657"/>
              <a:gd name="connsiteX39" fmla="*/ 43310 w 659098"/>
              <a:gd name="connsiteY39" fmla="*/ 1385865 h 1749657"/>
              <a:gd name="connsiteX40" fmla="*/ 615788 w 659098"/>
              <a:gd name="connsiteY40" fmla="*/ 1108692 h 1749657"/>
              <a:gd name="connsiteX41" fmla="*/ 659098 w 659098"/>
              <a:gd name="connsiteY41" fmla="*/ 1152002 h 1749657"/>
              <a:gd name="connsiteX42" fmla="*/ 615788 w 659098"/>
              <a:gd name="connsiteY42" fmla="*/ 1195311 h 1749657"/>
              <a:gd name="connsiteX43" fmla="*/ 572478 w 659098"/>
              <a:gd name="connsiteY43" fmla="*/ 1152002 h 1749657"/>
              <a:gd name="connsiteX44" fmla="*/ 615788 w 659098"/>
              <a:gd name="connsiteY44" fmla="*/ 1108692 h 1749657"/>
              <a:gd name="connsiteX45" fmla="*/ 424962 w 659098"/>
              <a:gd name="connsiteY45" fmla="*/ 1108692 h 1749657"/>
              <a:gd name="connsiteX46" fmla="*/ 468272 w 659098"/>
              <a:gd name="connsiteY46" fmla="*/ 1152002 h 1749657"/>
              <a:gd name="connsiteX47" fmla="*/ 424962 w 659098"/>
              <a:gd name="connsiteY47" fmla="*/ 1195311 h 1749657"/>
              <a:gd name="connsiteX48" fmla="*/ 381652 w 659098"/>
              <a:gd name="connsiteY48" fmla="*/ 1152002 h 1749657"/>
              <a:gd name="connsiteX49" fmla="*/ 424962 w 659098"/>
              <a:gd name="connsiteY49" fmla="*/ 1108692 h 1749657"/>
              <a:gd name="connsiteX50" fmla="*/ 234136 w 659098"/>
              <a:gd name="connsiteY50" fmla="*/ 1108692 h 1749657"/>
              <a:gd name="connsiteX51" fmla="*/ 277446 w 659098"/>
              <a:gd name="connsiteY51" fmla="*/ 1152002 h 1749657"/>
              <a:gd name="connsiteX52" fmla="*/ 234136 w 659098"/>
              <a:gd name="connsiteY52" fmla="*/ 1195311 h 1749657"/>
              <a:gd name="connsiteX53" fmla="*/ 190826 w 659098"/>
              <a:gd name="connsiteY53" fmla="*/ 1152002 h 1749657"/>
              <a:gd name="connsiteX54" fmla="*/ 234136 w 659098"/>
              <a:gd name="connsiteY54" fmla="*/ 1108692 h 1749657"/>
              <a:gd name="connsiteX55" fmla="*/ 43310 w 659098"/>
              <a:gd name="connsiteY55" fmla="*/ 1108692 h 1749657"/>
              <a:gd name="connsiteX56" fmla="*/ 86619 w 659098"/>
              <a:gd name="connsiteY56" fmla="*/ 1152002 h 1749657"/>
              <a:gd name="connsiteX57" fmla="*/ 43310 w 659098"/>
              <a:gd name="connsiteY57" fmla="*/ 1195311 h 1749657"/>
              <a:gd name="connsiteX58" fmla="*/ 0 w 659098"/>
              <a:gd name="connsiteY58" fmla="*/ 1152002 h 1749657"/>
              <a:gd name="connsiteX59" fmla="*/ 43310 w 659098"/>
              <a:gd name="connsiteY59" fmla="*/ 1108692 h 1749657"/>
              <a:gd name="connsiteX60" fmla="*/ 615788 w 659098"/>
              <a:gd name="connsiteY60" fmla="*/ 831519 h 1749657"/>
              <a:gd name="connsiteX61" fmla="*/ 659098 w 659098"/>
              <a:gd name="connsiteY61" fmla="*/ 874829 h 1749657"/>
              <a:gd name="connsiteX62" fmla="*/ 615788 w 659098"/>
              <a:gd name="connsiteY62" fmla="*/ 918138 h 1749657"/>
              <a:gd name="connsiteX63" fmla="*/ 572478 w 659098"/>
              <a:gd name="connsiteY63" fmla="*/ 874829 h 1749657"/>
              <a:gd name="connsiteX64" fmla="*/ 615788 w 659098"/>
              <a:gd name="connsiteY64" fmla="*/ 831519 h 1749657"/>
              <a:gd name="connsiteX65" fmla="*/ 424962 w 659098"/>
              <a:gd name="connsiteY65" fmla="*/ 831519 h 1749657"/>
              <a:gd name="connsiteX66" fmla="*/ 468272 w 659098"/>
              <a:gd name="connsiteY66" fmla="*/ 874829 h 1749657"/>
              <a:gd name="connsiteX67" fmla="*/ 424962 w 659098"/>
              <a:gd name="connsiteY67" fmla="*/ 918138 h 1749657"/>
              <a:gd name="connsiteX68" fmla="*/ 381652 w 659098"/>
              <a:gd name="connsiteY68" fmla="*/ 874829 h 1749657"/>
              <a:gd name="connsiteX69" fmla="*/ 424962 w 659098"/>
              <a:gd name="connsiteY69" fmla="*/ 831519 h 1749657"/>
              <a:gd name="connsiteX70" fmla="*/ 234136 w 659098"/>
              <a:gd name="connsiteY70" fmla="*/ 831519 h 1749657"/>
              <a:gd name="connsiteX71" fmla="*/ 277446 w 659098"/>
              <a:gd name="connsiteY71" fmla="*/ 874829 h 1749657"/>
              <a:gd name="connsiteX72" fmla="*/ 234136 w 659098"/>
              <a:gd name="connsiteY72" fmla="*/ 918138 h 1749657"/>
              <a:gd name="connsiteX73" fmla="*/ 190826 w 659098"/>
              <a:gd name="connsiteY73" fmla="*/ 874829 h 1749657"/>
              <a:gd name="connsiteX74" fmla="*/ 234136 w 659098"/>
              <a:gd name="connsiteY74" fmla="*/ 831519 h 1749657"/>
              <a:gd name="connsiteX75" fmla="*/ 43310 w 659098"/>
              <a:gd name="connsiteY75" fmla="*/ 831519 h 1749657"/>
              <a:gd name="connsiteX76" fmla="*/ 86619 w 659098"/>
              <a:gd name="connsiteY76" fmla="*/ 874829 h 1749657"/>
              <a:gd name="connsiteX77" fmla="*/ 43310 w 659098"/>
              <a:gd name="connsiteY77" fmla="*/ 918138 h 1749657"/>
              <a:gd name="connsiteX78" fmla="*/ 0 w 659098"/>
              <a:gd name="connsiteY78" fmla="*/ 874829 h 1749657"/>
              <a:gd name="connsiteX79" fmla="*/ 43310 w 659098"/>
              <a:gd name="connsiteY79" fmla="*/ 831519 h 1749657"/>
              <a:gd name="connsiteX80" fmla="*/ 43310 w 659098"/>
              <a:gd name="connsiteY80" fmla="*/ 554348 h 1749657"/>
              <a:gd name="connsiteX81" fmla="*/ 86619 w 659098"/>
              <a:gd name="connsiteY81" fmla="*/ 597658 h 1749657"/>
              <a:gd name="connsiteX82" fmla="*/ 43310 w 659098"/>
              <a:gd name="connsiteY82" fmla="*/ 640965 h 1749657"/>
              <a:gd name="connsiteX83" fmla="*/ 0 w 659098"/>
              <a:gd name="connsiteY83" fmla="*/ 597658 h 1749657"/>
              <a:gd name="connsiteX84" fmla="*/ 43310 w 659098"/>
              <a:gd name="connsiteY84" fmla="*/ 554348 h 1749657"/>
              <a:gd name="connsiteX85" fmla="*/ 615788 w 659098"/>
              <a:gd name="connsiteY85" fmla="*/ 554346 h 1749657"/>
              <a:gd name="connsiteX86" fmla="*/ 659098 w 659098"/>
              <a:gd name="connsiteY86" fmla="*/ 597656 h 1749657"/>
              <a:gd name="connsiteX87" fmla="*/ 615788 w 659098"/>
              <a:gd name="connsiteY87" fmla="*/ 640965 h 1749657"/>
              <a:gd name="connsiteX88" fmla="*/ 572478 w 659098"/>
              <a:gd name="connsiteY88" fmla="*/ 597656 h 1749657"/>
              <a:gd name="connsiteX89" fmla="*/ 615788 w 659098"/>
              <a:gd name="connsiteY89" fmla="*/ 554346 h 1749657"/>
              <a:gd name="connsiteX90" fmla="*/ 424962 w 659098"/>
              <a:gd name="connsiteY90" fmla="*/ 554346 h 1749657"/>
              <a:gd name="connsiteX91" fmla="*/ 468272 w 659098"/>
              <a:gd name="connsiteY91" fmla="*/ 597656 h 1749657"/>
              <a:gd name="connsiteX92" fmla="*/ 424962 w 659098"/>
              <a:gd name="connsiteY92" fmla="*/ 640965 h 1749657"/>
              <a:gd name="connsiteX93" fmla="*/ 381652 w 659098"/>
              <a:gd name="connsiteY93" fmla="*/ 597656 h 1749657"/>
              <a:gd name="connsiteX94" fmla="*/ 424962 w 659098"/>
              <a:gd name="connsiteY94" fmla="*/ 554346 h 1749657"/>
              <a:gd name="connsiteX95" fmla="*/ 234136 w 659098"/>
              <a:gd name="connsiteY95" fmla="*/ 554346 h 1749657"/>
              <a:gd name="connsiteX96" fmla="*/ 277446 w 659098"/>
              <a:gd name="connsiteY96" fmla="*/ 597656 h 1749657"/>
              <a:gd name="connsiteX97" fmla="*/ 234136 w 659098"/>
              <a:gd name="connsiteY97" fmla="*/ 640965 h 1749657"/>
              <a:gd name="connsiteX98" fmla="*/ 190826 w 659098"/>
              <a:gd name="connsiteY98" fmla="*/ 597656 h 1749657"/>
              <a:gd name="connsiteX99" fmla="*/ 234136 w 659098"/>
              <a:gd name="connsiteY99" fmla="*/ 554346 h 1749657"/>
              <a:gd name="connsiteX100" fmla="*/ 615788 w 659098"/>
              <a:gd name="connsiteY100" fmla="*/ 277173 h 1749657"/>
              <a:gd name="connsiteX101" fmla="*/ 659098 w 659098"/>
              <a:gd name="connsiteY101" fmla="*/ 320483 h 1749657"/>
              <a:gd name="connsiteX102" fmla="*/ 615788 w 659098"/>
              <a:gd name="connsiteY102" fmla="*/ 363792 h 1749657"/>
              <a:gd name="connsiteX103" fmla="*/ 572478 w 659098"/>
              <a:gd name="connsiteY103" fmla="*/ 320483 h 1749657"/>
              <a:gd name="connsiteX104" fmla="*/ 615788 w 659098"/>
              <a:gd name="connsiteY104" fmla="*/ 277173 h 1749657"/>
              <a:gd name="connsiteX105" fmla="*/ 424962 w 659098"/>
              <a:gd name="connsiteY105" fmla="*/ 277173 h 1749657"/>
              <a:gd name="connsiteX106" fmla="*/ 468272 w 659098"/>
              <a:gd name="connsiteY106" fmla="*/ 320483 h 1749657"/>
              <a:gd name="connsiteX107" fmla="*/ 424962 w 659098"/>
              <a:gd name="connsiteY107" fmla="*/ 363792 h 1749657"/>
              <a:gd name="connsiteX108" fmla="*/ 381652 w 659098"/>
              <a:gd name="connsiteY108" fmla="*/ 320483 h 1749657"/>
              <a:gd name="connsiteX109" fmla="*/ 424962 w 659098"/>
              <a:gd name="connsiteY109" fmla="*/ 277173 h 1749657"/>
              <a:gd name="connsiteX110" fmla="*/ 234136 w 659098"/>
              <a:gd name="connsiteY110" fmla="*/ 277173 h 1749657"/>
              <a:gd name="connsiteX111" fmla="*/ 277446 w 659098"/>
              <a:gd name="connsiteY111" fmla="*/ 320483 h 1749657"/>
              <a:gd name="connsiteX112" fmla="*/ 234136 w 659098"/>
              <a:gd name="connsiteY112" fmla="*/ 363792 h 1749657"/>
              <a:gd name="connsiteX113" fmla="*/ 190826 w 659098"/>
              <a:gd name="connsiteY113" fmla="*/ 320483 h 1749657"/>
              <a:gd name="connsiteX114" fmla="*/ 234136 w 659098"/>
              <a:gd name="connsiteY114" fmla="*/ 277173 h 1749657"/>
              <a:gd name="connsiteX115" fmla="*/ 43310 w 659098"/>
              <a:gd name="connsiteY115" fmla="*/ 277173 h 1749657"/>
              <a:gd name="connsiteX116" fmla="*/ 86619 w 659098"/>
              <a:gd name="connsiteY116" fmla="*/ 320483 h 1749657"/>
              <a:gd name="connsiteX117" fmla="*/ 43310 w 659098"/>
              <a:gd name="connsiteY117" fmla="*/ 363792 h 1749657"/>
              <a:gd name="connsiteX118" fmla="*/ 0 w 659098"/>
              <a:gd name="connsiteY118" fmla="*/ 320483 h 1749657"/>
              <a:gd name="connsiteX119" fmla="*/ 43310 w 659098"/>
              <a:gd name="connsiteY119" fmla="*/ 277173 h 1749657"/>
              <a:gd name="connsiteX120" fmla="*/ 615788 w 659098"/>
              <a:gd name="connsiteY120" fmla="*/ 0 h 1749657"/>
              <a:gd name="connsiteX121" fmla="*/ 659098 w 659098"/>
              <a:gd name="connsiteY121" fmla="*/ 43310 h 1749657"/>
              <a:gd name="connsiteX122" fmla="*/ 615788 w 659098"/>
              <a:gd name="connsiteY122" fmla="*/ 86619 h 1749657"/>
              <a:gd name="connsiteX123" fmla="*/ 572478 w 659098"/>
              <a:gd name="connsiteY123" fmla="*/ 43310 h 1749657"/>
              <a:gd name="connsiteX124" fmla="*/ 615788 w 659098"/>
              <a:gd name="connsiteY124" fmla="*/ 0 h 1749657"/>
              <a:gd name="connsiteX125" fmla="*/ 424962 w 659098"/>
              <a:gd name="connsiteY125" fmla="*/ 0 h 1749657"/>
              <a:gd name="connsiteX126" fmla="*/ 468272 w 659098"/>
              <a:gd name="connsiteY126" fmla="*/ 43310 h 1749657"/>
              <a:gd name="connsiteX127" fmla="*/ 424962 w 659098"/>
              <a:gd name="connsiteY127" fmla="*/ 86619 h 1749657"/>
              <a:gd name="connsiteX128" fmla="*/ 381652 w 659098"/>
              <a:gd name="connsiteY128" fmla="*/ 43310 h 1749657"/>
              <a:gd name="connsiteX129" fmla="*/ 424962 w 659098"/>
              <a:gd name="connsiteY129" fmla="*/ 0 h 1749657"/>
              <a:gd name="connsiteX130" fmla="*/ 234136 w 659098"/>
              <a:gd name="connsiteY130" fmla="*/ 0 h 1749657"/>
              <a:gd name="connsiteX131" fmla="*/ 277446 w 659098"/>
              <a:gd name="connsiteY131" fmla="*/ 43310 h 1749657"/>
              <a:gd name="connsiteX132" fmla="*/ 234136 w 659098"/>
              <a:gd name="connsiteY132" fmla="*/ 86619 h 1749657"/>
              <a:gd name="connsiteX133" fmla="*/ 190826 w 659098"/>
              <a:gd name="connsiteY133" fmla="*/ 43310 h 1749657"/>
              <a:gd name="connsiteX134" fmla="*/ 234136 w 659098"/>
              <a:gd name="connsiteY134" fmla="*/ 0 h 1749657"/>
              <a:gd name="connsiteX135" fmla="*/ 43310 w 659098"/>
              <a:gd name="connsiteY135" fmla="*/ 0 h 1749657"/>
              <a:gd name="connsiteX136" fmla="*/ 86619 w 659098"/>
              <a:gd name="connsiteY136" fmla="*/ 43310 h 1749657"/>
              <a:gd name="connsiteX137" fmla="*/ 43310 w 659098"/>
              <a:gd name="connsiteY137" fmla="*/ 86619 h 1749657"/>
              <a:gd name="connsiteX138" fmla="*/ 0 w 659098"/>
              <a:gd name="connsiteY138" fmla="*/ 43310 h 1749657"/>
              <a:gd name="connsiteX139" fmla="*/ 43310 w 659098"/>
              <a:gd name="connsiteY139" fmla="*/ 0 h 17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59098" h="1749657">
                <a:moveTo>
                  <a:pt x="615788" y="1663038"/>
                </a:moveTo>
                <a:cubicBezTo>
                  <a:pt x="639708" y="1663038"/>
                  <a:pt x="659098" y="1682427"/>
                  <a:pt x="659098" y="1706348"/>
                </a:cubicBezTo>
                <a:cubicBezTo>
                  <a:pt x="659098" y="1730268"/>
                  <a:pt x="639708" y="1749657"/>
                  <a:pt x="615788" y="1749657"/>
                </a:cubicBezTo>
                <a:cubicBezTo>
                  <a:pt x="591868" y="1749657"/>
                  <a:pt x="572478" y="1730268"/>
                  <a:pt x="572478" y="1706348"/>
                </a:cubicBezTo>
                <a:cubicBezTo>
                  <a:pt x="572478" y="1682427"/>
                  <a:pt x="591868" y="1663038"/>
                  <a:pt x="615788" y="1663038"/>
                </a:cubicBezTo>
                <a:close/>
                <a:moveTo>
                  <a:pt x="424962" y="1663038"/>
                </a:moveTo>
                <a:cubicBezTo>
                  <a:pt x="448882" y="1663038"/>
                  <a:pt x="468272" y="1682427"/>
                  <a:pt x="468272" y="1706348"/>
                </a:cubicBezTo>
                <a:cubicBezTo>
                  <a:pt x="468272" y="1730268"/>
                  <a:pt x="448882" y="1749657"/>
                  <a:pt x="424962" y="1749657"/>
                </a:cubicBezTo>
                <a:cubicBezTo>
                  <a:pt x="401042" y="1749657"/>
                  <a:pt x="381652" y="1730268"/>
                  <a:pt x="381652" y="1706348"/>
                </a:cubicBezTo>
                <a:cubicBezTo>
                  <a:pt x="381652" y="1682427"/>
                  <a:pt x="401042" y="1663038"/>
                  <a:pt x="424962" y="1663038"/>
                </a:cubicBezTo>
                <a:close/>
                <a:moveTo>
                  <a:pt x="234136" y="1663038"/>
                </a:moveTo>
                <a:cubicBezTo>
                  <a:pt x="258056" y="1663038"/>
                  <a:pt x="277446" y="1682427"/>
                  <a:pt x="277446" y="1706348"/>
                </a:cubicBezTo>
                <a:cubicBezTo>
                  <a:pt x="277446" y="1730268"/>
                  <a:pt x="258056" y="1749657"/>
                  <a:pt x="234136" y="1749657"/>
                </a:cubicBezTo>
                <a:cubicBezTo>
                  <a:pt x="210216" y="1749657"/>
                  <a:pt x="190826" y="1730268"/>
                  <a:pt x="190826" y="1706348"/>
                </a:cubicBezTo>
                <a:cubicBezTo>
                  <a:pt x="190826" y="1682427"/>
                  <a:pt x="210216" y="1663038"/>
                  <a:pt x="234136" y="1663038"/>
                </a:cubicBezTo>
                <a:close/>
                <a:moveTo>
                  <a:pt x="43310" y="1663038"/>
                </a:moveTo>
                <a:cubicBezTo>
                  <a:pt x="67230" y="1663038"/>
                  <a:pt x="86619" y="1682427"/>
                  <a:pt x="86619" y="1706348"/>
                </a:cubicBezTo>
                <a:cubicBezTo>
                  <a:pt x="86619" y="1730268"/>
                  <a:pt x="67230" y="1749657"/>
                  <a:pt x="43310" y="1749657"/>
                </a:cubicBezTo>
                <a:cubicBezTo>
                  <a:pt x="19390" y="1749657"/>
                  <a:pt x="0" y="1730268"/>
                  <a:pt x="0" y="1706348"/>
                </a:cubicBezTo>
                <a:cubicBezTo>
                  <a:pt x="0" y="1682427"/>
                  <a:pt x="19390" y="1663038"/>
                  <a:pt x="43310" y="1663038"/>
                </a:cubicBezTo>
                <a:close/>
                <a:moveTo>
                  <a:pt x="615788" y="1385865"/>
                </a:moveTo>
                <a:cubicBezTo>
                  <a:pt x="639708" y="1385865"/>
                  <a:pt x="659098" y="1405255"/>
                  <a:pt x="659098" y="1429175"/>
                </a:cubicBezTo>
                <a:cubicBezTo>
                  <a:pt x="659098" y="1453095"/>
                  <a:pt x="639708" y="1472484"/>
                  <a:pt x="615788" y="1472484"/>
                </a:cubicBezTo>
                <a:cubicBezTo>
                  <a:pt x="591868" y="1472484"/>
                  <a:pt x="572478" y="1453095"/>
                  <a:pt x="572478" y="1429175"/>
                </a:cubicBezTo>
                <a:cubicBezTo>
                  <a:pt x="572478" y="1405255"/>
                  <a:pt x="591868" y="1385865"/>
                  <a:pt x="615788" y="1385865"/>
                </a:cubicBezTo>
                <a:close/>
                <a:moveTo>
                  <a:pt x="424962" y="1385865"/>
                </a:moveTo>
                <a:cubicBezTo>
                  <a:pt x="448882" y="1385865"/>
                  <a:pt x="468272" y="1405255"/>
                  <a:pt x="468272" y="1429175"/>
                </a:cubicBezTo>
                <a:cubicBezTo>
                  <a:pt x="468272" y="1453095"/>
                  <a:pt x="448882" y="1472484"/>
                  <a:pt x="424962" y="1472484"/>
                </a:cubicBezTo>
                <a:cubicBezTo>
                  <a:pt x="401042" y="1472484"/>
                  <a:pt x="381652" y="1453095"/>
                  <a:pt x="381652" y="1429175"/>
                </a:cubicBezTo>
                <a:cubicBezTo>
                  <a:pt x="381652" y="1405255"/>
                  <a:pt x="401042" y="1385865"/>
                  <a:pt x="424962" y="1385865"/>
                </a:cubicBezTo>
                <a:close/>
                <a:moveTo>
                  <a:pt x="234136" y="1385865"/>
                </a:moveTo>
                <a:cubicBezTo>
                  <a:pt x="258056" y="1385865"/>
                  <a:pt x="277446" y="1405255"/>
                  <a:pt x="277446" y="1429175"/>
                </a:cubicBezTo>
                <a:cubicBezTo>
                  <a:pt x="277446" y="1453095"/>
                  <a:pt x="258056" y="1472484"/>
                  <a:pt x="234136" y="1472484"/>
                </a:cubicBezTo>
                <a:cubicBezTo>
                  <a:pt x="210216" y="1472484"/>
                  <a:pt x="190826" y="1453095"/>
                  <a:pt x="190826" y="1429175"/>
                </a:cubicBezTo>
                <a:cubicBezTo>
                  <a:pt x="190826" y="1405255"/>
                  <a:pt x="210216" y="1385865"/>
                  <a:pt x="234136" y="1385865"/>
                </a:cubicBezTo>
                <a:close/>
                <a:moveTo>
                  <a:pt x="43310" y="1385865"/>
                </a:moveTo>
                <a:cubicBezTo>
                  <a:pt x="67230" y="1385865"/>
                  <a:pt x="86619" y="1405255"/>
                  <a:pt x="86619" y="1429175"/>
                </a:cubicBezTo>
                <a:cubicBezTo>
                  <a:pt x="86619" y="1453095"/>
                  <a:pt x="67230" y="1472484"/>
                  <a:pt x="43310" y="1472484"/>
                </a:cubicBezTo>
                <a:cubicBezTo>
                  <a:pt x="19390" y="1472484"/>
                  <a:pt x="0" y="1453095"/>
                  <a:pt x="0" y="1429175"/>
                </a:cubicBezTo>
                <a:cubicBezTo>
                  <a:pt x="0" y="1405255"/>
                  <a:pt x="19390" y="1385865"/>
                  <a:pt x="43310" y="1385865"/>
                </a:cubicBezTo>
                <a:close/>
                <a:moveTo>
                  <a:pt x="615788" y="1108692"/>
                </a:moveTo>
                <a:cubicBezTo>
                  <a:pt x="639708" y="1108692"/>
                  <a:pt x="659098" y="1128082"/>
                  <a:pt x="659098" y="1152002"/>
                </a:cubicBezTo>
                <a:cubicBezTo>
                  <a:pt x="659098" y="1175922"/>
                  <a:pt x="639708" y="1195311"/>
                  <a:pt x="615788" y="1195311"/>
                </a:cubicBezTo>
                <a:cubicBezTo>
                  <a:pt x="591868" y="1195311"/>
                  <a:pt x="572478" y="1175922"/>
                  <a:pt x="572478" y="1152002"/>
                </a:cubicBezTo>
                <a:cubicBezTo>
                  <a:pt x="572478" y="1128082"/>
                  <a:pt x="591868" y="1108692"/>
                  <a:pt x="615788" y="1108692"/>
                </a:cubicBezTo>
                <a:close/>
                <a:moveTo>
                  <a:pt x="424962" y="1108692"/>
                </a:moveTo>
                <a:cubicBezTo>
                  <a:pt x="448882" y="1108692"/>
                  <a:pt x="468272" y="1128082"/>
                  <a:pt x="468272" y="1152002"/>
                </a:cubicBezTo>
                <a:cubicBezTo>
                  <a:pt x="468272" y="1175922"/>
                  <a:pt x="448882" y="1195311"/>
                  <a:pt x="424962" y="1195311"/>
                </a:cubicBezTo>
                <a:cubicBezTo>
                  <a:pt x="401042" y="1195311"/>
                  <a:pt x="381652" y="1175922"/>
                  <a:pt x="381652" y="1152002"/>
                </a:cubicBezTo>
                <a:cubicBezTo>
                  <a:pt x="381652" y="1128082"/>
                  <a:pt x="401042" y="1108692"/>
                  <a:pt x="424962" y="1108692"/>
                </a:cubicBezTo>
                <a:close/>
                <a:moveTo>
                  <a:pt x="234136" y="1108692"/>
                </a:moveTo>
                <a:cubicBezTo>
                  <a:pt x="258056" y="1108692"/>
                  <a:pt x="277446" y="1128082"/>
                  <a:pt x="277446" y="1152002"/>
                </a:cubicBezTo>
                <a:cubicBezTo>
                  <a:pt x="277446" y="1175922"/>
                  <a:pt x="258056" y="1195311"/>
                  <a:pt x="234136" y="1195311"/>
                </a:cubicBezTo>
                <a:cubicBezTo>
                  <a:pt x="210216" y="1195311"/>
                  <a:pt x="190826" y="1175922"/>
                  <a:pt x="190826" y="1152002"/>
                </a:cubicBezTo>
                <a:cubicBezTo>
                  <a:pt x="190826" y="1128082"/>
                  <a:pt x="210216" y="1108692"/>
                  <a:pt x="234136" y="1108692"/>
                </a:cubicBezTo>
                <a:close/>
                <a:moveTo>
                  <a:pt x="43310" y="1108692"/>
                </a:moveTo>
                <a:cubicBezTo>
                  <a:pt x="67230" y="1108692"/>
                  <a:pt x="86619" y="1128082"/>
                  <a:pt x="86619" y="1152002"/>
                </a:cubicBezTo>
                <a:cubicBezTo>
                  <a:pt x="86619" y="1175922"/>
                  <a:pt x="67230" y="1195311"/>
                  <a:pt x="43310" y="1195311"/>
                </a:cubicBezTo>
                <a:cubicBezTo>
                  <a:pt x="19390" y="1195311"/>
                  <a:pt x="0" y="1175922"/>
                  <a:pt x="0" y="1152002"/>
                </a:cubicBezTo>
                <a:cubicBezTo>
                  <a:pt x="0" y="1128082"/>
                  <a:pt x="19390" y="1108692"/>
                  <a:pt x="43310" y="1108692"/>
                </a:cubicBezTo>
                <a:close/>
                <a:moveTo>
                  <a:pt x="615788" y="831519"/>
                </a:moveTo>
                <a:cubicBezTo>
                  <a:pt x="639708" y="831519"/>
                  <a:pt x="659098" y="850909"/>
                  <a:pt x="659098" y="874829"/>
                </a:cubicBezTo>
                <a:cubicBezTo>
                  <a:pt x="659098" y="898749"/>
                  <a:pt x="639708" y="918138"/>
                  <a:pt x="615788" y="918138"/>
                </a:cubicBezTo>
                <a:cubicBezTo>
                  <a:pt x="591868" y="918138"/>
                  <a:pt x="572478" y="898749"/>
                  <a:pt x="572478" y="874829"/>
                </a:cubicBezTo>
                <a:cubicBezTo>
                  <a:pt x="572478" y="850909"/>
                  <a:pt x="591868" y="831519"/>
                  <a:pt x="615788" y="831519"/>
                </a:cubicBezTo>
                <a:close/>
                <a:moveTo>
                  <a:pt x="424962" y="831519"/>
                </a:moveTo>
                <a:cubicBezTo>
                  <a:pt x="448882" y="831519"/>
                  <a:pt x="468272" y="850909"/>
                  <a:pt x="468272" y="874829"/>
                </a:cubicBezTo>
                <a:cubicBezTo>
                  <a:pt x="468272" y="898749"/>
                  <a:pt x="448882" y="918138"/>
                  <a:pt x="424962" y="918138"/>
                </a:cubicBezTo>
                <a:cubicBezTo>
                  <a:pt x="401042" y="918138"/>
                  <a:pt x="381652" y="898749"/>
                  <a:pt x="381652" y="874829"/>
                </a:cubicBezTo>
                <a:cubicBezTo>
                  <a:pt x="381652" y="850909"/>
                  <a:pt x="401042" y="831519"/>
                  <a:pt x="424962" y="831519"/>
                </a:cubicBezTo>
                <a:close/>
                <a:moveTo>
                  <a:pt x="234136" y="831519"/>
                </a:moveTo>
                <a:cubicBezTo>
                  <a:pt x="258056" y="831519"/>
                  <a:pt x="277446" y="850909"/>
                  <a:pt x="277446" y="874829"/>
                </a:cubicBezTo>
                <a:cubicBezTo>
                  <a:pt x="277446" y="898749"/>
                  <a:pt x="258056" y="918138"/>
                  <a:pt x="234136" y="918138"/>
                </a:cubicBezTo>
                <a:cubicBezTo>
                  <a:pt x="210216" y="918138"/>
                  <a:pt x="190826" y="898749"/>
                  <a:pt x="190826" y="874829"/>
                </a:cubicBezTo>
                <a:cubicBezTo>
                  <a:pt x="190826" y="850909"/>
                  <a:pt x="210216" y="831519"/>
                  <a:pt x="234136" y="831519"/>
                </a:cubicBezTo>
                <a:close/>
                <a:moveTo>
                  <a:pt x="43310" y="831519"/>
                </a:moveTo>
                <a:cubicBezTo>
                  <a:pt x="67230" y="831519"/>
                  <a:pt x="86619" y="850909"/>
                  <a:pt x="86619" y="874829"/>
                </a:cubicBezTo>
                <a:cubicBezTo>
                  <a:pt x="86619" y="898749"/>
                  <a:pt x="67230" y="918138"/>
                  <a:pt x="43310" y="918138"/>
                </a:cubicBezTo>
                <a:cubicBezTo>
                  <a:pt x="19390" y="918138"/>
                  <a:pt x="0" y="898749"/>
                  <a:pt x="0" y="874829"/>
                </a:cubicBezTo>
                <a:cubicBezTo>
                  <a:pt x="0" y="850909"/>
                  <a:pt x="19390" y="831519"/>
                  <a:pt x="43310" y="831519"/>
                </a:cubicBezTo>
                <a:close/>
                <a:moveTo>
                  <a:pt x="43310" y="554348"/>
                </a:moveTo>
                <a:cubicBezTo>
                  <a:pt x="67230" y="554348"/>
                  <a:pt x="86619" y="573738"/>
                  <a:pt x="86619" y="597658"/>
                </a:cubicBezTo>
                <a:cubicBezTo>
                  <a:pt x="86619" y="621576"/>
                  <a:pt x="67230" y="640965"/>
                  <a:pt x="43310" y="640965"/>
                </a:cubicBezTo>
                <a:cubicBezTo>
                  <a:pt x="19390" y="640965"/>
                  <a:pt x="0" y="621576"/>
                  <a:pt x="0" y="597658"/>
                </a:cubicBezTo>
                <a:cubicBezTo>
                  <a:pt x="0" y="573738"/>
                  <a:pt x="19390" y="554348"/>
                  <a:pt x="43310" y="554348"/>
                </a:cubicBezTo>
                <a:close/>
                <a:moveTo>
                  <a:pt x="615788" y="554346"/>
                </a:moveTo>
                <a:cubicBezTo>
                  <a:pt x="639708" y="554346"/>
                  <a:pt x="659098" y="573736"/>
                  <a:pt x="659098" y="597656"/>
                </a:cubicBezTo>
                <a:cubicBezTo>
                  <a:pt x="659098" y="621576"/>
                  <a:pt x="639708" y="640965"/>
                  <a:pt x="615788" y="640965"/>
                </a:cubicBezTo>
                <a:cubicBezTo>
                  <a:pt x="591868" y="640965"/>
                  <a:pt x="572478" y="621576"/>
                  <a:pt x="572478" y="597656"/>
                </a:cubicBezTo>
                <a:cubicBezTo>
                  <a:pt x="572478" y="573736"/>
                  <a:pt x="591868" y="554346"/>
                  <a:pt x="615788" y="554346"/>
                </a:cubicBezTo>
                <a:close/>
                <a:moveTo>
                  <a:pt x="424962" y="554346"/>
                </a:moveTo>
                <a:cubicBezTo>
                  <a:pt x="448882" y="554346"/>
                  <a:pt x="468272" y="573736"/>
                  <a:pt x="468272" y="597656"/>
                </a:cubicBezTo>
                <a:cubicBezTo>
                  <a:pt x="468272" y="621576"/>
                  <a:pt x="448882" y="640965"/>
                  <a:pt x="424962" y="640965"/>
                </a:cubicBezTo>
                <a:cubicBezTo>
                  <a:pt x="401042" y="640965"/>
                  <a:pt x="381652" y="621576"/>
                  <a:pt x="381652" y="597656"/>
                </a:cubicBezTo>
                <a:cubicBezTo>
                  <a:pt x="381652" y="573736"/>
                  <a:pt x="401042" y="554346"/>
                  <a:pt x="424962" y="554346"/>
                </a:cubicBezTo>
                <a:close/>
                <a:moveTo>
                  <a:pt x="234136" y="554346"/>
                </a:moveTo>
                <a:cubicBezTo>
                  <a:pt x="258056" y="554346"/>
                  <a:pt x="277446" y="573736"/>
                  <a:pt x="277446" y="597656"/>
                </a:cubicBezTo>
                <a:cubicBezTo>
                  <a:pt x="277446" y="621576"/>
                  <a:pt x="258056" y="640965"/>
                  <a:pt x="234136" y="640965"/>
                </a:cubicBezTo>
                <a:cubicBezTo>
                  <a:pt x="210216" y="640965"/>
                  <a:pt x="190826" y="621576"/>
                  <a:pt x="190826" y="597656"/>
                </a:cubicBezTo>
                <a:cubicBezTo>
                  <a:pt x="190826" y="573736"/>
                  <a:pt x="210216" y="554346"/>
                  <a:pt x="234136" y="554346"/>
                </a:cubicBezTo>
                <a:close/>
                <a:moveTo>
                  <a:pt x="615788" y="277173"/>
                </a:moveTo>
                <a:cubicBezTo>
                  <a:pt x="639708" y="277173"/>
                  <a:pt x="659098" y="296563"/>
                  <a:pt x="659098" y="320483"/>
                </a:cubicBezTo>
                <a:cubicBezTo>
                  <a:pt x="659098" y="344403"/>
                  <a:pt x="639708" y="363792"/>
                  <a:pt x="615788" y="363792"/>
                </a:cubicBezTo>
                <a:cubicBezTo>
                  <a:pt x="591868" y="363792"/>
                  <a:pt x="572478" y="344403"/>
                  <a:pt x="572478" y="320483"/>
                </a:cubicBezTo>
                <a:cubicBezTo>
                  <a:pt x="572478" y="296563"/>
                  <a:pt x="591868" y="277173"/>
                  <a:pt x="615788" y="277173"/>
                </a:cubicBezTo>
                <a:close/>
                <a:moveTo>
                  <a:pt x="424962" y="277173"/>
                </a:moveTo>
                <a:cubicBezTo>
                  <a:pt x="448882" y="277173"/>
                  <a:pt x="468272" y="296563"/>
                  <a:pt x="468272" y="320483"/>
                </a:cubicBezTo>
                <a:cubicBezTo>
                  <a:pt x="468272" y="344403"/>
                  <a:pt x="448882" y="363792"/>
                  <a:pt x="424962" y="363792"/>
                </a:cubicBezTo>
                <a:cubicBezTo>
                  <a:pt x="401042" y="363792"/>
                  <a:pt x="381652" y="344403"/>
                  <a:pt x="381652" y="320483"/>
                </a:cubicBezTo>
                <a:cubicBezTo>
                  <a:pt x="381652" y="296563"/>
                  <a:pt x="401042" y="277173"/>
                  <a:pt x="424962" y="277173"/>
                </a:cubicBezTo>
                <a:close/>
                <a:moveTo>
                  <a:pt x="234136" y="277173"/>
                </a:moveTo>
                <a:cubicBezTo>
                  <a:pt x="258056" y="277173"/>
                  <a:pt x="277446" y="296563"/>
                  <a:pt x="277446" y="320483"/>
                </a:cubicBezTo>
                <a:cubicBezTo>
                  <a:pt x="277446" y="344403"/>
                  <a:pt x="258056" y="363792"/>
                  <a:pt x="234136" y="363792"/>
                </a:cubicBezTo>
                <a:cubicBezTo>
                  <a:pt x="210216" y="363792"/>
                  <a:pt x="190826" y="344403"/>
                  <a:pt x="190826" y="320483"/>
                </a:cubicBezTo>
                <a:cubicBezTo>
                  <a:pt x="190826" y="296563"/>
                  <a:pt x="210216" y="277173"/>
                  <a:pt x="234136" y="277173"/>
                </a:cubicBezTo>
                <a:close/>
                <a:moveTo>
                  <a:pt x="43310" y="277173"/>
                </a:moveTo>
                <a:cubicBezTo>
                  <a:pt x="67230" y="277173"/>
                  <a:pt x="86619" y="296563"/>
                  <a:pt x="86619" y="320483"/>
                </a:cubicBezTo>
                <a:cubicBezTo>
                  <a:pt x="86619" y="344403"/>
                  <a:pt x="67230" y="363792"/>
                  <a:pt x="43310" y="363792"/>
                </a:cubicBezTo>
                <a:cubicBezTo>
                  <a:pt x="19390" y="363792"/>
                  <a:pt x="0" y="344403"/>
                  <a:pt x="0" y="320483"/>
                </a:cubicBezTo>
                <a:cubicBezTo>
                  <a:pt x="0" y="296563"/>
                  <a:pt x="19390" y="277173"/>
                  <a:pt x="43310" y="277173"/>
                </a:cubicBezTo>
                <a:close/>
                <a:moveTo>
                  <a:pt x="615788" y="0"/>
                </a:moveTo>
                <a:cubicBezTo>
                  <a:pt x="639708" y="0"/>
                  <a:pt x="659098" y="19390"/>
                  <a:pt x="659098" y="43310"/>
                </a:cubicBezTo>
                <a:cubicBezTo>
                  <a:pt x="659098" y="67230"/>
                  <a:pt x="639708" y="86619"/>
                  <a:pt x="615788" y="86619"/>
                </a:cubicBezTo>
                <a:cubicBezTo>
                  <a:pt x="591868" y="86619"/>
                  <a:pt x="572478" y="67230"/>
                  <a:pt x="572478" y="43310"/>
                </a:cubicBezTo>
                <a:cubicBezTo>
                  <a:pt x="572478" y="19390"/>
                  <a:pt x="591868" y="0"/>
                  <a:pt x="615788" y="0"/>
                </a:cubicBezTo>
                <a:close/>
                <a:moveTo>
                  <a:pt x="424962" y="0"/>
                </a:moveTo>
                <a:cubicBezTo>
                  <a:pt x="448882" y="0"/>
                  <a:pt x="468272" y="19390"/>
                  <a:pt x="468272" y="43310"/>
                </a:cubicBezTo>
                <a:cubicBezTo>
                  <a:pt x="468272" y="67230"/>
                  <a:pt x="448882" y="86619"/>
                  <a:pt x="424962" y="86619"/>
                </a:cubicBezTo>
                <a:cubicBezTo>
                  <a:pt x="401042" y="86619"/>
                  <a:pt x="381652" y="67230"/>
                  <a:pt x="381652" y="43310"/>
                </a:cubicBezTo>
                <a:cubicBezTo>
                  <a:pt x="381652" y="19390"/>
                  <a:pt x="401042" y="0"/>
                  <a:pt x="424962" y="0"/>
                </a:cubicBezTo>
                <a:close/>
                <a:moveTo>
                  <a:pt x="234136" y="0"/>
                </a:moveTo>
                <a:cubicBezTo>
                  <a:pt x="258056" y="0"/>
                  <a:pt x="277446" y="19390"/>
                  <a:pt x="277446" y="43310"/>
                </a:cubicBezTo>
                <a:cubicBezTo>
                  <a:pt x="277446" y="67230"/>
                  <a:pt x="258056" y="86619"/>
                  <a:pt x="234136" y="86619"/>
                </a:cubicBezTo>
                <a:cubicBezTo>
                  <a:pt x="210216" y="86619"/>
                  <a:pt x="190826" y="67230"/>
                  <a:pt x="190826" y="43310"/>
                </a:cubicBezTo>
                <a:cubicBezTo>
                  <a:pt x="190826" y="19390"/>
                  <a:pt x="210216" y="0"/>
                  <a:pt x="234136" y="0"/>
                </a:cubicBezTo>
                <a:close/>
                <a:moveTo>
                  <a:pt x="43310" y="0"/>
                </a:moveTo>
                <a:cubicBezTo>
                  <a:pt x="67230" y="0"/>
                  <a:pt x="86619" y="19390"/>
                  <a:pt x="86619" y="43310"/>
                </a:cubicBezTo>
                <a:cubicBezTo>
                  <a:pt x="86619" y="67230"/>
                  <a:pt x="67230" y="86619"/>
                  <a:pt x="43310" y="86619"/>
                </a:cubicBezTo>
                <a:cubicBezTo>
                  <a:pt x="19390" y="86619"/>
                  <a:pt x="0" y="67230"/>
                  <a:pt x="0" y="43310"/>
                </a:cubicBezTo>
                <a:cubicBezTo>
                  <a:pt x="0" y="19390"/>
                  <a:pt x="19390" y="0"/>
                  <a:pt x="43310" y="0"/>
                </a:cubicBezTo>
                <a:close/>
              </a:path>
            </a:pathLst>
          </a:custGeom>
          <a:gradFill flip="none" rotWithShape="1">
            <a:gsLst>
              <a:gs pos="0">
                <a:srgbClr val="567FCA"/>
              </a:gs>
              <a:gs pos="100000">
                <a:srgbClr val="567FCA">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grpSp>
        <p:nvGrpSpPr>
          <p:cNvPr id="26" name="组合 25"/>
          <p:cNvGrpSpPr/>
          <p:nvPr/>
        </p:nvGrpSpPr>
        <p:grpSpPr>
          <a:xfrm flipH="1">
            <a:off x="636276" y="342900"/>
            <a:ext cx="5759681" cy="190500"/>
            <a:chOff x="6184669" y="342900"/>
            <a:chExt cx="5759681" cy="190500"/>
          </a:xfrm>
        </p:grpSpPr>
        <p:cxnSp>
          <p:nvCxnSpPr>
            <p:cNvPr id="27" name="直接连接符 26"/>
            <p:cNvCxnSpPr/>
            <p:nvPr/>
          </p:nvCxnSpPr>
          <p:spPr>
            <a:xfrm>
              <a:off x="6184669" y="438150"/>
              <a:ext cx="5585362"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11753850" y="342900"/>
              <a:ext cx="190500" cy="190500"/>
            </a:xfrm>
            <a:prstGeom prst="ellipse">
              <a:avLst/>
            </a:prstGeom>
            <a:solidFill>
              <a:srgbClr val="285BDB"/>
            </a:soli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endParaRPr>
            </a:p>
          </p:txBody>
        </p:sp>
      </p:grpSp>
      <p:sp>
        <p:nvSpPr>
          <p:cNvPr id="30" name="矩形 29"/>
          <p:cNvSpPr/>
          <p:nvPr/>
        </p:nvSpPr>
        <p:spPr>
          <a:xfrm>
            <a:off x="0" y="6184900"/>
            <a:ext cx="701676" cy="673100"/>
          </a:xfrm>
          <a:prstGeom prst="rect">
            <a:avLst/>
          </a:prstGeom>
          <a:gradFill>
            <a:gsLst>
              <a:gs pos="44925">
                <a:srgbClr val="306DDE"/>
              </a:gs>
              <a:gs pos="6000">
                <a:srgbClr val="3981E2">
                  <a:alpha val="73000"/>
                </a:srgbClr>
              </a:gs>
              <a:gs pos="81000">
                <a:srgbClr val="285BDB"/>
              </a:gs>
            </a:gsLst>
            <a:lin ang="2700000" scaled="0"/>
          </a:gra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mn-ea"/>
            </a:endParaRPr>
          </a:p>
        </p:txBody>
      </p:sp>
      <p:pic>
        <p:nvPicPr>
          <p:cNvPr id="34" name="图片 33"/>
          <p:cNvPicPr>
            <a:picLocks noChangeAspect="1"/>
          </p:cNvPicPr>
          <p:nvPr/>
        </p:nvPicPr>
        <p:blipFill>
          <a:blip r:embed="rId5">
            <a:extLst>
              <a:ext uri="{28A0092B-C50C-407E-A947-70E740481C1C}">
                <a14:useLocalDpi xmlns:a14="http://schemas.microsoft.com/office/drawing/2010/main" val="0"/>
              </a:ext>
            </a:extLst>
          </a:blip>
          <a:srcRect l="27920" t="-1023" r="8370" b="5460"/>
          <a:stretch>
            <a:fillRect/>
          </a:stretch>
        </p:blipFill>
        <p:spPr>
          <a:xfrm>
            <a:off x="1325231" y="2089882"/>
            <a:ext cx="2703768" cy="2703768"/>
          </a:xfrm>
          <a:custGeom>
            <a:avLst/>
            <a:gdLst>
              <a:gd name="connsiteX0" fmla="*/ 1351884 w 2703768"/>
              <a:gd name="connsiteY0" fmla="*/ 0 h 2703768"/>
              <a:gd name="connsiteX1" fmla="*/ 2703768 w 2703768"/>
              <a:gd name="connsiteY1" fmla="*/ 1351884 h 2703768"/>
              <a:gd name="connsiteX2" fmla="*/ 1351884 w 2703768"/>
              <a:gd name="connsiteY2" fmla="*/ 2703768 h 2703768"/>
              <a:gd name="connsiteX3" fmla="*/ 0 w 2703768"/>
              <a:gd name="connsiteY3" fmla="*/ 1351884 h 2703768"/>
              <a:gd name="connsiteX4" fmla="*/ 1351884 w 2703768"/>
              <a:gd name="connsiteY4" fmla="*/ 0 h 2703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3768" h="2703768">
                <a:moveTo>
                  <a:pt x="1351884" y="0"/>
                </a:moveTo>
                <a:cubicBezTo>
                  <a:pt x="2098509" y="0"/>
                  <a:pt x="2703768" y="605259"/>
                  <a:pt x="2703768" y="1351884"/>
                </a:cubicBezTo>
                <a:cubicBezTo>
                  <a:pt x="2703768" y="2098509"/>
                  <a:pt x="2098509" y="2703768"/>
                  <a:pt x="1351884" y="2703768"/>
                </a:cubicBezTo>
                <a:cubicBezTo>
                  <a:pt x="605259" y="2703768"/>
                  <a:pt x="0" y="2098509"/>
                  <a:pt x="0" y="1351884"/>
                </a:cubicBezTo>
                <a:cubicBezTo>
                  <a:pt x="0" y="605259"/>
                  <a:pt x="605259" y="0"/>
                  <a:pt x="1351884" y="0"/>
                </a:cubicBezTo>
                <a:close/>
              </a:path>
            </a:pathLst>
          </a:custGeom>
        </p:spPr>
      </p:pic>
      <p:grpSp>
        <p:nvGrpSpPr>
          <p:cNvPr id="35" name="组合 34"/>
          <p:cNvGrpSpPr/>
          <p:nvPr/>
        </p:nvGrpSpPr>
        <p:grpSpPr>
          <a:xfrm>
            <a:off x="3122975" y="4134237"/>
            <a:ext cx="1113620" cy="982956"/>
            <a:chOff x="6485282" y="-1420938"/>
            <a:chExt cx="1262849" cy="1114676"/>
          </a:xfrm>
          <a:gradFill>
            <a:gsLst>
              <a:gs pos="44925">
                <a:srgbClr val="306DDE"/>
              </a:gs>
              <a:gs pos="6000">
                <a:srgbClr val="3981E2">
                  <a:alpha val="73000"/>
                </a:srgbClr>
              </a:gs>
              <a:gs pos="81000">
                <a:srgbClr val="285BDB"/>
              </a:gs>
            </a:gsLst>
            <a:lin ang="2700000" scaled="0"/>
          </a:gradFill>
        </p:grpSpPr>
        <p:sp>
          <p:nvSpPr>
            <p:cNvPr id="36" name="椭圆 35"/>
            <p:cNvSpPr/>
            <p:nvPr/>
          </p:nvSpPr>
          <p:spPr>
            <a:xfrm>
              <a:off x="6529262" y="-1420938"/>
              <a:ext cx="1114678" cy="1114676"/>
            </a:xfrm>
            <a:prstGeom prst="ellipse">
              <a:avLst/>
            </a:prstGeom>
            <a:grp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宋体 CN Heavy" panose="02020900000000000000" charset="-122"/>
                <a:ea typeface="思源宋体 CN Heavy" panose="02020900000000000000" charset="-122"/>
                <a:cs typeface="+mn-ea"/>
              </a:endParaRPr>
            </a:p>
          </p:txBody>
        </p:sp>
        <p:sp>
          <p:nvSpPr>
            <p:cNvPr id="37" name="文本框 36"/>
            <p:cNvSpPr txBox="1"/>
            <p:nvPr>
              <p:custDataLst>
                <p:tags r:id="rId6"/>
              </p:custDataLst>
            </p:nvPr>
          </p:nvSpPr>
          <p:spPr>
            <a:xfrm flipH="1">
              <a:off x="6485282" y="-1359077"/>
              <a:ext cx="1262849" cy="1047060"/>
            </a:xfrm>
            <a:prstGeom prst="rect">
              <a:avLst/>
            </a:prstGeom>
            <a:noFill/>
          </p:spPr>
          <p:txBody>
            <a:bodyPr vert="horz" wrap="square" rtlCol="0">
              <a:spAutoFit/>
            </a:bodyPr>
            <a:lstStyle/>
            <a:p>
              <a:pPr algn="ctr"/>
              <a:r>
                <a:rPr lang="en-US" altLang="zh-CN" sz="5400" kern="100" dirty="0">
                  <a:solidFill>
                    <a:schemeClr val="bg1"/>
                  </a:solidFill>
                  <a:latin typeface="思源宋体 CN Heavy" panose="02020900000000000000" charset="-122"/>
                  <a:ea typeface="思源宋体 CN Heavy" panose="02020900000000000000" charset="-122"/>
                  <a:cs typeface="汉仪旗黑-50S" panose="00020600040101010101" charset="-122"/>
                </a:rPr>
                <a:t>03</a:t>
              </a:r>
              <a:endParaRPr lang="zh-CN" altLang="en-US" sz="5400" kern="100" dirty="0">
                <a:solidFill>
                  <a:schemeClr val="bg1"/>
                </a:solidFill>
                <a:latin typeface="思源宋体 CN Heavy" panose="02020900000000000000" charset="-122"/>
                <a:ea typeface="思源宋体 CN Heavy" panose="02020900000000000000" charset="-122"/>
                <a:cs typeface="汉仪旗黑-50S" panose="00020600040101010101" charset="-122"/>
              </a:endParaRPr>
            </a:p>
          </p:txBody>
        </p:sp>
      </p:gr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11428" y="1421723"/>
            <a:ext cx="3496962" cy="4658497"/>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5" name="矩形 4"/>
          <p:cNvSpPr/>
          <p:nvPr/>
        </p:nvSpPr>
        <p:spPr>
          <a:xfrm>
            <a:off x="3350149" y="3778445"/>
            <a:ext cx="1977082" cy="1977082"/>
          </a:xfrm>
          <a:prstGeom prst="rect">
            <a:avLst/>
          </a:prstGeom>
          <a:solidFill>
            <a:srgbClr val="0C4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15" name="文本框 14"/>
          <p:cNvSpPr txBox="1"/>
          <p:nvPr/>
        </p:nvSpPr>
        <p:spPr>
          <a:xfrm>
            <a:off x="3635382" y="4295789"/>
            <a:ext cx="140661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400" b="0"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两大核心领域</a:t>
            </a:r>
            <a:r>
              <a:rPr kumimoji="1" lang="zh-CN" altLang="en-US" sz="1200" b="0"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a:t>
            </a:r>
            <a:endParaRPr kumimoji="1" lang="zh-CN" altLang="en-US" sz="1200" b="0"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20" name="燕尾形 19"/>
          <p:cNvSpPr/>
          <p:nvPr/>
        </p:nvSpPr>
        <p:spPr>
          <a:xfrm>
            <a:off x="5743541" y="3866389"/>
            <a:ext cx="352459" cy="352459"/>
          </a:xfrm>
          <a:prstGeom prst="chevron">
            <a:avLst/>
          </a:prstGeom>
          <a:solidFill>
            <a:srgbClr val="0067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22" name="燕尾形 21"/>
          <p:cNvSpPr/>
          <p:nvPr/>
        </p:nvSpPr>
        <p:spPr>
          <a:xfrm>
            <a:off x="5743541" y="4565680"/>
            <a:ext cx="352459" cy="352459"/>
          </a:xfrm>
          <a:prstGeom prst="chevron">
            <a:avLst/>
          </a:prstGeom>
          <a:solidFill>
            <a:srgbClr val="0C49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24" name="燕尾形 23"/>
          <p:cNvSpPr/>
          <p:nvPr/>
        </p:nvSpPr>
        <p:spPr>
          <a:xfrm>
            <a:off x="5743541" y="5305806"/>
            <a:ext cx="352459" cy="352459"/>
          </a:xfrm>
          <a:prstGeom prst="chevron">
            <a:avLst/>
          </a:prstGeom>
          <a:solidFill>
            <a:srgbClr val="0067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
        <p:nvSpPr>
          <p:cNvPr id="25" name="文本框 24"/>
          <p:cNvSpPr txBox="1"/>
          <p:nvPr/>
        </p:nvSpPr>
        <p:spPr>
          <a:xfrm>
            <a:off x="4801667" y="1320755"/>
            <a:ext cx="6478905" cy="1480021"/>
          </a:xfrm>
          <a:prstGeom prst="rect">
            <a:avLst/>
          </a:prstGeom>
        </p:spPr>
        <p:txBody>
          <a:bodyPr wrap="square" lIns="0" tIns="0" rIns="0" bIns="0" anchor="ctr">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defTabSz="457200" hangingPunct="0">
              <a:lnSpc>
                <a:spcPct val="150000"/>
              </a:lnSpc>
              <a:spcAft>
                <a:spcPts val="0"/>
              </a:spcAft>
              <a:buNone/>
              <a:defRPr/>
            </a:pPr>
            <a:r>
              <a:rPr lang="zh-CN" altLang="en-US" sz="1800" b="1" dirty="0">
                <a:solidFill>
                  <a:prstClr val="black"/>
                </a:solidFill>
                <a:latin typeface="思源黑体 CN Medium" panose="020B0600000000000000" pitchFamily="34" charset="-122"/>
                <a:ea typeface="思源黑体 CN Medium" panose="020B0600000000000000" pitchFamily="34" charset="-122"/>
                <a:sym typeface="思源黑体 CN Bold" panose="020B0800000000000000" pitchFamily="34" charset="-122"/>
              </a:rPr>
              <a:t>数字经济的内涵：</a:t>
            </a:r>
            <a:endParaRPr lang="en-US" altLang="zh-CN" sz="1800" b="1" dirty="0">
              <a:solidFill>
                <a:prstClr val="black"/>
              </a:solidFill>
              <a:latin typeface="思源黑体 CN Medium" panose="020B0600000000000000" pitchFamily="34" charset="-122"/>
              <a:ea typeface="思源黑体 CN Medium" panose="020B0600000000000000" pitchFamily="34" charset="-122"/>
              <a:sym typeface="思源黑体 CN Bold" panose="020B0800000000000000" pitchFamily="34" charset="-122"/>
            </a:endParaRPr>
          </a:p>
          <a:p>
            <a:pPr marL="0" lvl="0" indent="457200" defTabSz="457200" hangingPunct="0">
              <a:lnSpc>
                <a:spcPct val="150000"/>
              </a:lnSpc>
              <a:spcAft>
                <a:spcPts val="0"/>
              </a:spcAft>
              <a:buNone/>
              <a:defRPr/>
            </a:pPr>
            <a:r>
              <a:rPr lang="zh-CN" altLang="en-US" sz="1600" kern="0" dirty="0">
                <a:solidFill>
                  <a:prstClr val="black"/>
                </a:solidFill>
                <a:latin typeface="思源黑体 CN Normal" panose="020B0400000000000000" charset="-122"/>
                <a:ea typeface="思源黑体 CN Normal" panose="020B0400000000000000" charset="-122"/>
              </a:rPr>
              <a:t>数字经济是以数字化知识和信息为关键生产要素，数字技术为核心驱动力，现代信息网络为重要载体，通过数字技术与实体经济深度融合，推动产业升级与经济发展模式重构的新型经济形态。</a:t>
            </a:r>
            <a:endParaRPr kumimoji="0" lang="zh-CN" altLang="en-US" sz="1600" b="0" i="0" u="none" strike="noStrike" kern="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endParaRPr>
          </a:p>
        </p:txBody>
      </p:sp>
      <p:sp>
        <p:nvSpPr>
          <p:cNvPr id="26" name="矩形 25"/>
          <p:cNvSpPr>
            <a:spLocks noChangeArrowheads="1"/>
          </p:cNvSpPr>
          <p:nvPr/>
        </p:nvSpPr>
        <p:spPr bwMode="auto">
          <a:xfrm>
            <a:off x="6495121" y="3761188"/>
            <a:ext cx="4903837" cy="1900200"/>
          </a:xfrm>
          <a:prstGeom prst="rect">
            <a:avLst/>
          </a:prstGeom>
          <a:noFill/>
          <a:ln w="9525">
            <a:noFill/>
            <a:miter lim="800000"/>
          </a:ln>
        </p:spPr>
        <p:txBody>
          <a:bodyPr wrap="square">
            <a:spAutoFit/>
          </a:bodyPr>
          <a:lstStyle/>
          <a:p>
            <a:pPr algn="just">
              <a:lnSpc>
                <a:spcPct val="150000"/>
              </a:lnSpc>
            </a:pPr>
            <a:r>
              <a:rPr lang="zh-CN" altLang="zh-CN" sz="1600" b="1" dirty="0">
                <a:ea typeface="思源黑体 CN Normal"/>
              </a:rPr>
              <a:t>数字产业化：</a:t>
            </a:r>
            <a:r>
              <a:rPr lang="zh-CN" altLang="zh-CN" sz="1600" dirty="0">
                <a:ea typeface="思源黑体 CN Normal"/>
              </a:rPr>
              <a:t>信息通信产业作为数字产业化的代表，涵盖电子信息制造业、电信业、软件和信息技术服务业、互联网行业等，是数字经济发展的先导。</a:t>
            </a:r>
            <a:endParaRPr lang="zh-CN" altLang="zh-CN" sz="1600" dirty="0">
              <a:ea typeface="思源黑体 CN Normal"/>
            </a:endParaRPr>
          </a:p>
          <a:p>
            <a:pPr algn="just">
              <a:lnSpc>
                <a:spcPct val="150000"/>
              </a:lnSpc>
            </a:pPr>
            <a:r>
              <a:rPr lang="zh-CN" altLang="zh-CN" sz="1600" b="1" dirty="0">
                <a:ea typeface="思源黑体 CN Normal"/>
              </a:rPr>
              <a:t>产业数字化：</a:t>
            </a:r>
            <a:r>
              <a:rPr lang="zh-CN" altLang="zh-CN" sz="1600" dirty="0">
                <a:ea typeface="思源黑体 CN Normal"/>
              </a:rPr>
              <a:t>传统产业借助数字技术实现生产数量与效率的提升，新增产出构成数字经济重要部分。</a:t>
            </a:r>
            <a:endParaRPr lang="zh-CN" altLang="zh-CN" sz="1600" dirty="0">
              <a:ea typeface="思源黑体 CN Normal"/>
            </a:endParaRPr>
          </a:p>
        </p:txBody>
      </p:sp>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MG-文本框 11"/>
          <p:cNvSpPr txBox="1"/>
          <p:nvPr>
            <p:custDataLst>
              <p:tags r:id="rId2"/>
            </p:custDataLst>
          </p:nvPr>
        </p:nvSpPr>
        <p:spPr>
          <a:xfrm>
            <a:off x="177740" y="17659"/>
            <a:ext cx="3035360" cy="477361"/>
          </a:xfrm>
          <a:prstGeom prst="rect">
            <a:avLst/>
          </a:prstGeom>
          <a:noFill/>
          <a:effectLst/>
        </p:spPr>
        <p:txBody>
          <a:bodyPr wrap="square" lIns="106985" tIns="53492" rIns="106985" bIns="53492" rtlCol="0">
            <a:spAutoFit/>
          </a:bodyPr>
          <a:lstStyle/>
          <a:p>
            <a:pPr algn="dist"/>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数字经济的定义</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33" name="文本框 32"/>
          <p:cNvSpPr txBox="1"/>
          <p:nvPr/>
        </p:nvSpPr>
        <p:spPr>
          <a:xfrm>
            <a:off x="7126383" y="3059668"/>
            <a:ext cx="6112042" cy="369332"/>
          </a:xfrm>
          <a:prstGeom prst="rect">
            <a:avLst/>
          </a:prstGeom>
          <a:noFill/>
        </p:spPr>
        <p:txBody>
          <a:bodyPr wrap="square">
            <a:spAutoFit/>
          </a:bodyPr>
          <a:lstStyle/>
          <a:p>
            <a:r>
              <a:rPr lang="en-US" altLang="zh-CN" dirty="0"/>
              <a:t>——《G20</a:t>
            </a:r>
            <a:r>
              <a:rPr lang="zh-CN" altLang="en-US" dirty="0"/>
              <a:t>国家数字经济发展研究报告</a:t>
            </a:r>
            <a:r>
              <a:rPr lang="en-US" altLang="zh-CN" dirty="0"/>
              <a:t>》</a:t>
            </a:r>
            <a:endParaRPr lang="zh-CN" altLang="en-US" dirty="0"/>
          </a:p>
        </p:txBody>
      </p:sp>
      <p:grpSp>
        <p:nvGrpSpPr>
          <p:cNvPr id="4" name="组合 3"/>
          <p:cNvGrpSpPr/>
          <p:nvPr/>
        </p:nvGrpSpPr>
        <p:grpSpPr>
          <a:xfrm>
            <a:off x="10605916" y="-6858"/>
            <a:ext cx="1586085" cy="528405"/>
            <a:chOff x="10605916" y="5727392"/>
            <a:chExt cx="1586085" cy="528405"/>
          </a:xfrm>
        </p:grpSpPr>
        <p:sp>
          <p:nvSpPr>
            <p:cNvPr id="11" name="矩形 10"/>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2" name="文本框 11"/>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4121705" y="1983052"/>
            <a:ext cx="3752298" cy="3755496"/>
            <a:chOff x="3930529" y="1795416"/>
            <a:chExt cx="4160284" cy="4163833"/>
          </a:xfrm>
          <a:effectLst>
            <a:outerShdw blurRad="101600" dist="38100" dir="2700000" algn="tl" rotWithShape="0">
              <a:prstClr val="black">
                <a:alpha val="25000"/>
              </a:prstClr>
            </a:outerShdw>
          </a:effectLst>
        </p:grpSpPr>
        <p:sp>
          <p:nvSpPr>
            <p:cNvPr id="45" name="Arc 1"/>
            <p:cNvSpPr/>
            <p:nvPr/>
          </p:nvSpPr>
          <p:spPr>
            <a:xfrm>
              <a:off x="4169678" y="2016252"/>
              <a:ext cx="3889727" cy="3889727"/>
            </a:xfrm>
            <a:prstGeom prst="arc">
              <a:avLst>
                <a:gd name="adj1" fmla="val 2901203"/>
                <a:gd name="adj2" fmla="val 21394969"/>
              </a:avLst>
            </a:prstGeom>
            <a:ln w="152400">
              <a:solidFill>
                <a:srgbClr val="F2F2F3"/>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endParaRPr>
            </a:p>
          </p:txBody>
        </p:sp>
        <p:sp>
          <p:nvSpPr>
            <p:cNvPr id="63" name="Oval 87"/>
            <p:cNvSpPr/>
            <p:nvPr/>
          </p:nvSpPr>
          <p:spPr>
            <a:xfrm>
              <a:off x="3930529" y="3540580"/>
              <a:ext cx="553081" cy="553081"/>
            </a:xfrm>
            <a:prstGeom prst="ellipse">
              <a:avLst/>
            </a:prstGeom>
            <a:solidFill>
              <a:srgbClr val="108ECE"/>
            </a:solidFill>
            <a:ln w="28575">
              <a:solidFill>
                <a:schemeClr val="bg1"/>
              </a:solid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ea"/>
                <a:sym typeface="Segoe UI" panose="020B0502040204020203" pitchFamily="34" charset="0"/>
              </a:endParaRPr>
            </a:p>
          </p:txBody>
        </p:sp>
        <p:sp>
          <p:nvSpPr>
            <p:cNvPr id="61" name="Oval 87"/>
            <p:cNvSpPr/>
            <p:nvPr/>
          </p:nvSpPr>
          <p:spPr>
            <a:xfrm>
              <a:off x="6712512" y="5406168"/>
              <a:ext cx="553081" cy="553081"/>
            </a:xfrm>
            <a:prstGeom prst="ellipse">
              <a:avLst/>
            </a:prstGeom>
            <a:solidFill>
              <a:srgbClr val="108ECE"/>
            </a:solidFill>
            <a:ln w="28575">
              <a:solidFill>
                <a:schemeClr val="bg1"/>
              </a:solid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ea"/>
                <a:sym typeface="Segoe UI" panose="020B0502040204020203" pitchFamily="34" charset="0"/>
              </a:endParaRPr>
            </a:p>
          </p:txBody>
        </p:sp>
        <p:sp>
          <p:nvSpPr>
            <p:cNvPr id="59" name="Oval 87"/>
            <p:cNvSpPr/>
            <p:nvPr/>
          </p:nvSpPr>
          <p:spPr>
            <a:xfrm>
              <a:off x="4660603" y="5266996"/>
              <a:ext cx="553081" cy="553081"/>
            </a:xfrm>
            <a:prstGeom prst="ellipse">
              <a:avLst/>
            </a:prstGeom>
            <a:solidFill>
              <a:srgbClr val="0C3C7D"/>
            </a:solidFill>
            <a:ln w="28575">
              <a:solidFill>
                <a:schemeClr val="bg1"/>
              </a:solid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ea"/>
                <a:sym typeface="Segoe UI" panose="020B0502040204020203" pitchFamily="34" charset="0"/>
              </a:endParaRPr>
            </a:p>
          </p:txBody>
        </p:sp>
        <p:sp>
          <p:nvSpPr>
            <p:cNvPr id="57" name="Oval 87"/>
            <p:cNvSpPr/>
            <p:nvPr/>
          </p:nvSpPr>
          <p:spPr>
            <a:xfrm>
              <a:off x="5245032" y="1795416"/>
              <a:ext cx="553081" cy="553081"/>
            </a:xfrm>
            <a:prstGeom prst="ellipse">
              <a:avLst/>
            </a:prstGeom>
            <a:solidFill>
              <a:srgbClr val="0C3C7D"/>
            </a:solidFill>
            <a:ln w="28575">
              <a:solidFill>
                <a:schemeClr val="bg1"/>
              </a:solid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ea"/>
                <a:sym typeface="Segoe UI" panose="020B0502040204020203" pitchFamily="34" charset="0"/>
              </a:endParaRPr>
            </a:p>
          </p:txBody>
        </p:sp>
        <p:grpSp>
          <p:nvGrpSpPr>
            <p:cNvPr id="54" name="Group 86"/>
            <p:cNvGrpSpPr/>
            <p:nvPr/>
          </p:nvGrpSpPr>
          <p:grpSpPr>
            <a:xfrm>
              <a:off x="7010801" y="2371990"/>
              <a:ext cx="1080012" cy="553081"/>
              <a:chOff x="6642546" y="5546439"/>
              <a:chExt cx="725864" cy="371719"/>
            </a:xfrm>
          </p:grpSpPr>
          <p:sp>
            <p:nvSpPr>
              <p:cNvPr id="55" name="Oval 87"/>
              <p:cNvSpPr/>
              <p:nvPr/>
            </p:nvSpPr>
            <p:spPr>
              <a:xfrm>
                <a:off x="6818257" y="5546439"/>
                <a:ext cx="371719" cy="371719"/>
              </a:xfrm>
              <a:prstGeom prst="ellipse">
                <a:avLst/>
              </a:prstGeom>
              <a:solidFill>
                <a:srgbClr val="108ECE"/>
              </a:solidFill>
              <a:ln w="28575">
                <a:solidFill>
                  <a:schemeClr val="bg1"/>
                </a:solidFill>
              </a:ln>
              <a:effectLst>
                <a:outerShdw blurRad="177800" dist="50800" dir="36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ea"/>
                  <a:sym typeface="Segoe UI" panose="020B0502040204020203" pitchFamily="34" charset="0"/>
                </a:endParaRPr>
              </a:p>
            </p:txBody>
          </p:sp>
          <p:sp>
            <p:nvSpPr>
              <p:cNvPr id="56" name="TextBox 88"/>
              <p:cNvSpPr txBox="1"/>
              <p:nvPr/>
            </p:nvSpPr>
            <p:spPr>
              <a:xfrm>
                <a:off x="6642546" y="5605940"/>
                <a:ext cx="725864" cy="29814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rPr>
                  <a:t>5</a:t>
                </a:r>
                <a:endParaRPr kumimoji="0" lang="en-US"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endParaRPr>
              </a:p>
            </p:txBody>
          </p:sp>
        </p:grpSp>
      </p:grpSp>
      <p:pic>
        <p:nvPicPr>
          <p:cNvPr id="80" name="图片占位符 97"/>
          <p:cNvPicPr>
            <a:picLocks noChangeAspect="1"/>
          </p:cNvPicPr>
          <p:nvPr/>
        </p:nvPicPr>
        <p:blipFill rotWithShape="1">
          <a:blip r:embed="rId1"/>
          <a:srcRect/>
          <a:stretch>
            <a:fillRect/>
          </a:stretch>
        </p:blipFill>
        <p:spPr>
          <a:xfrm>
            <a:off x="5022388" y="2919664"/>
            <a:ext cx="2158795" cy="2115397"/>
          </a:xfrm>
          <a:custGeom>
            <a:avLst/>
            <a:gdLst>
              <a:gd name="connsiteX0" fmla="*/ 1079397 w 2158794"/>
              <a:gd name="connsiteY0" fmla="*/ 0 h 2158794"/>
              <a:gd name="connsiteX1" fmla="*/ 2158794 w 2158794"/>
              <a:gd name="connsiteY1" fmla="*/ 1079397 h 2158794"/>
              <a:gd name="connsiteX2" fmla="*/ 1079397 w 2158794"/>
              <a:gd name="connsiteY2" fmla="*/ 2158794 h 2158794"/>
              <a:gd name="connsiteX3" fmla="*/ 0 w 2158794"/>
              <a:gd name="connsiteY3" fmla="*/ 1079397 h 2158794"/>
              <a:gd name="connsiteX4" fmla="*/ 1079397 w 2158794"/>
              <a:gd name="connsiteY4" fmla="*/ 0 h 2158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794" h="2158794">
                <a:moveTo>
                  <a:pt x="1079397" y="0"/>
                </a:moveTo>
                <a:cubicBezTo>
                  <a:pt x="1675532" y="0"/>
                  <a:pt x="2158794" y="483262"/>
                  <a:pt x="2158794" y="1079397"/>
                </a:cubicBezTo>
                <a:cubicBezTo>
                  <a:pt x="2158794" y="1675532"/>
                  <a:pt x="1675532" y="2158794"/>
                  <a:pt x="1079397" y="2158794"/>
                </a:cubicBezTo>
                <a:cubicBezTo>
                  <a:pt x="483262" y="2158794"/>
                  <a:pt x="0" y="1675532"/>
                  <a:pt x="0" y="1079397"/>
                </a:cubicBezTo>
                <a:cubicBezTo>
                  <a:pt x="0" y="483262"/>
                  <a:pt x="483262" y="0"/>
                  <a:pt x="1079397" y="0"/>
                </a:cubicBezTo>
                <a:close/>
              </a:path>
            </a:pathLst>
          </a:custGeom>
          <a:effectLst>
            <a:outerShdw blurRad="101600" dist="38100" dir="2700000" algn="tl" rotWithShape="0">
              <a:prstClr val="black">
                <a:alpha val="25000"/>
              </a:prstClr>
            </a:outerShdw>
          </a:effectLst>
        </p:spPr>
      </p:pic>
      <p:sp>
        <p:nvSpPr>
          <p:cNvPr id="6" name="文本框 5"/>
          <p:cNvSpPr txBox="1"/>
          <p:nvPr/>
        </p:nvSpPr>
        <p:spPr>
          <a:xfrm>
            <a:off x="7970022" y="1381834"/>
            <a:ext cx="3680356" cy="1941685"/>
          </a:xfrm>
          <a:prstGeom prst="rect">
            <a:avLst/>
          </a:prstGeom>
          <a:noFill/>
        </p:spPr>
        <p:txBody>
          <a:bodyPr wrap="square" rtlCol="0">
            <a:spAutoFit/>
          </a:bodyPr>
          <a:lstStyle/>
          <a:p>
            <a:pPr lvl="0" algn="ctr">
              <a:lnSpc>
                <a:spcPct val="150000"/>
              </a:lnSpc>
              <a:defRPr/>
            </a:pPr>
            <a:r>
              <a:rPr lang="zh-CN" altLang="en-US" b="1" dirty="0">
                <a:solidFill>
                  <a:prstClr val="black"/>
                </a:solidFill>
                <a:latin typeface="思源黑体 CN Medium" panose="020B0600000000000000" pitchFamily="34" charset="-122"/>
                <a:ea typeface="思源黑体 CN Medium" panose="020B0600000000000000" pitchFamily="34" charset="-122"/>
              </a:rPr>
              <a:t>数字化效率提升业</a:t>
            </a:r>
            <a:endParaRPr kumimoji="0" lang="en-US" altLang="zh-CN" sz="18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a:p>
            <a:pPr lvl="0" indent="457200" algn="just">
              <a:lnSpc>
                <a:spcPct val="150000"/>
              </a:lnSpc>
              <a:defRPr/>
            </a:pPr>
            <a:r>
              <a:rPr lang="zh-CN" altLang="en-US" sz="1600" kern="0" dirty="0">
                <a:solidFill>
                  <a:prstClr val="black"/>
                </a:solidFill>
                <a:latin typeface="思源黑体 CN Normal" panose="020B0400000000000000" charset="-122"/>
                <a:ea typeface="思源黑体 CN Normal" panose="020B0400000000000000" charset="-122"/>
              </a:rPr>
              <a:t>智慧农业；智能制造；智能交通；智慧物流；数字金融；数字商贸；数字社会；数字政府；其他数字化效率提升业</a:t>
            </a:r>
            <a:endParaRPr kumimoji="0" lang="zh-CN" altLang="en-US" sz="1200" b="0" i="0" u="none" strike="noStrike" kern="0" cap="none" spc="0" normalizeH="0" baseline="0" noProof="0" dirty="0">
              <a:ln>
                <a:noFill/>
              </a:ln>
              <a:solidFill>
                <a:prstClr val="black"/>
              </a:solidFill>
              <a:effectLst/>
              <a:uLnTx/>
              <a:uFillTx/>
              <a:latin typeface="思源黑体 CN Normal" panose="020B0400000000000000" charset="-122"/>
              <a:ea typeface="思源黑体 CN Normal" panose="020B0400000000000000" charset="-122"/>
              <a:cs typeface="+mn-cs"/>
            </a:endParaRPr>
          </a:p>
        </p:txBody>
      </p:sp>
      <p:sp>
        <p:nvSpPr>
          <p:cNvPr id="2" name="文本框 1"/>
          <p:cNvSpPr txBox="1"/>
          <p:nvPr/>
        </p:nvSpPr>
        <p:spPr>
          <a:xfrm>
            <a:off x="646265" y="4826848"/>
            <a:ext cx="3814470" cy="1572354"/>
          </a:xfrm>
          <a:prstGeom prst="rect">
            <a:avLst/>
          </a:prstGeom>
          <a:noFill/>
        </p:spPr>
        <p:txBody>
          <a:bodyPr wrap="square" rtlCol="0">
            <a:spAutoFit/>
          </a:bodyPr>
          <a:lstStyle/>
          <a:p>
            <a:pPr lvl="0" algn="ctr">
              <a:lnSpc>
                <a:spcPct val="150000"/>
              </a:lnSpc>
              <a:defRPr/>
            </a:pPr>
            <a:r>
              <a:rPr lang="zh-CN" altLang="en-US" b="1" dirty="0">
                <a:solidFill>
                  <a:prstClr val="black"/>
                </a:solidFill>
                <a:latin typeface="思源黑体 CN Medium" panose="020B0600000000000000" pitchFamily="34" charset="-122"/>
                <a:ea typeface="思源黑体 CN Medium" panose="020B0600000000000000" pitchFamily="34" charset="-122"/>
              </a:rPr>
              <a:t>数字产品服务业</a:t>
            </a:r>
            <a:endParaRPr lang="en-US" altLang="zh-CN" b="1" dirty="0">
              <a:solidFill>
                <a:prstClr val="black"/>
              </a:solidFill>
              <a:latin typeface="思源黑体 CN Medium" panose="020B0600000000000000" pitchFamily="34" charset="-122"/>
              <a:ea typeface="思源黑体 CN Medium" panose="020B0600000000000000" pitchFamily="34" charset="-122"/>
            </a:endParaRPr>
          </a:p>
          <a:p>
            <a:pPr lvl="0" indent="457200" algn="just">
              <a:lnSpc>
                <a:spcPct val="150000"/>
              </a:lnSpc>
              <a:defRPr/>
            </a:pPr>
            <a:r>
              <a:rPr lang="zh-CN" altLang="en-US" sz="1600" kern="0" dirty="0">
                <a:solidFill>
                  <a:prstClr val="black"/>
                </a:solidFill>
                <a:latin typeface="思源黑体 CN Normal" panose="020B0400000000000000" charset="-122"/>
                <a:ea typeface="思源黑体 CN Normal" panose="020B0400000000000000" charset="-122"/>
              </a:rPr>
              <a:t>数字产品批发；数字产品零售；数字产品租赁；数字产品维修；其他数字产品服务业</a:t>
            </a:r>
            <a:endParaRPr lang="zh-CN" altLang="en-US" sz="1600" kern="0" dirty="0">
              <a:solidFill>
                <a:prstClr val="black"/>
              </a:solidFill>
              <a:latin typeface="思源黑体 CN Normal" panose="020B0400000000000000" charset="-122"/>
              <a:ea typeface="思源黑体 CN Normal" panose="020B0400000000000000" charset="-122"/>
            </a:endParaRPr>
          </a:p>
        </p:txBody>
      </p:sp>
      <p:sp>
        <p:nvSpPr>
          <p:cNvPr id="3" name="文本框 2"/>
          <p:cNvSpPr txBox="1"/>
          <p:nvPr/>
        </p:nvSpPr>
        <p:spPr>
          <a:xfrm>
            <a:off x="396301" y="2983044"/>
            <a:ext cx="3524484" cy="1572354"/>
          </a:xfrm>
          <a:prstGeom prst="rect">
            <a:avLst/>
          </a:prstGeom>
          <a:noFill/>
        </p:spPr>
        <p:txBody>
          <a:bodyPr wrap="square" rtlCol="0">
            <a:spAutoFit/>
          </a:bodyPr>
          <a:lstStyle/>
          <a:p>
            <a:pPr lvl="0" algn="ctr">
              <a:lnSpc>
                <a:spcPct val="150000"/>
              </a:lnSpc>
              <a:defRPr/>
            </a:pPr>
            <a:r>
              <a:rPr lang="zh-CN" altLang="en-US" b="1" dirty="0">
                <a:solidFill>
                  <a:prstClr val="black"/>
                </a:solidFill>
                <a:latin typeface="思源黑体 CN Medium" panose="020B0600000000000000" pitchFamily="34" charset="-122"/>
                <a:ea typeface="思源黑体 CN Medium" panose="020B0600000000000000" pitchFamily="34" charset="-122"/>
              </a:rPr>
              <a:t>数字技术应用业</a:t>
            </a:r>
            <a:endParaRPr kumimoji="0" lang="en-US" altLang="zh-CN" sz="18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a:p>
            <a:pPr lvl="0" indent="457200" algn="just">
              <a:lnSpc>
                <a:spcPct val="150000"/>
              </a:lnSpc>
              <a:defRPr/>
            </a:pPr>
            <a:r>
              <a:rPr lang="zh-CN" altLang="en-US" sz="1600" kern="0" dirty="0">
                <a:solidFill>
                  <a:prstClr val="black"/>
                </a:solidFill>
                <a:latin typeface="思源黑体 CN Normal" panose="020B0400000000000000" charset="-122"/>
                <a:ea typeface="思源黑体 CN Normal" panose="020B0400000000000000" charset="-122"/>
              </a:rPr>
              <a:t>软件开发；电信、广播电视和卫星传输服务；互联网相关服务；信息技术服务；其他数字技术应用业</a:t>
            </a:r>
            <a:endParaRPr lang="zh-CN" altLang="en-US" sz="1600" kern="0" dirty="0">
              <a:solidFill>
                <a:prstClr val="black"/>
              </a:solidFill>
              <a:latin typeface="思源黑体 CN Normal" panose="020B0400000000000000" charset="-122"/>
              <a:ea typeface="思源黑体 CN Normal" panose="020B0400000000000000" charset="-122"/>
            </a:endParaRPr>
          </a:p>
        </p:txBody>
      </p:sp>
      <p:sp>
        <p:nvSpPr>
          <p:cNvPr id="4" name="文本框 3"/>
          <p:cNvSpPr txBox="1"/>
          <p:nvPr/>
        </p:nvSpPr>
        <p:spPr>
          <a:xfrm>
            <a:off x="343806" y="1189214"/>
            <a:ext cx="4322163" cy="1572354"/>
          </a:xfrm>
          <a:prstGeom prst="rect">
            <a:avLst/>
          </a:prstGeom>
          <a:noFill/>
        </p:spPr>
        <p:txBody>
          <a:bodyPr wrap="square" rtlCol="0">
            <a:spAutoFit/>
          </a:bodyPr>
          <a:lstStyle/>
          <a:p>
            <a:pPr lvl="0" algn="ctr">
              <a:lnSpc>
                <a:spcPct val="150000"/>
              </a:lnSpc>
              <a:defRPr/>
            </a:pPr>
            <a:r>
              <a:rPr lang="zh-CN" altLang="en-US" b="1" dirty="0">
                <a:solidFill>
                  <a:prstClr val="black"/>
                </a:solidFill>
                <a:latin typeface="思源黑体 CN Medium" panose="020B0600000000000000" pitchFamily="34" charset="-122"/>
                <a:ea typeface="思源黑体 CN Medium" panose="020B0600000000000000" pitchFamily="34" charset="-122"/>
              </a:rPr>
              <a:t>数字要素驱动业</a:t>
            </a:r>
            <a:endParaRPr kumimoji="0" lang="en-US" altLang="zh-CN" sz="18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a:p>
            <a:pPr lvl="0" indent="457200" algn="just">
              <a:lnSpc>
                <a:spcPct val="150000"/>
              </a:lnSpc>
              <a:defRPr/>
            </a:pPr>
            <a:r>
              <a:rPr lang="zh-CN" altLang="en-US" sz="1600" kern="0" dirty="0">
                <a:solidFill>
                  <a:prstClr val="black"/>
                </a:solidFill>
                <a:latin typeface="思源黑体 CN Normal" panose="020B0400000000000000" charset="-122"/>
                <a:ea typeface="思源黑体 CN Normal" panose="020B0400000000000000" charset="-122"/>
              </a:rPr>
              <a:t>互联网平台；互联网批发零售；互联网金融；数字内容与媒体；信息基础设施建设；数据资源与产权交易；其他数字要素驱动业</a:t>
            </a:r>
            <a:endParaRPr lang="zh-CN" altLang="en-US" sz="1600" kern="0" dirty="0">
              <a:solidFill>
                <a:prstClr val="black"/>
              </a:solidFill>
              <a:latin typeface="思源黑体 CN Normal" panose="020B0400000000000000" charset="-122"/>
              <a:ea typeface="思源黑体 CN Normal" panose="020B0400000000000000" charset="-122"/>
            </a:endParaRPr>
          </a:p>
        </p:txBody>
      </p:sp>
      <p:sp>
        <p:nvSpPr>
          <p:cNvPr id="5" name="文本框 4"/>
          <p:cNvSpPr txBox="1"/>
          <p:nvPr/>
        </p:nvSpPr>
        <p:spPr>
          <a:xfrm>
            <a:off x="7688613" y="3844178"/>
            <a:ext cx="4052863" cy="1572354"/>
          </a:xfrm>
          <a:prstGeom prst="rect">
            <a:avLst/>
          </a:prstGeom>
          <a:noFill/>
        </p:spPr>
        <p:txBody>
          <a:bodyPr wrap="square" rtlCol="0">
            <a:spAutoFit/>
          </a:bodyPr>
          <a:lstStyle/>
          <a:p>
            <a:pPr lvl="0" algn="ctr">
              <a:lnSpc>
                <a:spcPct val="150000"/>
              </a:lnSpc>
              <a:defRPr/>
            </a:pPr>
            <a:r>
              <a:rPr lang="zh-CN" altLang="en-US" b="1" dirty="0">
                <a:solidFill>
                  <a:prstClr val="black"/>
                </a:solidFill>
                <a:latin typeface="思源黑体 CN Medium" panose="020B0600000000000000" pitchFamily="34" charset="-122"/>
                <a:ea typeface="思源黑体 CN Medium" panose="020B0600000000000000" pitchFamily="34" charset="-122"/>
              </a:rPr>
              <a:t>数字产品制造业</a:t>
            </a:r>
            <a:endParaRPr kumimoji="0" lang="en-US" altLang="zh-CN" sz="18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a:p>
            <a:pPr lvl="0" indent="457200" algn="just">
              <a:lnSpc>
                <a:spcPct val="150000"/>
              </a:lnSpc>
              <a:defRPr/>
            </a:pPr>
            <a:r>
              <a:rPr lang="zh-CN" altLang="en-US" sz="1600" kern="0" dirty="0">
                <a:solidFill>
                  <a:prstClr val="black"/>
                </a:solidFill>
                <a:latin typeface="思源黑体 CN Normal" panose="020B0400000000000000" charset="-122"/>
                <a:ea typeface="思源黑体 CN Normal" panose="020B0400000000000000" charset="-122"/>
              </a:rPr>
              <a:t>计算机制造；通讯及雷达设备制造；数字媒体设备制造；智能设备制造；电子元器件及设备制造；其他数字产品制造业。</a:t>
            </a:r>
            <a:endParaRPr lang="zh-CN" altLang="en-US" sz="1600" kern="0" dirty="0">
              <a:solidFill>
                <a:prstClr val="black"/>
              </a:solidFill>
              <a:latin typeface="思源黑体 CN Normal" panose="020B0400000000000000" charset="-122"/>
              <a:ea typeface="思源黑体 CN Normal" panose="020B0400000000000000" charset="-122"/>
            </a:endParaRPr>
          </a:p>
        </p:txBody>
      </p:sp>
      <p:sp>
        <p:nvSpPr>
          <p:cNvPr id="7" name="TextBox 88"/>
          <p:cNvSpPr txBox="1"/>
          <p:nvPr/>
        </p:nvSpPr>
        <p:spPr>
          <a:xfrm>
            <a:off x="3885902" y="3636922"/>
            <a:ext cx="974099" cy="400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rPr>
              <a:t>3</a:t>
            </a:r>
            <a:endParaRPr kumimoji="0" lang="en-US"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endParaRPr>
          </a:p>
        </p:txBody>
      </p:sp>
      <p:sp>
        <p:nvSpPr>
          <p:cNvPr id="11" name="TextBox 88"/>
          <p:cNvSpPr txBox="1"/>
          <p:nvPr/>
        </p:nvSpPr>
        <p:spPr>
          <a:xfrm>
            <a:off x="6395066" y="5319556"/>
            <a:ext cx="974099" cy="400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rPr>
              <a:t>1</a:t>
            </a:r>
            <a:endParaRPr kumimoji="0" lang="en-US"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endParaRPr>
          </a:p>
        </p:txBody>
      </p:sp>
      <p:sp>
        <p:nvSpPr>
          <p:cNvPr id="12" name="TextBox 88"/>
          <p:cNvSpPr txBox="1"/>
          <p:nvPr/>
        </p:nvSpPr>
        <p:spPr>
          <a:xfrm>
            <a:off x="5071497" y="2062902"/>
            <a:ext cx="974099" cy="400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rPr>
              <a:t>4</a:t>
            </a:r>
            <a:endParaRPr kumimoji="0" lang="en-US"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endParaRPr>
          </a:p>
        </p:txBody>
      </p:sp>
      <p:sp>
        <p:nvSpPr>
          <p:cNvPr id="13" name="TextBox 88"/>
          <p:cNvSpPr txBox="1"/>
          <p:nvPr/>
        </p:nvSpPr>
        <p:spPr>
          <a:xfrm>
            <a:off x="4544381" y="5194033"/>
            <a:ext cx="974099" cy="40011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rPr>
              <a:t>2</a:t>
            </a:r>
            <a:endParaRPr kumimoji="0" lang="en-US" sz="2000" b="0" i="0" u="none" strike="noStrike" kern="1200" cap="none" spc="0" normalizeH="0" baseline="0" noProof="0" dirty="0">
              <a:ln>
                <a:noFill/>
              </a:ln>
              <a:solidFill>
                <a:prstClr val="white"/>
              </a:solidFill>
              <a:effectLst/>
              <a:uLnTx/>
              <a:uFillTx/>
              <a:latin typeface="字魂105号-简雅黑" panose="00000500000000000000" pitchFamily="2" charset="-122"/>
              <a:ea typeface="字魂105号-简雅黑" panose="00000500000000000000" pitchFamily="2" charset="-122"/>
              <a:cs typeface="+mn-cs"/>
              <a:sym typeface="Segoe UI" panose="020B0502040204020203" pitchFamily="34" charset="0"/>
            </a:endParaRPr>
          </a:p>
        </p:txBody>
      </p:sp>
      <p:sp>
        <p:nvSpPr>
          <p:cNvPr id="8" name="矩形 7"/>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2"/>
            </p:custDataLst>
          </p:nvPr>
        </p:nvSpPr>
        <p:spPr>
          <a:xfrm>
            <a:off x="177740" y="17659"/>
            <a:ext cx="3035360" cy="477361"/>
          </a:xfrm>
          <a:prstGeom prst="rect">
            <a:avLst/>
          </a:prstGeom>
          <a:noFill/>
          <a:effectLst/>
        </p:spPr>
        <p:txBody>
          <a:bodyPr wrap="square" lIns="106985" tIns="53492" rIns="106985" bIns="53492" rtlCol="0">
            <a:spAutoFit/>
          </a:bodyPr>
          <a:lstStyle/>
          <a:p>
            <a:pPr algn="dist"/>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数字经济产业分类</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22" name="文本框 21"/>
          <p:cNvSpPr txBox="1"/>
          <p:nvPr/>
        </p:nvSpPr>
        <p:spPr>
          <a:xfrm>
            <a:off x="6270859" y="6383168"/>
            <a:ext cx="6112042" cy="369332"/>
          </a:xfrm>
          <a:prstGeom prst="rect">
            <a:avLst/>
          </a:prstGeom>
          <a:noFill/>
        </p:spPr>
        <p:txBody>
          <a:bodyPr wrap="square">
            <a:spAutoFit/>
          </a:bodyPr>
          <a:lstStyle/>
          <a:p>
            <a:pPr algn="l"/>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数据来源：《数字经济及其核心产业统计分类（2021）》</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nvGrpSpPr>
          <p:cNvPr id="17" name="组合 16"/>
          <p:cNvGrpSpPr/>
          <p:nvPr/>
        </p:nvGrpSpPr>
        <p:grpSpPr>
          <a:xfrm>
            <a:off x="10605915" y="17659"/>
            <a:ext cx="1586085" cy="528405"/>
            <a:chOff x="10605916" y="5727392"/>
            <a:chExt cx="1586085" cy="528405"/>
          </a:xfrm>
        </p:grpSpPr>
        <p:sp>
          <p:nvSpPr>
            <p:cNvPr id="18" name="矩形 17"/>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9" name="文本框 18"/>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zh-CN" altLang="en-US"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a:extLst>
              <a:ext uri="{28A0092B-C50C-407E-A947-70E740481C1C}">
                <a14:useLocalDpi xmlns:a14="http://schemas.microsoft.com/office/drawing/2010/main" val="0"/>
              </a:ext>
            </a:extLst>
          </a:blip>
          <a:srcRect l="30024" r="26663"/>
          <a:stretch>
            <a:fillRect/>
          </a:stretch>
        </p:blipFill>
        <p:spPr>
          <a:xfrm>
            <a:off x="7736378" y="0"/>
            <a:ext cx="4455622" cy="6858000"/>
          </a:xfrm>
          <a:custGeom>
            <a:avLst/>
            <a:gdLst>
              <a:gd name="connsiteX0" fmla="*/ 0 w 4455622"/>
              <a:gd name="connsiteY0" fmla="*/ 0 h 6858000"/>
              <a:gd name="connsiteX1" fmla="*/ 4455622 w 4455622"/>
              <a:gd name="connsiteY1" fmla="*/ 0 h 6858000"/>
              <a:gd name="connsiteX2" fmla="*/ 4455622 w 4455622"/>
              <a:gd name="connsiteY2" fmla="*/ 6858000 h 6858000"/>
              <a:gd name="connsiteX3" fmla="*/ 0 w 445562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55622" h="6858000">
                <a:moveTo>
                  <a:pt x="0" y="0"/>
                </a:moveTo>
                <a:lnTo>
                  <a:pt x="4455622" y="0"/>
                </a:lnTo>
                <a:lnTo>
                  <a:pt x="4455622" y="6858000"/>
                </a:lnTo>
                <a:lnTo>
                  <a:pt x="0" y="6858000"/>
                </a:lnTo>
                <a:close/>
              </a:path>
            </a:pathLst>
          </a:custGeom>
        </p:spPr>
      </p:pic>
      <p:sp>
        <p:nvSpPr>
          <p:cNvPr id="4" name="矩形: 圆角 3"/>
          <p:cNvSpPr/>
          <p:nvPr/>
        </p:nvSpPr>
        <p:spPr>
          <a:xfrm flipH="1">
            <a:off x="7736378" y="0"/>
            <a:ext cx="4455622" cy="6858000"/>
          </a:xfrm>
          <a:prstGeom prst="roundRect">
            <a:avLst>
              <a:gd name="adj" fmla="val 0"/>
            </a:avLst>
          </a:prstGeom>
          <a:gradFill flip="none" rotWithShape="1">
            <a:gsLst>
              <a:gs pos="43100">
                <a:srgbClr val="285BDB">
                  <a:alpha val="88000"/>
                </a:srgbClr>
              </a:gs>
              <a:gs pos="0">
                <a:srgbClr val="285BDB"/>
              </a:gs>
              <a:gs pos="100000">
                <a:srgbClr val="285BDB">
                  <a:alpha val="43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5" name="矩形: 圆角 4"/>
          <p:cNvSpPr/>
          <p:nvPr/>
        </p:nvSpPr>
        <p:spPr>
          <a:xfrm>
            <a:off x="533400" y="1088571"/>
            <a:ext cx="11125200" cy="4793474"/>
          </a:xfrm>
          <a:prstGeom prst="roundRect">
            <a:avLst>
              <a:gd name="adj" fmla="val 50000"/>
            </a:avLst>
          </a:prstGeom>
          <a:solidFill>
            <a:schemeClr val="bg1"/>
          </a:soli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mn-ea"/>
            </a:endParaRPr>
          </a:p>
        </p:txBody>
      </p:sp>
      <p:cxnSp>
        <p:nvCxnSpPr>
          <p:cNvPr id="6" name="直接连接符 5"/>
          <p:cNvCxnSpPr/>
          <p:nvPr/>
        </p:nvCxnSpPr>
        <p:spPr>
          <a:xfrm>
            <a:off x="11067631" y="438150"/>
            <a:ext cx="674918" cy="0"/>
          </a:xfrm>
          <a:prstGeom prst="line">
            <a:avLst/>
          </a:prstGeom>
          <a:ln w="7620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1170730" y="1935381"/>
            <a:ext cx="3012769" cy="3012769"/>
          </a:xfrm>
          <a:prstGeom prst="ellipse">
            <a:avLst/>
          </a:prstGeom>
          <a:solidFill>
            <a:srgbClr val="285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0" name="弧形 9"/>
          <p:cNvSpPr/>
          <p:nvPr/>
        </p:nvSpPr>
        <p:spPr>
          <a:xfrm>
            <a:off x="925405" y="1690056"/>
            <a:ext cx="3503420" cy="3503420"/>
          </a:xfrm>
          <a:prstGeom prst="arc">
            <a:avLst/>
          </a:prstGeom>
          <a:ln>
            <a:solidFill>
              <a:srgbClr val="285BD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1" name="椭圆 10"/>
          <p:cNvSpPr/>
          <p:nvPr/>
        </p:nvSpPr>
        <p:spPr>
          <a:xfrm>
            <a:off x="4359688" y="3446341"/>
            <a:ext cx="146357" cy="146356"/>
          </a:xfrm>
          <a:prstGeom prst="ellipse">
            <a:avLst/>
          </a:prstGeom>
          <a:solidFill>
            <a:srgbClr val="285BD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endParaRPr>
          </a:p>
        </p:txBody>
      </p:sp>
      <p:sp>
        <p:nvSpPr>
          <p:cNvPr id="15" name="文本框 14"/>
          <p:cNvSpPr txBox="1"/>
          <p:nvPr>
            <p:custDataLst>
              <p:tags r:id="rId2"/>
            </p:custDataLst>
          </p:nvPr>
        </p:nvSpPr>
        <p:spPr>
          <a:xfrm flipH="1">
            <a:off x="4783700" y="2625244"/>
            <a:ext cx="6195783" cy="830997"/>
          </a:xfrm>
          <a:prstGeom prst="rect">
            <a:avLst/>
          </a:prstGeom>
          <a:noFill/>
        </p:spPr>
        <p:txBody>
          <a:bodyPr vert="horz" wrap="square" rtlCol="0">
            <a:spAutoFit/>
          </a:bodyPr>
          <a:lstStyle/>
          <a:p>
            <a:pPr algn="dist"/>
            <a:r>
              <a:rPr lang="zh-CN" altLang="en-US" sz="4800" dirty="0">
                <a:solidFill>
                  <a:srgbClr val="285BDB"/>
                </a:solidFill>
                <a:latin typeface="思源宋体 CN Heavy" panose="02020900000000000000" charset="-122"/>
                <a:ea typeface="思源宋体 CN Heavy" panose="02020900000000000000" charset="-122"/>
                <a:sym typeface="思源黑体 CN Medium" panose="020B0600000000000000" pitchFamily="34" charset="-122"/>
              </a:rPr>
              <a:t>数字经济的发展路径</a:t>
            </a:r>
            <a:endParaRPr lang="zh-CN" altLang="en-US" sz="4800" dirty="0">
              <a:solidFill>
                <a:srgbClr val="285BDB"/>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6" name="文本框 15"/>
          <p:cNvSpPr txBox="1"/>
          <p:nvPr>
            <p:custDataLst>
              <p:tags r:id="rId3"/>
            </p:custDataLst>
          </p:nvPr>
        </p:nvSpPr>
        <p:spPr>
          <a:xfrm flipH="1">
            <a:off x="4820830" y="1940441"/>
            <a:ext cx="6284079" cy="830997"/>
          </a:xfrm>
          <a:prstGeom prst="rect">
            <a:avLst/>
          </a:prstGeom>
          <a:noFill/>
        </p:spPr>
        <p:txBody>
          <a:bodyPr vert="horz" wrap="square" rtlCol="0">
            <a:spAutoFit/>
          </a:bodyPr>
          <a:lstStyle/>
          <a:p>
            <a:pPr algn="r"/>
            <a:r>
              <a:rPr lang="en-US" altLang="zh-CN" sz="2400" kern="100" dirty="0">
                <a:solidFill>
                  <a:srgbClr val="285BDB"/>
                </a:solidFill>
                <a:latin typeface="思源宋体 CN Heavy" panose="02020900000000000000" charset="-122"/>
                <a:ea typeface="思源宋体 CN Heavy" panose="02020900000000000000" charset="-122"/>
                <a:cs typeface="汉仪旗黑-50S" panose="00020600040101010101" charset="-122"/>
              </a:rPr>
              <a:t> The Development Path of Digital Economy</a:t>
            </a:r>
            <a:endParaRPr lang="en-US" altLang="zh-CN" sz="2400" kern="100" dirty="0">
              <a:solidFill>
                <a:srgbClr val="285BDB"/>
              </a:solidFill>
              <a:latin typeface="思源宋体 CN Heavy" panose="02020900000000000000" charset="-122"/>
              <a:ea typeface="思源宋体 CN Heavy" panose="02020900000000000000" charset="-122"/>
              <a:cs typeface="汉仪旗黑-50S" panose="00020600040101010101" charset="-122"/>
            </a:endParaRPr>
          </a:p>
        </p:txBody>
      </p:sp>
      <p:sp>
        <p:nvSpPr>
          <p:cNvPr id="17" name="PA-文本框 88"/>
          <p:cNvSpPr txBox="1"/>
          <p:nvPr>
            <p:custDataLst>
              <p:tags r:id="rId4"/>
            </p:custDataLst>
          </p:nvPr>
        </p:nvSpPr>
        <p:spPr>
          <a:xfrm>
            <a:off x="4924632" y="4055349"/>
            <a:ext cx="5239031" cy="252762"/>
          </a:xfrm>
          <a:prstGeom prst="rect">
            <a:avLst/>
          </a:prstGeom>
          <a:noFill/>
        </p:spPr>
        <p:txBody>
          <a:bodyPr wrap="square" lIns="0" tIns="0" rIns="0" bIns="0" rtlCol="0">
            <a:spAutoFit/>
          </a:bodyPr>
          <a:lstStyle/>
          <a:p>
            <a:pPr algn="dist" hangingPunct="0">
              <a:lnSpc>
                <a:spcPct val="130000"/>
              </a:lnSpc>
            </a:pPr>
            <a:r>
              <a:rPr lang="en-US" altLang="zh-CN"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mn-lt"/>
              </a:rPr>
              <a:t> The Development Path of Digital Economy</a:t>
            </a:r>
            <a:endParaRPr lang="en-US" altLang="zh-CN"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mn-lt"/>
            </a:endParaRPr>
          </a:p>
        </p:txBody>
      </p:sp>
      <p:sp>
        <p:nvSpPr>
          <p:cNvPr id="19" name="任意多边形: 形状 18"/>
          <p:cNvSpPr/>
          <p:nvPr/>
        </p:nvSpPr>
        <p:spPr>
          <a:xfrm rot="5400000" flipV="1">
            <a:off x="10341316" y="5693885"/>
            <a:ext cx="355828" cy="944588"/>
          </a:xfrm>
          <a:custGeom>
            <a:avLst/>
            <a:gdLst>
              <a:gd name="connsiteX0" fmla="*/ 615788 w 659098"/>
              <a:gd name="connsiteY0" fmla="*/ 1663038 h 1749657"/>
              <a:gd name="connsiteX1" fmla="*/ 659098 w 659098"/>
              <a:gd name="connsiteY1" fmla="*/ 1706348 h 1749657"/>
              <a:gd name="connsiteX2" fmla="*/ 615788 w 659098"/>
              <a:gd name="connsiteY2" fmla="*/ 1749657 h 1749657"/>
              <a:gd name="connsiteX3" fmla="*/ 572478 w 659098"/>
              <a:gd name="connsiteY3" fmla="*/ 1706348 h 1749657"/>
              <a:gd name="connsiteX4" fmla="*/ 615788 w 659098"/>
              <a:gd name="connsiteY4" fmla="*/ 1663038 h 1749657"/>
              <a:gd name="connsiteX5" fmla="*/ 424962 w 659098"/>
              <a:gd name="connsiteY5" fmla="*/ 1663038 h 1749657"/>
              <a:gd name="connsiteX6" fmla="*/ 468272 w 659098"/>
              <a:gd name="connsiteY6" fmla="*/ 1706348 h 1749657"/>
              <a:gd name="connsiteX7" fmla="*/ 424962 w 659098"/>
              <a:gd name="connsiteY7" fmla="*/ 1749657 h 1749657"/>
              <a:gd name="connsiteX8" fmla="*/ 381652 w 659098"/>
              <a:gd name="connsiteY8" fmla="*/ 1706348 h 1749657"/>
              <a:gd name="connsiteX9" fmla="*/ 424962 w 659098"/>
              <a:gd name="connsiteY9" fmla="*/ 1663038 h 1749657"/>
              <a:gd name="connsiteX10" fmla="*/ 234136 w 659098"/>
              <a:gd name="connsiteY10" fmla="*/ 1663038 h 1749657"/>
              <a:gd name="connsiteX11" fmla="*/ 277446 w 659098"/>
              <a:gd name="connsiteY11" fmla="*/ 1706348 h 1749657"/>
              <a:gd name="connsiteX12" fmla="*/ 234136 w 659098"/>
              <a:gd name="connsiteY12" fmla="*/ 1749657 h 1749657"/>
              <a:gd name="connsiteX13" fmla="*/ 190826 w 659098"/>
              <a:gd name="connsiteY13" fmla="*/ 1706348 h 1749657"/>
              <a:gd name="connsiteX14" fmla="*/ 234136 w 659098"/>
              <a:gd name="connsiteY14" fmla="*/ 1663038 h 1749657"/>
              <a:gd name="connsiteX15" fmla="*/ 43310 w 659098"/>
              <a:gd name="connsiteY15" fmla="*/ 1663038 h 1749657"/>
              <a:gd name="connsiteX16" fmla="*/ 86619 w 659098"/>
              <a:gd name="connsiteY16" fmla="*/ 1706348 h 1749657"/>
              <a:gd name="connsiteX17" fmla="*/ 43310 w 659098"/>
              <a:gd name="connsiteY17" fmla="*/ 1749657 h 1749657"/>
              <a:gd name="connsiteX18" fmla="*/ 0 w 659098"/>
              <a:gd name="connsiteY18" fmla="*/ 1706348 h 1749657"/>
              <a:gd name="connsiteX19" fmla="*/ 43310 w 659098"/>
              <a:gd name="connsiteY19" fmla="*/ 1663038 h 1749657"/>
              <a:gd name="connsiteX20" fmla="*/ 615788 w 659098"/>
              <a:gd name="connsiteY20" fmla="*/ 1385865 h 1749657"/>
              <a:gd name="connsiteX21" fmla="*/ 659098 w 659098"/>
              <a:gd name="connsiteY21" fmla="*/ 1429175 h 1749657"/>
              <a:gd name="connsiteX22" fmla="*/ 615788 w 659098"/>
              <a:gd name="connsiteY22" fmla="*/ 1472484 h 1749657"/>
              <a:gd name="connsiteX23" fmla="*/ 572478 w 659098"/>
              <a:gd name="connsiteY23" fmla="*/ 1429175 h 1749657"/>
              <a:gd name="connsiteX24" fmla="*/ 615788 w 659098"/>
              <a:gd name="connsiteY24" fmla="*/ 1385865 h 1749657"/>
              <a:gd name="connsiteX25" fmla="*/ 424962 w 659098"/>
              <a:gd name="connsiteY25" fmla="*/ 1385865 h 1749657"/>
              <a:gd name="connsiteX26" fmla="*/ 468272 w 659098"/>
              <a:gd name="connsiteY26" fmla="*/ 1429175 h 1749657"/>
              <a:gd name="connsiteX27" fmla="*/ 424962 w 659098"/>
              <a:gd name="connsiteY27" fmla="*/ 1472484 h 1749657"/>
              <a:gd name="connsiteX28" fmla="*/ 381652 w 659098"/>
              <a:gd name="connsiteY28" fmla="*/ 1429175 h 1749657"/>
              <a:gd name="connsiteX29" fmla="*/ 424962 w 659098"/>
              <a:gd name="connsiteY29" fmla="*/ 1385865 h 1749657"/>
              <a:gd name="connsiteX30" fmla="*/ 234136 w 659098"/>
              <a:gd name="connsiteY30" fmla="*/ 1385865 h 1749657"/>
              <a:gd name="connsiteX31" fmla="*/ 277446 w 659098"/>
              <a:gd name="connsiteY31" fmla="*/ 1429175 h 1749657"/>
              <a:gd name="connsiteX32" fmla="*/ 234136 w 659098"/>
              <a:gd name="connsiteY32" fmla="*/ 1472484 h 1749657"/>
              <a:gd name="connsiteX33" fmla="*/ 190826 w 659098"/>
              <a:gd name="connsiteY33" fmla="*/ 1429175 h 1749657"/>
              <a:gd name="connsiteX34" fmla="*/ 234136 w 659098"/>
              <a:gd name="connsiteY34" fmla="*/ 1385865 h 1749657"/>
              <a:gd name="connsiteX35" fmla="*/ 43310 w 659098"/>
              <a:gd name="connsiteY35" fmla="*/ 1385865 h 1749657"/>
              <a:gd name="connsiteX36" fmla="*/ 86619 w 659098"/>
              <a:gd name="connsiteY36" fmla="*/ 1429175 h 1749657"/>
              <a:gd name="connsiteX37" fmla="*/ 43310 w 659098"/>
              <a:gd name="connsiteY37" fmla="*/ 1472484 h 1749657"/>
              <a:gd name="connsiteX38" fmla="*/ 0 w 659098"/>
              <a:gd name="connsiteY38" fmla="*/ 1429175 h 1749657"/>
              <a:gd name="connsiteX39" fmla="*/ 43310 w 659098"/>
              <a:gd name="connsiteY39" fmla="*/ 1385865 h 1749657"/>
              <a:gd name="connsiteX40" fmla="*/ 615788 w 659098"/>
              <a:gd name="connsiteY40" fmla="*/ 1108692 h 1749657"/>
              <a:gd name="connsiteX41" fmla="*/ 659098 w 659098"/>
              <a:gd name="connsiteY41" fmla="*/ 1152002 h 1749657"/>
              <a:gd name="connsiteX42" fmla="*/ 615788 w 659098"/>
              <a:gd name="connsiteY42" fmla="*/ 1195311 h 1749657"/>
              <a:gd name="connsiteX43" fmla="*/ 572478 w 659098"/>
              <a:gd name="connsiteY43" fmla="*/ 1152002 h 1749657"/>
              <a:gd name="connsiteX44" fmla="*/ 615788 w 659098"/>
              <a:gd name="connsiteY44" fmla="*/ 1108692 h 1749657"/>
              <a:gd name="connsiteX45" fmla="*/ 424962 w 659098"/>
              <a:gd name="connsiteY45" fmla="*/ 1108692 h 1749657"/>
              <a:gd name="connsiteX46" fmla="*/ 468272 w 659098"/>
              <a:gd name="connsiteY46" fmla="*/ 1152002 h 1749657"/>
              <a:gd name="connsiteX47" fmla="*/ 424962 w 659098"/>
              <a:gd name="connsiteY47" fmla="*/ 1195311 h 1749657"/>
              <a:gd name="connsiteX48" fmla="*/ 381652 w 659098"/>
              <a:gd name="connsiteY48" fmla="*/ 1152002 h 1749657"/>
              <a:gd name="connsiteX49" fmla="*/ 424962 w 659098"/>
              <a:gd name="connsiteY49" fmla="*/ 1108692 h 1749657"/>
              <a:gd name="connsiteX50" fmla="*/ 234136 w 659098"/>
              <a:gd name="connsiteY50" fmla="*/ 1108692 h 1749657"/>
              <a:gd name="connsiteX51" fmla="*/ 277446 w 659098"/>
              <a:gd name="connsiteY51" fmla="*/ 1152002 h 1749657"/>
              <a:gd name="connsiteX52" fmla="*/ 234136 w 659098"/>
              <a:gd name="connsiteY52" fmla="*/ 1195311 h 1749657"/>
              <a:gd name="connsiteX53" fmla="*/ 190826 w 659098"/>
              <a:gd name="connsiteY53" fmla="*/ 1152002 h 1749657"/>
              <a:gd name="connsiteX54" fmla="*/ 234136 w 659098"/>
              <a:gd name="connsiteY54" fmla="*/ 1108692 h 1749657"/>
              <a:gd name="connsiteX55" fmla="*/ 43310 w 659098"/>
              <a:gd name="connsiteY55" fmla="*/ 1108692 h 1749657"/>
              <a:gd name="connsiteX56" fmla="*/ 86619 w 659098"/>
              <a:gd name="connsiteY56" fmla="*/ 1152002 h 1749657"/>
              <a:gd name="connsiteX57" fmla="*/ 43310 w 659098"/>
              <a:gd name="connsiteY57" fmla="*/ 1195311 h 1749657"/>
              <a:gd name="connsiteX58" fmla="*/ 0 w 659098"/>
              <a:gd name="connsiteY58" fmla="*/ 1152002 h 1749657"/>
              <a:gd name="connsiteX59" fmla="*/ 43310 w 659098"/>
              <a:gd name="connsiteY59" fmla="*/ 1108692 h 1749657"/>
              <a:gd name="connsiteX60" fmla="*/ 615788 w 659098"/>
              <a:gd name="connsiteY60" fmla="*/ 831519 h 1749657"/>
              <a:gd name="connsiteX61" fmla="*/ 659098 w 659098"/>
              <a:gd name="connsiteY61" fmla="*/ 874829 h 1749657"/>
              <a:gd name="connsiteX62" fmla="*/ 615788 w 659098"/>
              <a:gd name="connsiteY62" fmla="*/ 918138 h 1749657"/>
              <a:gd name="connsiteX63" fmla="*/ 572478 w 659098"/>
              <a:gd name="connsiteY63" fmla="*/ 874829 h 1749657"/>
              <a:gd name="connsiteX64" fmla="*/ 615788 w 659098"/>
              <a:gd name="connsiteY64" fmla="*/ 831519 h 1749657"/>
              <a:gd name="connsiteX65" fmla="*/ 424962 w 659098"/>
              <a:gd name="connsiteY65" fmla="*/ 831519 h 1749657"/>
              <a:gd name="connsiteX66" fmla="*/ 468272 w 659098"/>
              <a:gd name="connsiteY66" fmla="*/ 874829 h 1749657"/>
              <a:gd name="connsiteX67" fmla="*/ 424962 w 659098"/>
              <a:gd name="connsiteY67" fmla="*/ 918138 h 1749657"/>
              <a:gd name="connsiteX68" fmla="*/ 381652 w 659098"/>
              <a:gd name="connsiteY68" fmla="*/ 874829 h 1749657"/>
              <a:gd name="connsiteX69" fmla="*/ 424962 w 659098"/>
              <a:gd name="connsiteY69" fmla="*/ 831519 h 1749657"/>
              <a:gd name="connsiteX70" fmla="*/ 234136 w 659098"/>
              <a:gd name="connsiteY70" fmla="*/ 831519 h 1749657"/>
              <a:gd name="connsiteX71" fmla="*/ 277446 w 659098"/>
              <a:gd name="connsiteY71" fmla="*/ 874829 h 1749657"/>
              <a:gd name="connsiteX72" fmla="*/ 234136 w 659098"/>
              <a:gd name="connsiteY72" fmla="*/ 918138 h 1749657"/>
              <a:gd name="connsiteX73" fmla="*/ 190826 w 659098"/>
              <a:gd name="connsiteY73" fmla="*/ 874829 h 1749657"/>
              <a:gd name="connsiteX74" fmla="*/ 234136 w 659098"/>
              <a:gd name="connsiteY74" fmla="*/ 831519 h 1749657"/>
              <a:gd name="connsiteX75" fmla="*/ 43310 w 659098"/>
              <a:gd name="connsiteY75" fmla="*/ 831519 h 1749657"/>
              <a:gd name="connsiteX76" fmla="*/ 86619 w 659098"/>
              <a:gd name="connsiteY76" fmla="*/ 874829 h 1749657"/>
              <a:gd name="connsiteX77" fmla="*/ 43310 w 659098"/>
              <a:gd name="connsiteY77" fmla="*/ 918138 h 1749657"/>
              <a:gd name="connsiteX78" fmla="*/ 0 w 659098"/>
              <a:gd name="connsiteY78" fmla="*/ 874829 h 1749657"/>
              <a:gd name="connsiteX79" fmla="*/ 43310 w 659098"/>
              <a:gd name="connsiteY79" fmla="*/ 831519 h 1749657"/>
              <a:gd name="connsiteX80" fmla="*/ 43310 w 659098"/>
              <a:gd name="connsiteY80" fmla="*/ 554348 h 1749657"/>
              <a:gd name="connsiteX81" fmla="*/ 86619 w 659098"/>
              <a:gd name="connsiteY81" fmla="*/ 597658 h 1749657"/>
              <a:gd name="connsiteX82" fmla="*/ 43310 w 659098"/>
              <a:gd name="connsiteY82" fmla="*/ 640965 h 1749657"/>
              <a:gd name="connsiteX83" fmla="*/ 0 w 659098"/>
              <a:gd name="connsiteY83" fmla="*/ 597658 h 1749657"/>
              <a:gd name="connsiteX84" fmla="*/ 43310 w 659098"/>
              <a:gd name="connsiteY84" fmla="*/ 554348 h 1749657"/>
              <a:gd name="connsiteX85" fmla="*/ 615788 w 659098"/>
              <a:gd name="connsiteY85" fmla="*/ 554346 h 1749657"/>
              <a:gd name="connsiteX86" fmla="*/ 659098 w 659098"/>
              <a:gd name="connsiteY86" fmla="*/ 597656 h 1749657"/>
              <a:gd name="connsiteX87" fmla="*/ 615788 w 659098"/>
              <a:gd name="connsiteY87" fmla="*/ 640965 h 1749657"/>
              <a:gd name="connsiteX88" fmla="*/ 572478 w 659098"/>
              <a:gd name="connsiteY88" fmla="*/ 597656 h 1749657"/>
              <a:gd name="connsiteX89" fmla="*/ 615788 w 659098"/>
              <a:gd name="connsiteY89" fmla="*/ 554346 h 1749657"/>
              <a:gd name="connsiteX90" fmla="*/ 424962 w 659098"/>
              <a:gd name="connsiteY90" fmla="*/ 554346 h 1749657"/>
              <a:gd name="connsiteX91" fmla="*/ 468272 w 659098"/>
              <a:gd name="connsiteY91" fmla="*/ 597656 h 1749657"/>
              <a:gd name="connsiteX92" fmla="*/ 424962 w 659098"/>
              <a:gd name="connsiteY92" fmla="*/ 640965 h 1749657"/>
              <a:gd name="connsiteX93" fmla="*/ 381652 w 659098"/>
              <a:gd name="connsiteY93" fmla="*/ 597656 h 1749657"/>
              <a:gd name="connsiteX94" fmla="*/ 424962 w 659098"/>
              <a:gd name="connsiteY94" fmla="*/ 554346 h 1749657"/>
              <a:gd name="connsiteX95" fmla="*/ 234136 w 659098"/>
              <a:gd name="connsiteY95" fmla="*/ 554346 h 1749657"/>
              <a:gd name="connsiteX96" fmla="*/ 277446 w 659098"/>
              <a:gd name="connsiteY96" fmla="*/ 597656 h 1749657"/>
              <a:gd name="connsiteX97" fmla="*/ 234136 w 659098"/>
              <a:gd name="connsiteY97" fmla="*/ 640965 h 1749657"/>
              <a:gd name="connsiteX98" fmla="*/ 190826 w 659098"/>
              <a:gd name="connsiteY98" fmla="*/ 597656 h 1749657"/>
              <a:gd name="connsiteX99" fmla="*/ 234136 w 659098"/>
              <a:gd name="connsiteY99" fmla="*/ 554346 h 1749657"/>
              <a:gd name="connsiteX100" fmla="*/ 615788 w 659098"/>
              <a:gd name="connsiteY100" fmla="*/ 277173 h 1749657"/>
              <a:gd name="connsiteX101" fmla="*/ 659098 w 659098"/>
              <a:gd name="connsiteY101" fmla="*/ 320483 h 1749657"/>
              <a:gd name="connsiteX102" fmla="*/ 615788 w 659098"/>
              <a:gd name="connsiteY102" fmla="*/ 363792 h 1749657"/>
              <a:gd name="connsiteX103" fmla="*/ 572478 w 659098"/>
              <a:gd name="connsiteY103" fmla="*/ 320483 h 1749657"/>
              <a:gd name="connsiteX104" fmla="*/ 615788 w 659098"/>
              <a:gd name="connsiteY104" fmla="*/ 277173 h 1749657"/>
              <a:gd name="connsiteX105" fmla="*/ 424962 w 659098"/>
              <a:gd name="connsiteY105" fmla="*/ 277173 h 1749657"/>
              <a:gd name="connsiteX106" fmla="*/ 468272 w 659098"/>
              <a:gd name="connsiteY106" fmla="*/ 320483 h 1749657"/>
              <a:gd name="connsiteX107" fmla="*/ 424962 w 659098"/>
              <a:gd name="connsiteY107" fmla="*/ 363792 h 1749657"/>
              <a:gd name="connsiteX108" fmla="*/ 381652 w 659098"/>
              <a:gd name="connsiteY108" fmla="*/ 320483 h 1749657"/>
              <a:gd name="connsiteX109" fmla="*/ 424962 w 659098"/>
              <a:gd name="connsiteY109" fmla="*/ 277173 h 1749657"/>
              <a:gd name="connsiteX110" fmla="*/ 234136 w 659098"/>
              <a:gd name="connsiteY110" fmla="*/ 277173 h 1749657"/>
              <a:gd name="connsiteX111" fmla="*/ 277446 w 659098"/>
              <a:gd name="connsiteY111" fmla="*/ 320483 h 1749657"/>
              <a:gd name="connsiteX112" fmla="*/ 234136 w 659098"/>
              <a:gd name="connsiteY112" fmla="*/ 363792 h 1749657"/>
              <a:gd name="connsiteX113" fmla="*/ 190826 w 659098"/>
              <a:gd name="connsiteY113" fmla="*/ 320483 h 1749657"/>
              <a:gd name="connsiteX114" fmla="*/ 234136 w 659098"/>
              <a:gd name="connsiteY114" fmla="*/ 277173 h 1749657"/>
              <a:gd name="connsiteX115" fmla="*/ 43310 w 659098"/>
              <a:gd name="connsiteY115" fmla="*/ 277173 h 1749657"/>
              <a:gd name="connsiteX116" fmla="*/ 86619 w 659098"/>
              <a:gd name="connsiteY116" fmla="*/ 320483 h 1749657"/>
              <a:gd name="connsiteX117" fmla="*/ 43310 w 659098"/>
              <a:gd name="connsiteY117" fmla="*/ 363792 h 1749657"/>
              <a:gd name="connsiteX118" fmla="*/ 0 w 659098"/>
              <a:gd name="connsiteY118" fmla="*/ 320483 h 1749657"/>
              <a:gd name="connsiteX119" fmla="*/ 43310 w 659098"/>
              <a:gd name="connsiteY119" fmla="*/ 277173 h 1749657"/>
              <a:gd name="connsiteX120" fmla="*/ 615788 w 659098"/>
              <a:gd name="connsiteY120" fmla="*/ 0 h 1749657"/>
              <a:gd name="connsiteX121" fmla="*/ 659098 w 659098"/>
              <a:gd name="connsiteY121" fmla="*/ 43310 h 1749657"/>
              <a:gd name="connsiteX122" fmla="*/ 615788 w 659098"/>
              <a:gd name="connsiteY122" fmla="*/ 86619 h 1749657"/>
              <a:gd name="connsiteX123" fmla="*/ 572478 w 659098"/>
              <a:gd name="connsiteY123" fmla="*/ 43310 h 1749657"/>
              <a:gd name="connsiteX124" fmla="*/ 615788 w 659098"/>
              <a:gd name="connsiteY124" fmla="*/ 0 h 1749657"/>
              <a:gd name="connsiteX125" fmla="*/ 424962 w 659098"/>
              <a:gd name="connsiteY125" fmla="*/ 0 h 1749657"/>
              <a:gd name="connsiteX126" fmla="*/ 468272 w 659098"/>
              <a:gd name="connsiteY126" fmla="*/ 43310 h 1749657"/>
              <a:gd name="connsiteX127" fmla="*/ 424962 w 659098"/>
              <a:gd name="connsiteY127" fmla="*/ 86619 h 1749657"/>
              <a:gd name="connsiteX128" fmla="*/ 381652 w 659098"/>
              <a:gd name="connsiteY128" fmla="*/ 43310 h 1749657"/>
              <a:gd name="connsiteX129" fmla="*/ 424962 w 659098"/>
              <a:gd name="connsiteY129" fmla="*/ 0 h 1749657"/>
              <a:gd name="connsiteX130" fmla="*/ 234136 w 659098"/>
              <a:gd name="connsiteY130" fmla="*/ 0 h 1749657"/>
              <a:gd name="connsiteX131" fmla="*/ 277446 w 659098"/>
              <a:gd name="connsiteY131" fmla="*/ 43310 h 1749657"/>
              <a:gd name="connsiteX132" fmla="*/ 234136 w 659098"/>
              <a:gd name="connsiteY132" fmla="*/ 86619 h 1749657"/>
              <a:gd name="connsiteX133" fmla="*/ 190826 w 659098"/>
              <a:gd name="connsiteY133" fmla="*/ 43310 h 1749657"/>
              <a:gd name="connsiteX134" fmla="*/ 234136 w 659098"/>
              <a:gd name="connsiteY134" fmla="*/ 0 h 1749657"/>
              <a:gd name="connsiteX135" fmla="*/ 43310 w 659098"/>
              <a:gd name="connsiteY135" fmla="*/ 0 h 1749657"/>
              <a:gd name="connsiteX136" fmla="*/ 86619 w 659098"/>
              <a:gd name="connsiteY136" fmla="*/ 43310 h 1749657"/>
              <a:gd name="connsiteX137" fmla="*/ 43310 w 659098"/>
              <a:gd name="connsiteY137" fmla="*/ 86619 h 1749657"/>
              <a:gd name="connsiteX138" fmla="*/ 0 w 659098"/>
              <a:gd name="connsiteY138" fmla="*/ 43310 h 1749657"/>
              <a:gd name="connsiteX139" fmla="*/ 43310 w 659098"/>
              <a:gd name="connsiteY139" fmla="*/ 0 h 17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59098" h="1749657">
                <a:moveTo>
                  <a:pt x="615788" y="1663038"/>
                </a:moveTo>
                <a:cubicBezTo>
                  <a:pt x="639708" y="1663038"/>
                  <a:pt x="659098" y="1682427"/>
                  <a:pt x="659098" y="1706348"/>
                </a:cubicBezTo>
                <a:cubicBezTo>
                  <a:pt x="659098" y="1730268"/>
                  <a:pt x="639708" y="1749657"/>
                  <a:pt x="615788" y="1749657"/>
                </a:cubicBezTo>
                <a:cubicBezTo>
                  <a:pt x="591868" y="1749657"/>
                  <a:pt x="572478" y="1730268"/>
                  <a:pt x="572478" y="1706348"/>
                </a:cubicBezTo>
                <a:cubicBezTo>
                  <a:pt x="572478" y="1682427"/>
                  <a:pt x="591868" y="1663038"/>
                  <a:pt x="615788" y="1663038"/>
                </a:cubicBezTo>
                <a:close/>
                <a:moveTo>
                  <a:pt x="424962" y="1663038"/>
                </a:moveTo>
                <a:cubicBezTo>
                  <a:pt x="448882" y="1663038"/>
                  <a:pt x="468272" y="1682427"/>
                  <a:pt x="468272" y="1706348"/>
                </a:cubicBezTo>
                <a:cubicBezTo>
                  <a:pt x="468272" y="1730268"/>
                  <a:pt x="448882" y="1749657"/>
                  <a:pt x="424962" y="1749657"/>
                </a:cubicBezTo>
                <a:cubicBezTo>
                  <a:pt x="401042" y="1749657"/>
                  <a:pt x="381652" y="1730268"/>
                  <a:pt x="381652" y="1706348"/>
                </a:cubicBezTo>
                <a:cubicBezTo>
                  <a:pt x="381652" y="1682427"/>
                  <a:pt x="401042" y="1663038"/>
                  <a:pt x="424962" y="1663038"/>
                </a:cubicBezTo>
                <a:close/>
                <a:moveTo>
                  <a:pt x="234136" y="1663038"/>
                </a:moveTo>
                <a:cubicBezTo>
                  <a:pt x="258056" y="1663038"/>
                  <a:pt x="277446" y="1682427"/>
                  <a:pt x="277446" y="1706348"/>
                </a:cubicBezTo>
                <a:cubicBezTo>
                  <a:pt x="277446" y="1730268"/>
                  <a:pt x="258056" y="1749657"/>
                  <a:pt x="234136" y="1749657"/>
                </a:cubicBezTo>
                <a:cubicBezTo>
                  <a:pt x="210216" y="1749657"/>
                  <a:pt x="190826" y="1730268"/>
                  <a:pt x="190826" y="1706348"/>
                </a:cubicBezTo>
                <a:cubicBezTo>
                  <a:pt x="190826" y="1682427"/>
                  <a:pt x="210216" y="1663038"/>
                  <a:pt x="234136" y="1663038"/>
                </a:cubicBezTo>
                <a:close/>
                <a:moveTo>
                  <a:pt x="43310" y="1663038"/>
                </a:moveTo>
                <a:cubicBezTo>
                  <a:pt x="67230" y="1663038"/>
                  <a:pt x="86619" y="1682427"/>
                  <a:pt x="86619" y="1706348"/>
                </a:cubicBezTo>
                <a:cubicBezTo>
                  <a:pt x="86619" y="1730268"/>
                  <a:pt x="67230" y="1749657"/>
                  <a:pt x="43310" y="1749657"/>
                </a:cubicBezTo>
                <a:cubicBezTo>
                  <a:pt x="19390" y="1749657"/>
                  <a:pt x="0" y="1730268"/>
                  <a:pt x="0" y="1706348"/>
                </a:cubicBezTo>
                <a:cubicBezTo>
                  <a:pt x="0" y="1682427"/>
                  <a:pt x="19390" y="1663038"/>
                  <a:pt x="43310" y="1663038"/>
                </a:cubicBezTo>
                <a:close/>
                <a:moveTo>
                  <a:pt x="615788" y="1385865"/>
                </a:moveTo>
                <a:cubicBezTo>
                  <a:pt x="639708" y="1385865"/>
                  <a:pt x="659098" y="1405255"/>
                  <a:pt x="659098" y="1429175"/>
                </a:cubicBezTo>
                <a:cubicBezTo>
                  <a:pt x="659098" y="1453095"/>
                  <a:pt x="639708" y="1472484"/>
                  <a:pt x="615788" y="1472484"/>
                </a:cubicBezTo>
                <a:cubicBezTo>
                  <a:pt x="591868" y="1472484"/>
                  <a:pt x="572478" y="1453095"/>
                  <a:pt x="572478" y="1429175"/>
                </a:cubicBezTo>
                <a:cubicBezTo>
                  <a:pt x="572478" y="1405255"/>
                  <a:pt x="591868" y="1385865"/>
                  <a:pt x="615788" y="1385865"/>
                </a:cubicBezTo>
                <a:close/>
                <a:moveTo>
                  <a:pt x="424962" y="1385865"/>
                </a:moveTo>
                <a:cubicBezTo>
                  <a:pt x="448882" y="1385865"/>
                  <a:pt x="468272" y="1405255"/>
                  <a:pt x="468272" y="1429175"/>
                </a:cubicBezTo>
                <a:cubicBezTo>
                  <a:pt x="468272" y="1453095"/>
                  <a:pt x="448882" y="1472484"/>
                  <a:pt x="424962" y="1472484"/>
                </a:cubicBezTo>
                <a:cubicBezTo>
                  <a:pt x="401042" y="1472484"/>
                  <a:pt x="381652" y="1453095"/>
                  <a:pt x="381652" y="1429175"/>
                </a:cubicBezTo>
                <a:cubicBezTo>
                  <a:pt x="381652" y="1405255"/>
                  <a:pt x="401042" y="1385865"/>
                  <a:pt x="424962" y="1385865"/>
                </a:cubicBezTo>
                <a:close/>
                <a:moveTo>
                  <a:pt x="234136" y="1385865"/>
                </a:moveTo>
                <a:cubicBezTo>
                  <a:pt x="258056" y="1385865"/>
                  <a:pt x="277446" y="1405255"/>
                  <a:pt x="277446" y="1429175"/>
                </a:cubicBezTo>
                <a:cubicBezTo>
                  <a:pt x="277446" y="1453095"/>
                  <a:pt x="258056" y="1472484"/>
                  <a:pt x="234136" y="1472484"/>
                </a:cubicBezTo>
                <a:cubicBezTo>
                  <a:pt x="210216" y="1472484"/>
                  <a:pt x="190826" y="1453095"/>
                  <a:pt x="190826" y="1429175"/>
                </a:cubicBezTo>
                <a:cubicBezTo>
                  <a:pt x="190826" y="1405255"/>
                  <a:pt x="210216" y="1385865"/>
                  <a:pt x="234136" y="1385865"/>
                </a:cubicBezTo>
                <a:close/>
                <a:moveTo>
                  <a:pt x="43310" y="1385865"/>
                </a:moveTo>
                <a:cubicBezTo>
                  <a:pt x="67230" y="1385865"/>
                  <a:pt x="86619" y="1405255"/>
                  <a:pt x="86619" y="1429175"/>
                </a:cubicBezTo>
                <a:cubicBezTo>
                  <a:pt x="86619" y="1453095"/>
                  <a:pt x="67230" y="1472484"/>
                  <a:pt x="43310" y="1472484"/>
                </a:cubicBezTo>
                <a:cubicBezTo>
                  <a:pt x="19390" y="1472484"/>
                  <a:pt x="0" y="1453095"/>
                  <a:pt x="0" y="1429175"/>
                </a:cubicBezTo>
                <a:cubicBezTo>
                  <a:pt x="0" y="1405255"/>
                  <a:pt x="19390" y="1385865"/>
                  <a:pt x="43310" y="1385865"/>
                </a:cubicBezTo>
                <a:close/>
                <a:moveTo>
                  <a:pt x="615788" y="1108692"/>
                </a:moveTo>
                <a:cubicBezTo>
                  <a:pt x="639708" y="1108692"/>
                  <a:pt x="659098" y="1128082"/>
                  <a:pt x="659098" y="1152002"/>
                </a:cubicBezTo>
                <a:cubicBezTo>
                  <a:pt x="659098" y="1175922"/>
                  <a:pt x="639708" y="1195311"/>
                  <a:pt x="615788" y="1195311"/>
                </a:cubicBezTo>
                <a:cubicBezTo>
                  <a:pt x="591868" y="1195311"/>
                  <a:pt x="572478" y="1175922"/>
                  <a:pt x="572478" y="1152002"/>
                </a:cubicBezTo>
                <a:cubicBezTo>
                  <a:pt x="572478" y="1128082"/>
                  <a:pt x="591868" y="1108692"/>
                  <a:pt x="615788" y="1108692"/>
                </a:cubicBezTo>
                <a:close/>
                <a:moveTo>
                  <a:pt x="424962" y="1108692"/>
                </a:moveTo>
                <a:cubicBezTo>
                  <a:pt x="448882" y="1108692"/>
                  <a:pt x="468272" y="1128082"/>
                  <a:pt x="468272" y="1152002"/>
                </a:cubicBezTo>
                <a:cubicBezTo>
                  <a:pt x="468272" y="1175922"/>
                  <a:pt x="448882" y="1195311"/>
                  <a:pt x="424962" y="1195311"/>
                </a:cubicBezTo>
                <a:cubicBezTo>
                  <a:pt x="401042" y="1195311"/>
                  <a:pt x="381652" y="1175922"/>
                  <a:pt x="381652" y="1152002"/>
                </a:cubicBezTo>
                <a:cubicBezTo>
                  <a:pt x="381652" y="1128082"/>
                  <a:pt x="401042" y="1108692"/>
                  <a:pt x="424962" y="1108692"/>
                </a:cubicBezTo>
                <a:close/>
                <a:moveTo>
                  <a:pt x="234136" y="1108692"/>
                </a:moveTo>
                <a:cubicBezTo>
                  <a:pt x="258056" y="1108692"/>
                  <a:pt x="277446" y="1128082"/>
                  <a:pt x="277446" y="1152002"/>
                </a:cubicBezTo>
                <a:cubicBezTo>
                  <a:pt x="277446" y="1175922"/>
                  <a:pt x="258056" y="1195311"/>
                  <a:pt x="234136" y="1195311"/>
                </a:cubicBezTo>
                <a:cubicBezTo>
                  <a:pt x="210216" y="1195311"/>
                  <a:pt x="190826" y="1175922"/>
                  <a:pt x="190826" y="1152002"/>
                </a:cubicBezTo>
                <a:cubicBezTo>
                  <a:pt x="190826" y="1128082"/>
                  <a:pt x="210216" y="1108692"/>
                  <a:pt x="234136" y="1108692"/>
                </a:cubicBezTo>
                <a:close/>
                <a:moveTo>
                  <a:pt x="43310" y="1108692"/>
                </a:moveTo>
                <a:cubicBezTo>
                  <a:pt x="67230" y="1108692"/>
                  <a:pt x="86619" y="1128082"/>
                  <a:pt x="86619" y="1152002"/>
                </a:cubicBezTo>
                <a:cubicBezTo>
                  <a:pt x="86619" y="1175922"/>
                  <a:pt x="67230" y="1195311"/>
                  <a:pt x="43310" y="1195311"/>
                </a:cubicBezTo>
                <a:cubicBezTo>
                  <a:pt x="19390" y="1195311"/>
                  <a:pt x="0" y="1175922"/>
                  <a:pt x="0" y="1152002"/>
                </a:cubicBezTo>
                <a:cubicBezTo>
                  <a:pt x="0" y="1128082"/>
                  <a:pt x="19390" y="1108692"/>
                  <a:pt x="43310" y="1108692"/>
                </a:cubicBezTo>
                <a:close/>
                <a:moveTo>
                  <a:pt x="615788" y="831519"/>
                </a:moveTo>
                <a:cubicBezTo>
                  <a:pt x="639708" y="831519"/>
                  <a:pt x="659098" y="850909"/>
                  <a:pt x="659098" y="874829"/>
                </a:cubicBezTo>
                <a:cubicBezTo>
                  <a:pt x="659098" y="898749"/>
                  <a:pt x="639708" y="918138"/>
                  <a:pt x="615788" y="918138"/>
                </a:cubicBezTo>
                <a:cubicBezTo>
                  <a:pt x="591868" y="918138"/>
                  <a:pt x="572478" y="898749"/>
                  <a:pt x="572478" y="874829"/>
                </a:cubicBezTo>
                <a:cubicBezTo>
                  <a:pt x="572478" y="850909"/>
                  <a:pt x="591868" y="831519"/>
                  <a:pt x="615788" y="831519"/>
                </a:cubicBezTo>
                <a:close/>
                <a:moveTo>
                  <a:pt x="424962" y="831519"/>
                </a:moveTo>
                <a:cubicBezTo>
                  <a:pt x="448882" y="831519"/>
                  <a:pt x="468272" y="850909"/>
                  <a:pt x="468272" y="874829"/>
                </a:cubicBezTo>
                <a:cubicBezTo>
                  <a:pt x="468272" y="898749"/>
                  <a:pt x="448882" y="918138"/>
                  <a:pt x="424962" y="918138"/>
                </a:cubicBezTo>
                <a:cubicBezTo>
                  <a:pt x="401042" y="918138"/>
                  <a:pt x="381652" y="898749"/>
                  <a:pt x="381652" y="874829"/>
                </a:cubicBezTo>
                <a:cubicBezTo>
                  <a:pt x="381652" y="850909"/>
                  <a:pt x="401042" y="831519"/>
                  <a:pt x="424962" y="831519"/>
                </a:cubicBezTo>
                <a:close/>
                <a:moveTo>
                  <a:pt x="234136" y="831519"/>
                </a:moveTo>
                <a:cubicBezTo>
                  <a:pt x="258056" y="831519"/>
                  <a:pt x="277446" y="850909"/>
                  <a:pt x="277446" y="874829"/>
                </a:cubicBezTo>
                <a:cubicBezTo>
                  <a:pt x="277446" y="898749"/>
                  <a:pt x="258056" y="918138"/>
                  <a:pt x="234136" y="918138"/>
                </a:cubicBezTo>
                <a:cubicBezTo>
                  <a:pt x="210216" y="918138"/>
                  <a:pt x="190826" y="898749"/>
                  <a:pt x="190826" y="874829"/>
                </a:cubicBezTo>
                <a:cubicBezTo>
                  <a:pt x="190826" y="850909"/>
                  <a:pt x="210216" y="831519"/>
                  <a:pt x="234136" y="831519"/>
                </a:cubicBezTo>
                <a:close/>
                <a:moveTo>
                  <a:pt x="43310" y="831519"/>
                </a:moveTo>
                <a:cubicBezTo>
                  <a:pt x="67230" y="831519"/>
                  <a:pt x="86619" y="850909"/>
                  <a:pt x="86619" y="874829"/>
                </a:cubicBezTo>
                <a:cubicBezTo>
                  <a:pt x="86619" y="898749"/>
                  <a:pt x="67230" y="918138"/>
                  <a:pt x="43310" y="918138"/>
                </a:cubicBezTo>
                <a:cubicBezTo>
                  <a:pt x="19390" y="918138"/>
                  <a:pt x="0" y="898749"/>
                  <a:pt x="0" y="874829"/>
                </a:cubicBezTo>
                <a:cubicBezTo>
                  <a:pt x="0" y="850909"/>
                  <a:pt x="19390" y="831519"/>
                  <a:pt x="43310" y="831519"/>
                </a:cubicBezTo>
                <a:close/>
                <a:moveTo>
                  <a:pt x="43310" y="554348"/>
                </a:moveTo>
                <a:cubicBezTo>
                  <a:pt x="67230" y="554348"/>
                  <a:pt x="86619" y="573738"/>
                  <a:pt x="86619" y="597658"/>
                </a:cubicBezTo>
                <a:cubicBezTo>
                  <a:pt x="86619" y="621576"/>
                  <a:pt x="67230" y="640965"/>
                  <a:pt x="43310" y="640965"/>
                </a:cubicBezTo>
                <a:cubicBezTo>
                  <a:pt x="19390" y="640965"/>
                  <a:pt x="0" y="621576"/>
                  <a:pt x="0" y="597658"/>
                </a:cubicBezTo>
                <a:cubicBezTo>
                  <a:pt x="0" y="573738"/>
                  <a:pt x="19390" y="554348"/>
                  <a:pt x="43310" y="554348"/>
                </a:cubicBezTo>
                <a:close/>
                <a:moveTo>
                  <a:pt x="615788" y="554346"/>
                </a:moveTo>
                <a:cubicBezTo>
                  <a:pt x="639708" y="554346"/>
                  <a:pt x="659098" y="573736"/>
                  <a:pt x="659098" y="597656"/>
                </a:cubicBezTo>
                <a:cubicBezTo>
                  <a:pt x="659098" y="621576"/>
                  <a:pt x="639708" y="640965"/>
                  <a:pt x="615788" y="640965"/>
                </a:cubicBezTo>
                <a:cubicBezTo>
                  <a:pt x="591868" y="640965"/>
                  <a:pt x="572478" y="621576"/>
                  <a:pt x="572478" y="597656"/>
                </a:cubicBezTo>
                <a:cubicBezTo>
                  <a:pt x="572478" y="573736"/>
                  <a:pt x="591868" y="554346"/>
                  <a:pt x="615788" y="554346"/>
                </a:cubicBezTo>
                <a:close/>
                <a:moveTo>
                  <a:pt x="424962" y="554346"/>
                </a:moveTo>
                <a:cubicBezTo>
                  <a:pt x="448882" y="554346"/>
                  <a:pt x="468272" y="573736"/>
                  <a:pt x="468272" y="597656"/>
                </a:cubicBezTo>
                <a:cubicBezTo>
                  <a:pt x="468272" y="621576"/>
                  <a:pt x="448882" y="640965"/>
                  <a:pt x="424962" y="640965"/>
                </a:cubicBezTo>
                <a:cubicBezTo>
                  <a:pt x="401042" y="640965"/>
                  <a:pt x="381652" y="621576"/>
                  <a:pt x="381652" y="597656"/>
                </a:cubicBezTo>
                <a:cubicBezTo>
                  <a:pt x="381652" y="573736"/>
                  <a:pt x="401042" y="554346"/>
                  <a:pt x="424962" y="554346"/>
                </a:cubicBezTo>
                <a:close/>
                <a:moveTo>
                  <a:pt x="234136" y="554346"/>
                </a:moveTo>
                <a:cubicBezTo>
                  <a:pt x="258056" y="554346"/>
                  <a:pt x="277446" y="573736"/>
                  <a:pt x="277446" y="597656"/>
                </a:cubicBezTo>
                <a:cubicBezTo>
                  <a:pt x="277446" y="621576"/>
                  <a:pt x="258056" y="640965"/>
                  <a:pt x="234136" y="640965"/>
                </a:cubicBezTo>
                <a:cubicBezTo>
                  <a:pt x="210216" y="640965"/>
                  <a:pt x="190826" y="621576"/>
                  <a:pt x="190826" y="597656"/>
                </a:cubicBezTo>
                <a:cubicBezTo>
                  <a:pt x="190826" y="573736"/>
                  <a:pt x="210216" y="554346"/>
                  <a:pt x="234136" y="554346"/>
                </a:cubicBezTo>
                <a:close/>
                <a:moveTo>
                  <a:pt x="615788" y="277173"/>
                </a:moveTo>
                <a:cubicBezTo>
                  <a:pt x="639708" y="277173"/>
                  <a:pt x="659098" y="296563"/>
                  <a:pt x="659098" y="320483"/>
                </a:cubicBezTo>
                <a:cubicBezTo>
                  <a:pt x="659098" y="344403"/>
                  <a:pt x="639708" y="363792"/>
                  <a:pt x="615788" y="363792"/>
                </a:cubicBezTo>
                <a:cubicBezTo>
                  <a:pt x="591868" y="363792"/>
                  <a:pt x="572478" y="344403"/>
                  <a:pt x="572478" y="320483"/>
                </a:cubicBezTo>
                <a:cubicBezTo>
                  <a:pt x="572478" y="296563"/>
                  <a:pt x="591868" y="277173"/>
                  <a:pt x="615788" y="277173"/>
                </a:cubicBezTo>
                <a:close/>
                <a:moveTo>
                  <a:pt x="424962" y="277173"/>
                </a:moveTo>
                <a:cubicBezTo>
                  <a:pt x="448882" y="277173"/>
                  <a:pt x="468272" y="296563"/>
                  <a:pt x="468272" y="320483"/>
                </a:cubicBezTo>
                <a:cubicBezTo>
                  <a:pt x="468272" y="344403"/>
                  <a:pt x="448882" y="363792"/>
                  <a:pt x="424962" y="363792"/>
                </a:cubicBezTo>
                <a:cubicBezTo>
                  <a:pt x="401042" y="363792"/>
                  <a:pt x="381652" y="344403"/>
                  <a:pt x="381652" y="320483"/>
                </a:cubicBezTo>
                <a:cubicBezTo>
                  <a:pt x="381652" y="296563"/>
                  <a:pt x="401042" y="277173"/>
                  <a:pt x="424962" y="277173"/>
                </a:cubicBezTo>
                <a:close/>
                <a:moveTo>
                  <a:pt x="234136" y="277173"/>
                </a:moveTo>
                <a:cubicBezTo>
                  <a:pt x="258056" y="277173"/>
                  <a:pt x="277446" y="296563"/>
                  <a:pt x="277446" y="320483"/>
                </a:cubicBezTo>
                <a:cubicBezTo>
                  <a:pt x="277446" y="344403"/>
                  <a:pt x="258056" y="363792"/>
                  <a:pt x="234136" y="363792"/>
                </a:cubicBezTo>
                <a:cubicBezTo>
                  <a:pt x="210216" y="363792"/>
                  <a:pt x="190826" y="344403"/>
                  <a:pt x="190826" y="320483"/>
                </a:cubicBezTo>
                <a:cubicBezTo>
                  <a:pt x="190826" y="296563"/>
                  <a:pt x="210216" y="277173"/>
                  <a:pt x="234136" y="277173"/>
                </a:cubicBezTo>
                <a:close/>
                <a:moveTo>
                  <a:pt x="43310" y="277173"/>
                </a:moveTo>
                <a:cubicBezTo>
                  <a:pt x="67230" y="277173"/>
                  <a:pt x="86619" y="296563"/>
                  <a:pt x="86619" y="320483"/>
                </a:cubicBezTo>
                <a:cubicBezTo>
                  <a:pt x="86619" y="344403"/>
                  <a:pt x="67230" y="363792"/>
                  <a:pt x="43310" y="363792"/>
                </a:cubicBezTo>
                <a:cubicBezTo>
                  <a:pt x="19390" y="363792"/>
                  <a:pt x="0" y="344403"/>
                  <a:pt x="0" y="320483"/>
                </a:cubicBezTo>
                <a:cubicBezTo>
                  <a:pt x="0" y="296563"/>
                  <a:pt x="19390" y="277173"/>
                  <a:pt x="43310" y="277173"/>
                </a:cubicBezTo>
                <a:close/>
                <a:moveTo>
                  <a:pt x="615788" y="0"/>
                </a:moveTo>
                <a:cubicBezTo>
                  <a:pt x="639708" y="0"/>
                  <a:pt x="659098" y="19390"/>
                  <a:pt x="659098" y="43310"/>
                </a:cubicBezTo>
                <a:cubicBezTo>
                  <a:pt x="659098" y="67230"/>
                  <a:pt x="639708" y="86619"/>
                  <a:pt x="615788" y="86619"/>
                </a:cubicBezTo>
                <a:cubicBezTo>
                  <a:pt x="591868" y="86619"/>
                  <a:pt x="572478" y="67230"/>
                  <a:pt x="572478" y="43310"/>
                </a:cubicBezTo>
                <a:cubicBezTo>
                  <a:pt x="572478" y="19390"/>
                  <a:pt x="591868" y="0"/>
                  <a:pt x="615788" y="0"/>
                </a:cubicBezTo>
                <a:close/>
                <a:moveTo>
                  <a:pt x="424962" y="0"/>
                </a:moveTo>
                <a:cubicBezTo>
                  <a:pt x="448882" y="0"/>
                  <a:pt x="468272" y="19390"/>
                  <a:pt x="468272" y="43310"/>
                </a:cubicBezTo>
                <a:cubicBezTo>
                  <a:pt x="468272" y="67230"/>
                  <a:pt x="448882" y="86619"/>
                  <a:pt x="424962" y="86619"/>
                </a:cubicBezTo>
                <a:cubicBezTo>
                  <a:pt x="401042" y="86619"/>
                  <a:pt x="381652" y="67230"/>
                  <a:pt x="381652" y="43310"/>
                </a:cubicBezTo>
                <a:cubicBezTo>
                  <a:pt x="381652" y="19390"/>
                  <a:pt x="401042" y="0"/>
                  <a:pt x="424962" y="0"/>
                </a:cubicBezTo>
                <a:close/>
                <a:moveTo>
                  <a:pt x="234136" y="0"/>
                </a:moveTo>
                <a:cubicBezTo>
                  <a:pt x="258056" y="0"/>
                  <a:pt x="277446" y="19390"/>
                  <a:pt x="277446" y="43310"/>
                </a:cubicBezTo>
                <a:cubicBezTo>
                  <a:pt x="277446" y="67230"/>
                  <a:pt x="258056" y="86619"/>
                  <a:pt x="234136" y="86619"/>
                </a:cubicBezTo>
                <a:cubicBezTo>
                  <a:pt x="210216" y="86619"/>
                  <a:pt x="190826" y="67230"/>
                  <a:pt x="190826" y="43310"/>
                </a:cubicBezTo>
                <a:cubicBezTo>
                  <a:pt x="190826" y="19390"/>
                  <a:pt x="210216" y="0"/>
                  <a:pt x="234136" y="0"/>
                </a:cubicBezTo>
                <a:close/>
                <a:moveTo>
                  <a:pt x="43310" y="0"/>
                </a:moveTo>
                <a:cubicBezTo>
                  <a:pt x="67230" y="0"/>
                  <a:pt x="86619" y="19390"/>
                  <a:pt x="86619" y="43310"/>
                </a:cubicBezTo>
                <a:cubicBezTo>
                  <a:pt x="86619" y="67230"/>
                  <a:pt x="67230" y="86619"/>
                  <a:pt x="43310" y="86619"/>
                </a:cubicBezTo>
                <a:cubicBezTo>
                  <a:pt x="19390" y="86619"/>
                  <a:pt x="0" y="67230"/>
                  <a:pt x="0" y="43310"/>
                </a:cubicBezTo>
                <a:cubicBezTo>
                  <a:pt x="0" y="19390"/>
                  <a:pt x="19390" y="0"/>
                  <a:pt x="43310" y="0"/>
                </a:cubicBezTo>
                <a:close/>
              </a:path>
            </a:pathLst>
          </a:custGeom>
          <a:gradFill flip="none" rotWithShape="1">
            <a:gsLst>
              <a:gs pos="0">
                <a:srgbClr val="567FCA"/>
              </a:gs>
              <a:gs pos="100000">
                <a:srgbClr val="567FCA">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sp>
        <p:nvSpPr>
          <p:cNvPr id="20" name="任意多边形: 形状 19"/>
          <p:cNvSpPr/>
          <p:nvPr/>
        </p:nvSpPr>
        <p:spPr>
          <a:xfrm rot="5400000" flipV="1">
            <a:off x="5297602" y="1112814"/>
            <a:ext cx="355828" cy="944588"/>
          </a:xfrm>
          <a:custGeom>
            <a:avLst/>
            <a:gdLst>
              <a:gd name="connsiteX0" fmla="*/ 615788 w 659098"/>
              <a:gd name="connsiteY0" fmla="*/ 1663038 h 1749657"/>
              <a:gd name="connsiteX1" fmla="*/ 659098 w 659098"/>
              <a:gd name="connsiteY1" fmla="*/ 1706348 h 1749657"/>
              <a:gd name="connsiteX2" fmla="*/ 615788 w 659098"/>
              <a:gd name="connsiteY2" fmla="*/ 1749657 h 1749657"/>
              <a:gd name="connsiteX3" fmla="*/ 572478 w 659098"/>
              <a:gd name="connsiteY3" fmla="*/ 1706348 h 1749657"/>
              <a:gd name="connsiteX4" fmla="*/ 615788 w 659098"/>
              <a:gd name="connsiteY4" fmla="*/ 1663038 h 1749657"/>
              <a:gd name="connsiteX5" fmla="*/ 424962 w 659098"/>
              <a:gd name="connsiteY5" fmla="*/ 1663038 h 1749657"/>
              <a:gd name="connsiteX6" fmla="*/ 468272 w 659098"/>
              <a:gd name="connsiteY6" fmla="*/ 1706348 h 1749657"/>
              <a:gd name="connsiteX7" fmla="*/ 424962 w 659098"/>
              <a:gd name="connsiteY7" fmla="*/ 1749657 h 1749657"/>
              <a:gd name="connsiteX8" fmla="*/ 381652 w 659098"/>
              <a:gd name="connsiteY8" fmla="*/ 1706348 h 1749657"/>
              <a:gd name="connsiteX9" fmla="*/ 424962 w 659098"/>
              <a:gd name="connsiteY9" fmla="*/ 1663038 h 1749657"/>
              <a:gd name="connsiteX10" fmla="*/ 234136 w 659098"/>
              <a:gd name="connsiteY10" fmla="*/ 1663038 h 1749657"/>
              <a:gd name="connsiteX11" fmla="*/ 277446 w 659098"/>
              <a:gd name="connsiteY11" fmla="*/ 1706348 h 1749657"/>
              <a:gd name="connsiteX12" fmla="*/ 234136 w 659098"/>
              <a:gd name="connsiteY12" fmla="*/ 1749657 h 1749657"/>
              <a:gd name="connsiteX13" fmla="*/ 190826 w 659098"/>
              <a:gd name="connsiteY13" fmla="*/ 1706348 h 1749657"/>
              <a:gd name="connsiteX14" fmla="*/ 234136 w 659098"/>
              <a:gd name="connsiteY14" fmla="*/ 1663038 h 1749657"/>
              <a:gd name="connsiteX15" fmla="*/ 43310 w 659098"/>
              <a:gd name="connsiteY15" fmla="*/ 1663038 h 1749657"/>
              <a:gd name="connsiteX16" fmla="*/ 86619 w 659098"/>
              <a:gd name="connsiteY16" fmla="*/ 1706348 h 1749657"/>
              <a:gd name="connsiteX17" fmla="*/ 43310 w 659098"/>
              <a:gd name="connsiteY17" fmla="*/ 1749657 h 1749657"/>
              <a:gd name="connsiteX18" fmla="*/ 0 w 659098"/>
              <a:gd name="connsiteY18" fmla="*/ 1706348 h 1749657"/>
              <a:gd name="connsiteX19" fmla="*/ 43310 w 659098"/>
              <a:gd name="connsiteY19" fmla="*/ 1663038 h 1749657"/>
              <a:gd name="connsiteX20" fmla="*/ 615788 w 659098"/>
              <a:gd name="connsiteY20" fmla="*/ 1385865 h 1749657"/>
              <a:gd name="connsiteX21" fmla="*/ 659098 w 659098"/>
              <a:gd name="connsiteY21" fmla="*/ 1429175 h 1749657"/>
              <a:gd name="connsiteX22" fmla="*/ 615788 w 659098"/>
              <a:gd name="connsiteY22" fmla="*/ 1472484 h 1749657"/>
              <a:gd name="connsiteX23" fmla="*/ 572478 w 659098"/>
              <a:gd name="connsiteY23" fmla="*/ 1429175 h 1749657"/>
              <a:gd name="connsiteX24" fmla="*/ 615788 w 659098"/>
              <a:gd name="connsiteY24" fmla="*/ 1385865 h 1749657"/>
              <a:gd name="connsiteX25" fmla="*/ 424962 w 659098"/>
              <a:gd name="connsiteY25" fmla="*/ 1385865 h 1749657"/>
              <a:gd name="connsiteX26" fmla="*/ 468272 w 659098"/>
              <a:gd name="connsiteY26" fmla="*/ 1429175 h 1749657"/>
              <a:gd name="connsiteX27" fmla="*/ 424962 w 659098"/>
              <a:gd name="connsiteY27" fmla="*/ 1472484 h 1749657"/>
              <a:gd name="connsiteX28" fmla="*/ 381652 w 659098"/>
              <a:gd name="connsiteY28" fmla="*/ 1429175 h 1749657"/>
              <a:gd name="connsiteX29" fmla="*/ 424962 w 659098"/>
              <a:gd name="connsiteY29" fmla="*/ 1385865 h 1749657"/>
              <a:gd name="connsiteX30" fmla="*/ 234136 w 659098"/>
              <a:gd name="connsiteY30" fmla="*/ 1385865 h 1749657"/>
              <a:gd name="connsiteX31" fmla="*/ 277446 w 659098"/>
              <a:gd name="connsiteY31" fmla="*/ 1429175 h 1749657"/>
              <a:gd name="connsiteX32" fmla="*/ 234136 w 659098"/>
              <a:gd name="connsiteY32" fmla="*/ 1472484 h 1749657"/>
              <a:gd name="connsiteX33" fmla="*/ 190826 w 659098"/>
              <a:gd name="connsiteY33" fmla="*/ 1429175 h 1749657"/>
              <a:gd name="connsiteX34" fmla="*/ 234136 w 659098"/>
              <a:gd name="connsiteY34" fmla="*/ 1385865 h 1749657"/>
              <a:gd name="connsiteX35" fmla="*/ 43310 w 659098"/>
              <a:gd name="connsiteY35" fmla="*/ 1385865 h 1749657"/>
              <a:gd name="connsiteX36" fmla="*/ 86619 w 659098"/>
              <a:gd name="connsiteY36" fmla="*/ 1429175 h 1749657"/>
              <a:gd name="connsiteX37" fmla="*/ 43310 w 659098"/>
              <a:gd name="connsiteY37" fmla="*/ 1472484 h 1749657"/>
              <a:gd name="connsiteX38" fmla="*/ 0 w 659098"/>
              <a:gd name="connsiteY38" fmla="*/ 1429175 h 1749657"/>
              <a:gd name="connsiteX39" fmla="*/ 43310 w 659098"/>
              <a:gd name="connsiteY39" fmla="*/ 1385865 h 1749657"/>
              <a:gd name="connsiteX40" fmla="*/ 615788 w 659098"/>
              <a:gd name="connsiteY40" fmla="*/ 1108692 h 1749657"/>
              <a:gd name="connsiteX41" fmla="*/ 659098 w 659098"/>
              <a:gd name="connsiteY41" fmla="*/ 1152002 h 1749657"/>
              <a:gd name="connsiteX42" fmla="*/ 615788 w 659098"/>
              <a:gd name="connsiteY42" fmla="*/ 1195311 h 1749657"/>
              <a:gd name="connsiteX43" fmla="*/ 572478 w 659098"/>
              <a:gd name="connsiteY43" fmla="*/ 1152002 h 1749657"/>
              <a:gd name="connsiteX44" fmla="*/ 615788 w 659098"/>
              <a:gd name="connsiteY44" fmla="*/ 1108692 h 1749657"/>
              <a:gd name="connsiteX45" fmla="*/ 424962 w 659098"/>
              <a:gd name="connsiteY45" fmla="*/ 1108692 h 1749657"/>
              <a:gd name="connsiteX46" fmla="*/ 468272 w 659098"/>
              <a:gd name="connsiteY46" fmla="*/ 1152002 h 1749657"/>
              <a:gd name="connsiteX47" fmla="*/ 424962 w 659098"/>
              <a:gd name="connsiteY47" fmla="*/ 1195311 h 1749657"/>
              <a:gd name="connsiteX48" fmla="*/ 381652 w 659098"/>
              <a:gd name="connsiteY48" fmla="*/ 1152002 h 1749657"/>
              <a:gd name="connsiteX49" fmla="*/ 424962 w 659098"/>
              <a:gd name="connsiteY49" fmla="*/ 1108692 h 1749657"/>
              <a:gd name="connsiteX50" fmla="*/ 234136 w 659098"/>
              <a:gd name="connsiteY50" fmla="*/ 1108692 h 1749657"/>
              <a:gd name="connsiteX51" fmla="*/ 277446 w 659098"/>
              <a:gd name="connsiteY51" fmla="*/ 1152002 h 1749657"/>
              <a:gd name="connsiteX52" fmla="*/ 234136 w 659098"/>
              <a:gd name="connsiteY52" fmla="*/ 1195311 h 1749657"/>
              <a:gd name="connsiteX53" fmla="*/ 190826 w 659098"/>
              <a:gd name="connsiteY53" fmla="*/ 1152002 h 1749657"/>
              <a:gd name="connsiteX54" fmla="*/ 234136 w 659098"/>
              <a:gd name="connsiteY54" fmla="*/ 1108692 h 1749657"/>
              <a:gd name="connsiteX55" fmla="*/ 43310 w 659098"/>
              <a:gd name="connsiteY55" fmla="*/ 1108692 h 1749657"/>
              <a:gd name="connsiteX56" fmla="*/ 86619 w 659098"/>
              <a:gd name="connsiteY56" fmla="*/ 1152002 h 1749657"/>
              <a:gd name="connsiteX57" fmla="*/ 43310 w 659098"/>
              <a:gd name="connsiteY57" fmla="*/ 1195311 h 1749657"/>
              <a:gd name="connsiteX58" fmla="*/ 0 w 659098"/>
              <a:gd name="connsiteY58" fmla="*/ 1152002 h 1749657"/>
              <a:gd name="connsiteX59" fmla="*/ 43310 w 659098"/>
              <a:gd name="connsiteY59" fmla="*/ 1108692 h 1749657"/>
              <a:gd name="connsiteX60" fmla="*/ 615788 w 659098"/>
              <a:gd name="connsiteY60" fmla="*/ 831519 h 1749657"/>
              <a:gd name="connsiteX61" fmla="*/ 659098 w 659098"/>
              <a:gd name="connsiteY61" fmla="*/ 874829 h 1749657"/>
              <a:gd name="connsiteX62" fmla="*/ 615788 w 659098"/>
              <a:gd name="connsiteY62" fmla="*/ 918138 h 1749657"/>
              <a:gd name="connsiteX63" fmla="*/ 572478 w 659098"/>
              <a:gd name="connsiteY63" fmla="*/ 874829 h 1749657"/>
              <a:gd name="connsiteX64" fmla="*/ 615788 w 659098"/>
              <a:gd name="connsiteY64" fmla="*/ 831519 h 1749657"/>
              <a:gd name="connsiteX65" fmla="*/ 424962 w 659098"/>
              <a:gd name="connsiteY65" fmla="*/ 831519 h 1749657"/>
              <a:gd name="connsiteX66" fmla="*/ 468272 w 659098"/>
              <a:gd name="connsiteY66" fmla="*/ 874829 h 1749657"/>
              <a:gd name="connsiteX67" fmla="*/ 424962 w 659098"/>
              <a:gd name="connsiteY67" fmla="*/ 918138 h 1749657"/>
              <a:gd name="connsiteX68" fmla="*/ 381652 w 659098"/>
              <a:gd name="connsiteY68" fmla="*/ 874829 h 1749657"/>
              <a:gd name="connsiteX69" fmla="*/ 424962 w 659098"/>
              <a:gd name="connsiteY69" fmla="*/ 831519 h 1749657"/>
              <a:gd name="connsiteX70" fmla="*/ 234136 w 659098"/>
              <a:gd name="connsiteY70" fmla="*/ 831519 h 1749657"/>
              <a:gd name="connsiteX71" fmla="*/ 277446 w 659098"/>
              <a:gd name="connsiteY71" fmla="*/ 874829 h 1749657"/>
              <a:gd name="connsiteX72" fmla="*/ 234136 w 659098"/>
              <a:gd name="connsiteY72" fmla="*/ 918138 h 1749657"/>
              <a:gd name="connsiteX73" fmla="*/ 190826 w 659098"/>
              <a:gd name="connsiteY73" fmla="*/ 874829 h 1749657"/>
              <a:gd name="connsiteX74" fmla="*/ 234136 w 659098"/>
              <a:gd name="connsiteY74" fmla="*/ 831519 h 1749657"/>
              <a:gd name="connsiteX75" fmla="*/ 43310 w 659098"/>
              <a:gd name="connsiteY75" fmla="*/ 831519 h 1749657"/>
              <a:gd name="connsiteX76" fmla="*/ 86619 w 659098"/>
              <a:gd name="connsiteY76" fmla="*/ 874829 h 1749657"/>
              <a:gd name="connsiteX77" fmla="*/ 43310 w 659098"/>
              <a:gd name="connsiteY77" fmla="*/ 918138 h 1749657"/>
              <a:gd name="connsiteX78" fmla="*/ 0 w 659098"/>
              <a:gd name="connsiteY78" fmla="*/ 874829 h 1749657"/>
              <a:gd name="connsiteX79" fmla="*/ 43310 w 659098"/>
              <a:gd name="connsiteY79" fmla="*/ 831519 h 1749657"/>
              <a:gd name="connsiteX80" fmla="*/ 43310 w 659098"/>
              <a:gd name="connsiteY80" fmla="*/ 554348 h 1749657"/>
              <a:gd name="connsiteX81" fmla="*/ 86619 w 659098"/>
              <a:gd name="connsiteY81" fmla="*/ 597658 h 1749657"/>
              <a:gd name="connsiteX82" fmla="*/ 43310 w 659098"/>
              <a:gd name="connsiteY82" fmla="*/ 640965 h 1749657"/>
              <a:gd name="connsiteX83" fmla="*/ 0 w 659098"/>
              <a:gd name="connsiteY83" fmla="*/ 597658 h 1749657"/>
              <a:gd name="connsiteX84" fmla="*/ 43310 w 659098"/>
              <a:gd name="connsiteY84" fmla="*/ 554348 h 1749657"/>
              <a:gd name="connsiteX85" fmla="*/ 615788 w 659098"/>
              <a:gd name="connsiteY85" fmla="*/ 554346 h 1749657"/>
              <a:gd name="connsiteX86" fmla="*/ 659098 w 659098"/>
              <a:gd name="connsiteY86" fmla="*/ 597656 h 1749657"/>
              <a:gd name="connsiteX87" fmla="*/ 615788 w 659098"/>
              <a:gd name="connsiteY87" fmla="*/ 640965 h 1749657"/>
              <a:gd name="connsiteX88" fmla="*/ 572478 w 659098"/>
              <a:gd name="connsiteY88" fmla="*/ 597656 h 1749657"/>
              <a:gd name="connsiteX89" fmla="*/ 615788 w 659098"/>
              <a:gd name="connsiteY89" fmla="*/ 554346 h 1749657"/>
              <a:gd name="connsiteX90" fmla="*/ 424962 w 659098"/>
              <a:gd name="connsiteY90" fmla="*/ 554346 h 1749657"/>
              <a:gd name="connsiteX91" fmla="*/ 468272 w 659098"/>
              <a:gd name="connsiteY91" fmla="*/ 597656 h 1749657"/>
              <a:gd name="connsiteX92" fmla="*/ 424962 w 659098"/>
              <a:gd name="connsiteY92" fmla="*/ 640965 h 1749657"/>
              <a:gd name="connsiteX93" fmla="*/ 381652 w 659098"/>
              <a:gd name="connsiteY93" fmla="*/ 597656 h 1749657"/>
              <a:gd name="connsiteX94" fmla="*/ 424962 w 659098"/>
              <a:gd name="connsiteY94" fmla="*/ 554346 h 1749657"/>
              <a:gd name="connsiteX95" fmla="*/ 234136 w 659098"/>
              <a:gd name="connsiteY95" fmla="*/ 554346 h 1749657"/>
              <a:gd name="connsiteX96" fmla="*/ 277446 w 659098"/>
              <a:gd name="connsiteY96" fmla="*/ 597656 h 1749657"/>
              <a:gd name="connsiteX97" fmla="*/ 234136 w 659098"/>
              <a:gd name="connsiteY97" fmla="*/ 640965 h 1749657"/>
              <a:gd name="connsiteX98" fmla="*/ 190826 w 659098"/>
              <a:gd name="connsiteY98" fmla="*/ 597656 h 1749657"/>
              <a:gd name="connsiteX99" fmla="*/ 234136 w 659098"/>
              <a:gd name="connsiteY99" fmla="*/ 554346 h 1749657"/>
              <a:gd name="connsiteX100" fmla="*/ 615788 w 659098"/>
              <a:gd name="connsiteY100" fmla="*/ 277173 h 1749657"/>
              <a:gd name="connsiteX101" fmla="*/ 659098 w 659098"/>
              <a:gd name="connsiteY101" fmla="*/ 320483 h 1749657"/>
              <a:gd name="connsiteX102" fmla="*/ 615788 w 659098"/>
              <a:gd name="connsiteY102" fmla="*/ 363792 h 1749657"/>
              <a:gd name="connsiteX103" fmla="*/ 572478 w 659098"/>
              <a:gd name="connsiteY103" fmla="*/ 320483 h 1749657"/>
              <a:gd name="connsiteX104" fmla="*/ 615788 w 659098"/>
              <a:gd name="connsiteY104" fmla="*/ 277173 h 1749657"/>
              <a:gd name="connsiteX105" fmla="*/ 424962 w 659098"/>
              <a:gd name="connsiteY105" fmla="*/ 277173 h 1749657"/>
              <a:gd name="connsiteX106" fmla="*/ 468272 w 659098"/>
              <a:gd name="connsiteY106" fmla="*/ 320483 h 1749657"/>
              <a:gd name="connsiteX107" fmla="*/ 424962 w 659098"/>
              <a:gd name="connsiteY107" fmla="*/ 363792 h 1749657"/>
              <a:gd name="connsiteX108" fmla="*/ 381652 w 659098"/>
              <a:gd name="connsiteY108" fmla="*/ 320483 h 1749657"/>
              <a:gd name="connsiteX109" fmla="*/ 424962 w 659098"/>
              <a:gd name="connsiteY109" fmla="*/ 277173 h 1749657"/>
              <a:gd name="connsiteX110" fmla="*/ 234136 w 659098"/>
              <a:gd name="connsiteY110" fmla="*/ 277173 h 1749657"/>
              <a:gd name="connsiteX111" fmla="*/ 277446 w 659098"/>
              <a:gd name="connsiteY111" fmla="*/ 320483 h 1749657"/>
              <a:gd name="connsiteX112" fmla="*/ 234136 w 659098"/>
              <a:gd name="connsiteY112" fmla="*/ 363792 h 1749657"/>
              <a:gd name="connsiteX113" fmla="*/ 190826 w 659098"/>
              <a:gd name="connsiteY113" fmla="*/ 320483 h 1749657"/>
              <a:gd name="connsiteX114" fmla="*/ 234136 w 659098"/>
              <a:gd name="connsiteY114" fmla="*/ 277173 h 1749657"/>
              <a:gd name="connsiteX115" fmla="*/ 43310 w 659098"/>
              <a:gd name="connsiteY115" fmla="*/ 277173 h 1749657"/>
              <a:gd name="connsiteX116" fmla="*/ 86619 w 659098"/>
              <a:gd name="connsiteY116" fmla="*/ 320483 h 1749657"/>
              <a:gd name="connsiteX117" fmla="*/ 43310 w 659098"/>
              <a:gd name="connsiteY117" fmla="*/ 363792 h 1749657"/>
              <a:gd name="connsiteX118" fmla="*/ 0 w 659098"/>
              <a:gd name="connsiteY118" fmla="*/ 320483 h 1749657"/>
              <a:gd name="connsiteX119" fmla="*/ 43310 w 659098"/>
              <a:gd name="connsiteY119" fmla="*/ 277173 h 1749657"/>
              <a:gd name="connsiteX120" fmla="*/ 615788 w 659098"/>
              <a:gd name="connsiteY120" fmla="*/ 0 h 1749657"/>
              <a:gd name="connsiteX121" fmla="*/ 659098 w 659098"/>
              <a:gd name="connsiteY121" fmla="*/ 43310 h 1749657"/>
              <a:gd name="connsiteX122" fmla="*/ 615788 w 659098"/>
              <a:gd name="connsiteY122" fmla="*/ 86619 h 1749657"/>
              <a:gd name="connsiteX123" fmla="*/ 572478 w 659098"/>
              <a:gd name="connsiteY123" fmla="*/ 43310 h 1749657"/>
              <a:gd name="connsiteX124" fmla="*/ 615788 w 659098"/>
              <a:gd name="connsiteY124" fmla="*/ 0 h 1749657"/>
              <a:gd name="connsiteX125" fmla="*/ 424962 w 659098"/>
              <a:gd name="connsiteY125" fmla="*/ 0 h 1749657"/>
              <a:gd name="connsiteX126" fmla="*/ 468272 w 659098"/>
              <a:gd name="connsiteY126" fmla="*/ 43310 h 1749657"/>
              <a:gd name="connsiteX127" fmla="*/ 424962 w 659098"/>
              <a:gd name="connsiteY127" fmla="*/ 86619 h 1749657"/>
              <a:gd name="connsiteX128" fmla="*/ 381652 w 659098"/>
              <a:gd name="connsiteY128" fmla="*/ 43310 h 1749657"/>
              <a:gd name="connsiteX129" fmla="*/ 424962 w 659098"/>
              <a:gd name="connsiteY129" fmla="*/ 0 h 1749657"/>
              <a:gd name="connsiteX130" fmla="*/ 234136 w 659098"/>
              <a:gd name="connsiteY130" fmla="*/ 0 h 1749657"/>
              <a:gd name="connsiteX131" fmla="*/ 277446 w 659098"/>
              <a:gd name="connsiteY131" fmla="*/ 43310 h 1749657"/>
              <a:gd name="connsiteX132" fmla="*/ 234136 w 659098"/>
              <a:gd name="connsiteY132" fmla="*/ 86619 h 1749657"/>
              <a:gd name="connsiteX133" fmla="*/ 190826 w 659098"/>
              <a:gd name="connsiteY133" fmla="*/ 43310 h 1749657"/>
              <a:gd name="connsiteX134" fmla="*/ 234136 w 659098"/>
              <a:gd name="connsiteY134" fmla="*/ 0 h 1749657"/>
              <a:gd name="connsiteX135" fmla="*/ 43310 w 659098"/>
              <a:gd name="connsiteY135" fmla="*/ 0 h 1749657"/>
              <a:gd name="connsiteX136" fmla="*/ 86619 w 659098"/>
              <a:gd name="connsiteY136" fmla="*/ 43310 h 1749657"/>
              <a:gd name="connsiteX137" fmla="*/ 43310 w 659098"/>
              <a:gd name="connsiteY137" fmla="*/ 86619 h 1749657"/>
              <a:gd name="connsiteX138" fmla="*/ 0 w 659098"/>
              <a:gd name="connsiteY138" fmla="*/ 43310 h 1749657"/>
              <a:gd name="connsiteX139" fmla="*/ 43310 w 659098"/>
              <a:gd name="connsiteY139" fmla="*/ 0 h 1749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659098" h="1749657">
                <a:moveTo>
                  <a:pt x="615788" y="1663038"/>
                </a:moveTo>
                <a:cubicBezTo>
                  <a:pt x="639708" y="1663038"/>
                  <a:pt x="659098" y="1682427"/>
                  <a:pt x="659098" y="1706348"/>
                </a:cubicBezTo>
                <a:cubicBezTo>
                  <a:pt x="659098" y="1730268"/>
                  <a:pt x="639708" y="1749657"/>
                  <a:pt x="615788" y="1749657"/>
                </a:cubicBezTo>
                <a:cubicBezTo>
                  <a:pt x="591868" y="1749657"/>
                  <a:pt x="572478" y="1730268"/>
                  <a:pt x="572478" y="1706348"/>
                </a:cubicBezTo>
                <a:cubicBezTo>
                  <a:pt x="572478" y="1682427"/>
                  <a:pt x="591868" y="1663038"/>
                  <a:pt x="615788" y="1663038"/>
                </a:cubicBezTo>
                <a:close/>
                <a:moveTo>
                  <a:pt x="424962" y="1663038"/>
                </a:moveTo>
                <a:cubicBezTo>
                  <a:pt x="448882" y="1663038"/>
                  <a:pt x="468272" y="1682427"/>
                  <a:pt x="468272" y="1706348"/>
                </a:cubicBezTo>
                <a:cubicBezTo>
                  <a:pt x="468272" y="1730268"/>
                  <a:pt x="448882" y="1749657"/>
                  <a:pt x="424962" y="1749657"/>
                </a:cubicBezTo>
                <a:cubicBezTo>
                  <a:pt x="401042" y="1749657"/>
                  <a:pt x="381652" y="1730268"/>
                  <a:pt x="381652" y="1706348"/>
                </a:cubicBezTo>
                <a:cubicBezTo>
                  <a:pt x="381652" y="1682427"/>
                  <a:pt x="401042" y="1663038"/>
                  <a:pt x="424962" y="1663038"/>
                </a:cubicBezTo>
                <a:close/>
                <a:moveTo>
                  <a:pt x="234136" y="1663038"/>
                </a:moveTo>
                <a:cubicBezTo>
                  <a:pt x="258056" y="1663038"/>
                  <a:pt x="277446" y="1682427"/>
                  <a:pt x="277446" y="1706348"/>
                </a:cubicBezTo>
                <a:cubicBezTo>
                  <a:pt x="277446" y="1730268"/>
                  <a:pt x="258056" y="1749657"/>
                  <a:pt x="234136" y="1749657"/>
                </a:cubicBezTo>
                <a:cubicBezTo>
                  <a:pt x="210216" y="1749657"/>
                  <a:pt x="190826" y="1730268"/>
                  <a:pt x="190826" y="1706348"/>
                </a:cubicBezTo>
                <a:cubicBezTo>
                  <a:pt x="190826" y="1682427"/>
                  <a:pt x="210216" y="1663038"/>
                  <a:pt x="234136" y="1663038"/>
                </a:cubicBezTo>
                <a:close/>
                <a:moveTo>
                  <a:pt x="43310" y="1663038"/>
                </a:moveTo>
                <a:cubicBezTo>
                  <a:pt x="67230" y="1663038"/>
                  <a:pt x="86619" y="1682427"/>
                  <a:pt x="86619" y="1706348"/>
                </a:cubicBezTo>
                <a:cubicBezTo>
                  <a:pt x="86619" y="1730268"/>
                  <a:pt x="67230" y="1749657"/>
                  <a:pt x="43310" y="1749657"/>
                </a:cubicBezTo>
                <a:cubicBezTo>
                  <a:pt x="19390" y="1749657"/>
                  <a:pt x="0" y="1730268"/>
                  <a:pt x="0" y="1706348"/>
                </a:cubicBezTo>
                <a:cubicBezTo>
                  <a:pt x="0" y="1682427"/>
                  <a:pt x="19390" y="1663038"/>
                  <a:pt x="43310" y="1663038"/>
                </a:cubicBezTo>
                <a:close/>
                <a:moveTo>
                  <a:pt x="615788" y="1385865"/>
                </a:moveTo>
                <a:cubicBezTo>
                  <a:pt x="639708" y="1385865"/>
                  <a:pt x="659098" y="1405255"/>
                  <a:pt x="659098" y="1429175"/>
                </a:cubicBezTo>
                <a:cubicBezTo>
                  <a:pt x="659098" y="1453095"/>
                  <a:pt x="639708" y="1472484"/>
                  <a:pt x="615788" y="1472484"/>
                </a:cubicBezTo>
                <a:cubicBezTo>
                  <a:pt x="591868" y="1472484"/>
                  <a:pt x="572478" y="1453095"/>
                  <a:pt x="572478" y="1429175"/>
                </a:cubicBezTo>
                <a:cubicBezTo>
                  <a:pt x="572478" y="1405255"/>
                  <a:pt x="591868" y="1385865"/>
                  <a:pt x="615788" y="1385865"/>
                </a:cubicBezTo>
                <a:close/>
                <a:moveTo>
                  <a:pt x="424962" y="1385865"/>
                </a:moveTo>
                <a:cubicBezTo>
                  <a:pt x="448882" y="1385865"/>
                  <a:pt x="468272" y="1405255"/>
                  <a:pt x="468272" y="1429175"/>
                </a:cubicBezTo>
                <a:cubicBezTo>
                  <a:pt x="468272" y="1453095"/>
                  <a:pt x="448882" y="1472484"/>
                  <a:pt x="424962" y="1472484"/>
                </a:cubicBezTo>
                <a:cubicBezTo>
                  <a:pt x="401042" y="1472484"/>
                  <a:pt x="381652" y="1453095"/>
                  <a:pt x="381652" y="1429175"/>
                </a:cubicBezTo>
                <a:cubicBezTo>
                  <a:pt x="381652" y="1405255"/>
                  <a:pt x="401042" y="1385865"/>
                  <a:pt x="424962" y="1385865"/>
                </a:cubicBezTo>
                <a:close/>
                <a:moveTo>
                  <a:pt x="234136" y="1385865"/>
                </a:moveTo>
                <a:cubicBezTo>
                  <a:pt x="258056" y="1385865"/>
                  <a:pt x="277446" y="1405255"/>
                  <a:pt x="277446" y="1429175"/>
                </a:cubicBezTo>
                <a:cubicBezTo>
                  <a:pt x="277446" y="1453095"/>
                  <a:pt x="258056" y="1472484"/>
                  <a:pt x="234136" y="1472484"/>
                </a:cubicBezTo>
                <a:cubicBezTo>
                  <a:pt x="210216" y="1472484"/>
                  <a:pt x="190826" y="1453095"/>
                  <a:pt x="190826" y="1429175"/>
                </a:cubicBezTo>
                <a:cubicBezTo>
                  <a:pt x="190826" y="1405255"/>
                  <a:pt x="210216" y="1385865"/>
                  <a:pt x="234136" y="1385865"/>
                </a:cubicBezTo>
                <a:close/>
                <a:moveTo>
                  <a:pt x="43310" y="1385865"/>
                </a:moveTo>
                <a:cubicBezTo>
                  <a:pt x="67230" y="1385865"/>
                  <a:pt x="86619" y="1405255"/>
                  <a:pt x="86619" y="1429175"/>
                </a:cubicBezTo>
                <a:cubicBezTo>
                  <a:pt x="86619" y="1453095"/>
                  <a:pt x="67230" y="1472484"/>
                  <a:pt x="43310" y="1472484"/>
                </a:cubicBezTo>
                <a:cubicBezTo>
                  <a:pt x="19390" y="1472484"/>
                  <a:pt x="0" y="1453095"/>
                  <a:pt x="0" y="1429175"/>
                </a:cubicBezTo>
                <a:cubicBezTo>
                  <a:pt x="0" y="1405255"/>
                  <a:pt x="19390" y="1385865"/>
                  <a:pt x="43310" y="1385865"/>
                </a:cubicBezTo>
                <a:close/>
                <a:moveTo>
                  <a:pt x="615788" y="1108692"/>
                </a:moveTo>
                <a:cubicBezTo>
                  <a:pt x="639708" y="1108692"/>
                  <a:pt x="659098" y="1128082"/>
                  <a:pt x="659098" y="1152002"/>
                </a:cubicBezTo>
                <a:cubicBezTo>
                  <a:pt x="659098" y="1175922"/>
                  <a:pt x="639708" y="1195311"/>
                  <a:pt x="615788" y="1195311"/>
                </a:cubicBezTo>
                <a:cubicBezTo>
                  <a:pt x="591868" y="1195311"/>
                  <a:pt x="572478" y="1175922"/>
                  <a:pt x="572478" y="1152002"/>
                </a:cubicBezTo>
                <a:cubicBezTo>
                  <a:pt x="572478" y="1128082"/>
                  <a:pt x="591868" y="1108692"/>
                  <a:pt x="615788" y="1108692"/>
                </a:cubicBezTo>
                <a:close/>
                <a:moveTo>
                  <a:pt x="424962" y="1108692"/>
                </a:moveTo>
                <a:cubicBezTo>
                  <a:pt x="448882" y="1108692"/>
                  <a:pt x="468272" y="1128082"/>
                  <a:pt x="468272" y="1152002"/>
                </a:cubicBezTo>
                <a:cubicBezTo>
                  <a:pt x="468272" y="1175922"/>
                  <a:pt x="448882" y="1195311"/>
                  <a:pt x="424962" y="1195311"/>
                </a:cubicBezTo>
                <a:cubicBezTo>
                  <a:pt x="401042" y="1195311"/>
                  <a:pt x="381652" y="1175922"/>
                  <a:pt x="381652" y="1152002"/>
                </a:cubicBezTo>
                <a:cubicBezTo>
                  <a:pt x="381652" y="1128082"/>
                  <a:pt x="401042" y="1108692"/>
                  <a:pt x="424962" y="1108692"/>
                </a:cubicBezTo>
                <a:close/>
                <a:moveTo>
                  <a:pt x="234136" y="1108692"/>
                </a:moveTo>
                <a:cubicBezTo>
                  <a:pt x="258056" y="1108692"/>
                  <a:pt x="277446" y="1128082"/>
                  <a:pt x="277446" y="1152002"/>
                </a:cubicBezTo>
                <a:cubicBezTo>
                  <a:pt x="277446" y="1175922"/>
                  <a:pt x="258056" y="1195311"/>
                  <a:pt x="234136" y="1195311"/>
                </a:cubicBezTo>
                <a:cubicBezTo>
                  <a:pt x="210216" y="1195311"/>
                  <a:pt x="190826" y="1175922"/>
                  <a:pt x="190826" y="1152002"/>
                </a:cubicBezTo>
                <a:cubicBezTo>
                  <a:pt x="190826" y="1128082"/>
                  <a:pt x="210216" y="1108692"/>
                  <a:pt x="234136" y="1108692"/>
                </a:cubicBezTo>
                <a:close/>
                <a:moveTo>
                  <a:pt x="43310" y="1108692"/>
                </a:moveTo>
                <a:cubicBezTo>
                  <a:pt x="67230" y="1108692"/>
                  <a:pt x="86619" y="1128082"/>
                  <a:pt x="86619" y="1152002"/>
                </a:cubicBezTo>
                <a:cubicBezTo>
                  <a:pt x="86619" y="1175922"/>
                  <a:pt x="67230" y="1195311"/>
                  <a:pt x="43310" y="1195311"/>
                </a:cubicBezTo>
                <a:cubicBezTo>
                  <a:pt x="19390" y="1195311"/>
                  <a:pt x="0" y="1175922"/>
                  <a:pt x="0" y="1152002"/>
                </a:cubicBezTo>
                <a:cubicBezTo>
                  <a:pt x="0" y="1128082"/>
                  <a:pt x="19390" y="1108692"/>
                  <a:pt x="43310" y="1108692"/>
                </a:cubicBezTo>
                <a:close/>
                <a:moveTo>
                  <a:pt x="615788" y="831519"/>
                </a:moveTo>
                <a:cubicBezTo>
                  <a:pt x="639708" y="831519"/>
                  <a:pt x="659098" y="850909"/>
                  <a:pt x="659098" y="874829"/>
                </a:cubicBezTo>
                <a:cubicBezTo>
                  <a:pt x="659098" y="898749"/>
                  <a:pt x="639708" y="918138"/>
                  <a:pt x="615788" y="918138"/>
                </a:cubicBezTo>
                <a:cubicBezTo>
                  <a:pt x="591868" y="918138"/>
                  <a:pt x="572478" y="898749"/>
                  <a:pt x="572478" y="874829"/>
                </a:cubicBezTo>
                <a:cubicBezTo>
                  <a:pt x="572478" y="850909"/>
                  <a:pt x="591868" y="831519"/>
                  <a:pt x="615788" y="831519"/>
                </a:cubicBezTo>
                <a:close/>
                <a:moveTo>
                  <a:pt x="424962" y="831519"/>
                </a:moveTo>
                <a:cubicBezTo>
                  <a:pt x="448882" y="831519"/>
                  <a:pt x="468272" y="850909"/>
                  <a:pt x="468272" y="874829"/>
                </a:cubicBezTo>
                <a:cubicBezTo>
                  <a:pt x="468272" y="898749"/>
                  <a:pt x="448882" y="918138"/>
                  <a:pt x="424962" y="918138"/>
                </a:cubicBezTo>
                <a:cubicBezTo>
                  <a:pt x="401042" y="918138"/>
                  <a:pt x="381652" y="898749"/>
                  <a:pt x="381652" y="874829"/>
                </a:cubicBezTo>
                <a:cubicBezTo>
                  <a:pt x="381652" y="850909"/>
                  <a:pt x="401042" y="831519"/>
                  <a:pt x="424962" y="831519"/>
                </a:cubicBezTo>
                <a:close/>
                <a:moveTo>
                  <a:pt x="234136" y="831519"/>
                </a:moveTo>
                <a:cubicBezTo>
                  <a:pt x="258056" y="831519"/>
                  <a:pt x="277446" y="850909"/>
                  <a:pt x="277446" y="874829"/>
                </a:cubicBezTo>
                <a:cubicBezTo>
                  <a:pt x="277446" y="898749"/>
                  <a:pt x="258056" y="918138"/>
                  <a:pt x="234136" y="918138"/>
                </a:cubicBezTo>
                <a:cubicBezTo>
                  <a:pt x="210216" y="918138"/>
                  <a:pt x="190826" y="898749"/>
                  <a:pt x="190826" y="874829"/>
                </a:cubicBezTo>
                <a:cubicBezTo>
                  <a:pt x="190826" y="850909"/>
                  <a:pt x="210216" y="831519"/>
                  <a:pt x="234136" y="831519"/>
                </a:cubicBezTo>
                <a:close/>
                <a:moveTo>
                  <a:pt x="43310" y="831519"/>
                </a:moveTo>
                <a:cubicBezTo>
                  <a:pt x="67230" y="831519"/>
                  <a:pt x="86619" y="850909"/>
                  <a:pt x="86619" y="874829"/>
                </a:cubicBezTo>
                <a:cubicBezTo>
                  <a:pt x="86619" y="898749"/>
                  <a:pt x="67230" y="918138"/>
                  <a:pt x="43310" y="918138"/>
                </a:cubicBezTo>
                <a:cubicBezTo>
                  <a:pt x="19390" y="918138"/>
                  <a:pt x="0" y="898749"/>
                  <a:pt x="0" y="874829"/>
                </a:cubicBezTo>
                <a:cubicBezTo>
                  <a:pt x="0" y="850909"/>
                  <a:pt x="19390" y="831519"/>
                  <a:pt x="43310" y="831519"/>
                </a:cubicBezTo>
                <a:close/>
                <a:moveTo>
                  <a:pt x="43310" y="554348"/>
                </a:moveTo>
                <a:cubicBezTo>
                  <a:pt x="67230" y="554348"/>
                  <a:pt x="86619" y="573738"/>
                  <a:pt x="86619" y="597658"/>
                </a:cubicBezTo>
                <a:cubicBezTo>
                  <a:pt x="86619" y="621576"/>
                  <a:pt x="67230" y="640965"/>
                  <a:pt x="43310" y="640965"/>
                </a:cubicBezTo>
                <a:cubicBezTo>
                  <a:pt x="19390" y="640965"/>
                  <a:pt x="0" y="621576"/>
                  <a:pt x="0" y="597658"/>
                </a:cubicBezTo>
                <a:cubicBezTo>
                  <a:pt x="0" y="573738"/>
                  <a:pt x="19390" y="554348"/>
                  <a:pt x="43310" y="554348"/>
                </a:cubicBezTo>
                <a:close/>
                <a:moveTo>
                  <a:pt x="615788" y="554346"/>
                </a:moveTo>
                <a:cubicBezTo>
                  <a:pt x="639708" y="554346"/>
                  <a:pt x="659098" y="573736"/>
                  <a:pt x="659098" y="597656"/>
                </a:cubicBezTo>
                <a:cubicBezTo>
                  <a:pt x="659098" y="621576"/>
                  <a:pt x="639708" y="640965"/>
                  <a:pt x="615788" y="640965"/>
                </a:cubicBezTo>
                <a:cubicBezTo>
                  <a:pt x="591868" y="640965"/>
                  <a:pt x="572478" y="621576"/>
                  <a:pt x="572478" y="597656"/>
                </a:cubicBezTo>
                <a:cubicBezTo>
                  <a:pt x="572478" y="573736"/>
                  <a:pt x="591868" y="554346"/>
                  <a:pt x="615788" y="554346"/>
                </a:cubicBezTo>
                <a:close/>
                <a:moveTo>
                  <a:pt x="424962" y="554346"/>
                </a:moveTo>
                <a:cubicBezTo>
                  <a:pt x="448882" y="554346"/>
                  <a:pt x="468272" y="573736"/>
                  <a:pt x="468272" y="597656"/>
                </a:cubicBezTo>
                <a:cubicBezTo>
                  <a:pt x="468272" y="621576"/>
                  <a:pt x="448882" y="640965"/>
                  <a:pt x="424962" y="640965"/>
                </a:cubicBezTo>
                <a:cubicBezTo>
                  <a:pt x="401042" y="640965"/>
                  <a:pt x="381652" y="621576"/>
                  <a:pt x="381652" y="597656"/>
                </a:cubicBezTo>
                <a:cubicBezTo>
                  <a:pt x="381652" y="573736"/>
                  <a:pt x="401042" y="554346"/>
                  <a:pt x="424962" y="554346"/>
                </a:cubicBezTo>
                <a:close/>
                <a:moveTo>
                  <a:pt x="234136" y="554346"/>
                </a:moveTo>
                <a:cubicBezTo>
                  <a:pt x="258056" y="554346"/>
                  <a:pt x="277446" y="573736"/>
                  <a:pt x="277446" y="597656"/>
                </a:cubicBezTo>
                <a:cubicBezTo>
                  <a:pt x="277446" y="621576"/>
                  <a:pt x="258056" y="640965"/>
                  <a:pt x="234136" y="640965"/>
                </a:cubicBezTo>
                <a:cubicBezTo>
                  <a:pt x="210216" y="640965"/>
                  <a:pt x="190826" y="621576"/>
                  <a:pt x="190826" y="597656"/>
                </a:cubicBezTo>
                <a:cubicBezTo>
                  <a:pt x="190826" y="573736"/>
                  <a:pt x="210216" y="554346"/>
                  <a:pt x="234136" y="554346"/>
                </a:cubicBezTo>
                <a:close/>
                <a:moveTo>
                  <a:pt x="615788" y="277173"/>
                </a:moveTo>
                <a:cubicBezTo>
                  <a:pt x="639708" y="277173"/>
                  <a:pt x="659098" y="296563"/>
                  <a:pt x="659098" y="320483"/>
                </a:cubicBezTo>
                <a:cubicBezTo>
                  <a:pt x="659098" y="344403"/>
                  <a:pt x="639708" y="363792"/>
                  <a:pt x="615788" y="363792"/>
                </a:cubicBezTo>
                <a:cubicBezTo>
                  <a:pt x="591868" y="363792"/>
                  <a:pt x="572478" y="344403"/>
                  <a:pt x="572478" y="320483"/>
                </a:cubicBezTo>
                <a:cubicBezTo>
                  <a:pt x="572478" y="296563"/>
                  <a:pt x="591868" y="277173"/>
                  <a:pt x="615788" y="277173"/>
                </a:cubicBezTo>
                <a:close/>
                <a:moveTo>
                  <a:pt x="424962" y="277173"/>
                </a:moveTo>
                <a:cubicBezTo>
                  <a:pt x="448882" y="277173"/>
                  <a:pt x="468272" y="296563"/>
                  <a:pt x="468272" y="320483"/>
                </a:cubicBezTo>
                <a:cubicBezTo>
                  <a:pt x="468272" y="344403"/>
                  <a:pt x="448882" y="363792"/>
                  <a:pt x="424962" y="363792"/>
                </a:cubicBezTo>
                <a:cubicBezTo>
                  <a:pt x="401042" y="363792"/>
                  <a:pt x="381652" y="344403"/>
                  <a:pt x="381652" y="320483"/>
                </a:cubicBezTo>
                <a:cubicBezTo>
                  <a:pt x="381652" y="296563"/>
                  <a:pt x="401042" y="277173"/>
                  <a:pt x="424962" y="277173"/>
                </a:cubicBezTo>
                <a:close/>
                <a:moveTo>
                  <a:pt x="234136" y="277173"/>
                </a:moveTo>
                <a:cubicBezTo>
                  <a:pt x="258056" y="277173"/>
                  <a:pt x="277446" y="296563"/>
                  <a:pt x="277446" y="320483"/>
                </a:cubicBezTo>
                <a:cubicBezTo>
                  <a:pt x="277446" y="344403"/>
                  <a:pt x="258056" y="363792"/>
                  <a:pt x="234136" y="363792"/>
                </a:cubicBezTo>
                <a:cubicBezTo>
                  <a:pt x="210216" y="363792"/>
                  <a:pt x="190826" y="344403"/>
                  <a:pt x="190826" y="320483"/>
                </a:cubicBezTo>
                <a:cubicBezTo>
                  <a:pt x="190826" y="296563"/>
                  <a:pt x="210216" y="277173"/>
                  <a:pt x="234136" y="277173"/>
                </a:cubicBezTo>
                <a:close/>
                <a:moveTo>
                  <a:pt x="43310" y="277173"/>
                </a:moveTo>
                <a:cubicBezTo>
                  <a:pt x="67230" y="277173"/>
                  <a:pt x="86619" y="296563"/>
                  <a:pt x="86619" y="320483"/>
                </a:cubicBezTo>
                <a:cubicBezTo>
                  <a:pt x="86619" y="344403"/>
                  <a:pt x="67230" y="363792"/>
                  <a:pt x="43310" y="363792"/>
                </a:cubicBezTo>
                <a:cubicBezTo>
                  <a:pt x="19390" y="363792"/>
                  <a:pt x="0" y="344403"/>
                  <a:pt x="0" y="320483"/>
                </a:cubicBezTo>
                <a:cubicBezTo>
                  <a:pt x="0" y="296563"/>
                  <a:pt x="19390" y="277173"/>
                  <a:pt x="43310" y="277173"/>
                </a:cubicBezTo>
                <a:close/>
                <a:moveTo>
                  <a:pt x="615788" y="0"/>
                </a:moveTo>
                <a:cubicBezTo>
                  <a:pt x="639708" y="0"/>
                  <a:pt x="659098" y="19390"/>
                  <a:pt x="659098" y="43310"/>
                </a:cubicBezTo>
                <a:cubicBezTo>
                  <a:pt x="659098" y="67230"/>
                  <a:pt x="639708" y="86619"/>
                  <a:pt x="615788" y="86619"/>
                </a:cubicBezTo>
                <a:cubicBezTo>
                  <a:pt x="591868" y="86619"/>
                  <a:pt x="572478" y="67230"/>
                  <a:pt x="572478" y="43310"/>
                </a:cubicBezTo>
                <a:cubicBezTo>
                  <a:pt x="572478" y="19390"/>
                  <a:pt x="591868" y="0"/>
                  <a:pt x="615788" y="0"/>
                </a:cubicBezTo>
                <a:close/>
                <a:moveTo>
                  <a:pt x="424962" y="0"/>
                </a:moveTo>
                <a:cubicBezTo>
                  <a:pt x="448882" y="0"/>
                  <a:pt x="468272" y="19390"/>
                  <a:pt x="468272" y="43310"/>
                </a:cubicBezTo>
                <a:cubicBezTo>
                  <a:pt x="468272" y="67230"/>
                  <a:pt x="448882" y="86619"/>
                  <a:pt x="424962" y="86619"/>
                </a:cubicBezTo>
                <a:cubicBezTo>
                  <a:pt x="401042" y="86619"/>
                  <a:pt x="381652" y="67230"/>
                  <a:pt x="381652" y="43310"/>
                </a:cubicBezTo>
                <a:cubicBezTo>
                  <a:pt x="381652" y="19390"/>
                  <a:pt x="401042" y="0"/>
                  <a:pt x="424962" y="0"/>
                </a:cubicBezTo>
                <a:close/>
                <a:moveTo>
                  <a:pt x="234136" y="0"/>
                </a:moveTo>
                <a:cubicBezTo>
                  <a:pt x="258056" y="0"/>
                  <a:pt x="277446" y="19390"/>
                  <a:pt x="277446" y="43310"/>
                </a:cubicBezTo>
                <a:cubicBezTo>
                  <a:pt x="277446" y="67230"/>
                  <a:pt x="258056" y="86619"/>
                  <a:pt x="234136" y="86619"/>
                </a:cubicBezTo>
                <a:cubicBezTo>
                  <a:pt x="210216" y="86619"/>
                  <a:pt x="190826" y="67230"/>
                  <a:pt x="190826" y="43310"/>
                </a:cubicBezTo>
                <a:cubicBezTo>
                  <a:pt x="190826" y="19390"/>
                  <a:pt x="210216" y="0"/>
                  <a:pt x="234136" y="0"/>
                </a:cubicBezTo>
                <a:close/>
                <a:moveTo>
                  <a:pt x="43310" y="0"/>
                </a:moveTo>
                <a:cubicBezTo>
                  <a:pt x="67230" y="0"/>
                  <a:pt x="86619" y="19390"/>
                  <a:pt x="86619" y="43310"/>
                </a:cubicBezTo>
                <a:cubicBezTo>
                  <a:pt x="86619" y="67230"/>
                  <a:pt x="67230" y="86619"/>
                  <a:pt x="43310" y="86619"/>
                </a:cubicBezTo>
                <a:cubicBezTo>
                  <a:pt x="19390" y="86619"/>
                  <a:pt x="0" y="67230"/>
                  <a:pt x="0" y="43310"/>
                </a:cubicBezTo>
                <a:cubicBezTo>
                  <a:pt x="0" y="19390"/>
                  <a:pt x="19390" y="0"/>
                  <a:pt x="43310" y="0"/>
                </a:cubicBezTo>
                <a:close/>
              </a:path>
            </a:pathLst>
          </a:custGeom>
          <a:gradFill flip="none" rotWithShape="1">
            <a:gsLst>
              <a:gs pos="0">
                <a:srgbClr val="567FCA"/>
              </a:gs>
              <a:gs pos="100000">
                <a:srgbClr val="567FCA">
                  <a:alpha val="0"/>
                </a:srgb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endParaRPr>
          </a:p>
        </p:txBody>
      </p:sp>
      <p:grpSp>
        <p:nvGrpSpPr>
          <p:cNvPr id="26" name="组合 25"/>
          <p:cNvGrpSpPr/>
          <p:nvPr/>
        </p:nvGrpSpPr>
        <p:grpSpPr>
          <a:xfrm flipH="1">
            <a:off x="636276" y="342900"/>
            <a:ext cx="5759681" cy="190500"/>
            <a:chOff x="6184669" y="342900"/>
            <a:chExt cx="5759681" cy="190500"/>
          </a:xfrm>
        </p:grpSpPr>
        <p:cxnSp>
          <p:nvCxnSpPr>
            <p:cNvPr id="27" name="直接连接符 26"/>
            <p:cNvCxnSpPr/>
            <p:nvPr/>
          </p:nvCxnSpPr>
          <p:spPr>
            <a:xfrm>
              <a:off x="6184669" y="438150"/>
              <a:ext cx="5585362"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11753850" y="342900"/>
              <a:ext cx="190500" cy="190500"/>
            </a:xfrm>
            <a:prstGeom prst="ellipse">
              <a:avLst/>
            </a:prstGeom>
            <a:solidFill>
              <a:srgbClr val="285BDB"/>
            </a:soli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endParaRPr>
            </a:p>
          </p:txBody>
        </p:sp>
      </p:grpSp>
      <p:sp>
        <p:nvSpPr>
          <p:cNvPr id="30" name="矩形 29"/>
          <p:cNvSpPr/>
          <p:nvPr/>
        </p:nvSpPr>
        <p:spPr>
          <a:xfrm>
            <a:off x="0" y="6184900"/>
            <a:ext cx="701676" cy="673100"/>
          </a:xfrm>
          <a:prstGeom prst="rect">
            <a:avLst/>
          </a:prstGeom>
          <a:gradFill>
            <a:gsLst>
              <a:gs pos="44925">
                <a:srgbClr val="306DDE"/>
              </a:gs>
              <a:gs pos="6000">
                <a:srgbClr val="3981E2">
                  <a:alpha val="73000"/>
                </a:srgbClr>
              </a:gs>
              <a:gs pos="81000">
                <a:srgbClr val="285BDB"/>
              </a:gs>
            </a:gsLst>
            <a:lin ang="2700000" scaled="0"/>
          </a:grad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cs typeface="+mn-ea"/>
              <a:sym typeface="+mn-ea"/>
            </a:endParaRPr>
          </a:p>
        </p:txBody>
      </p:sp>
      <p:pic>
        <p:nvPicPr>
          <p:cNvPr id="34" name="图片 33"/>
          <p:cNvPicPr>
            <a:picLocks noChangeAspect="1"/>
          </p:cNvPicPr>
          <p:nvPr/>
        </p:nvPicPr>
        <p:blipFill>
          <a:blip r:embed="rId5">
            <a:extLst>
              <a:ext uri="{28A0092B-C50C-407E-A947-70E740481C1C}">
                <a14:useLocalDpi xmlns:a14="http://schemas.microsoft.com/office/drawing/2010/main" val="0"/>
              </a:ext>
            </a:extLst>
          </a:blip>
          <a:srcRect l="27920" t="-1023" r="8370" b="5460"/>
          <a:stretch>
            <a:fillRect/>
          </a:stretch>
        </p:blipFill>
        <p:spPr>
          <a:xfrm>
            <a:off x="1325231" y="2089882"/>
            <a:ext cx="2703768" cy="2703768"/>
          </a:xfrm>
          <a:custGeom>
            <a:avLst/>
            <a:gdLst>
              <a:gd name="connsiteX0" fmla="*/ 1351884 w 2703768"/>
              <a:gd name="connsiteY0" fmla="*/ 0 h 2703768"/>
              <a:gd name="connsiteX1" fmla="*/ 2703768 w 2703768"/>
              <a:gd name="connsiteY1" fmla="*/ 1351884 h 2703768"/>
              <a:gd name="connsiteX2" fmla="*/ 1351884 w 2703768"/>
              <a:gd name="connsiteY2" fmla="*/ 2703768 h 2703768"/>
              <a:gd name="connsiteX3" fmla="*/ 0 w 2703768"/>
              <a:gd name="connsiteY3" fmla="*/ 1351884 h 2703768"/>
              <a:gd name="connsiteX4" fmla="*/ 1351884 w 2703768"/>
              <a:gd name="connsiteY4" fmla="*/ 0 h 2703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3768" h="2703768">
                <a:moveTo>
                  <a:pt x="1351884" y="0"/>
                </a:moveTo>
                <a:cubicBezTo>
                  <a:pt x="2098509" y="0"/>
                  <a:pt x="2703768" y="605259"/>
                  <a:pt x="2703768" y="1351884"/>
                </a:cubicBezTo>
                <a:cubicBezTo>
                  <a:pt x="2703768" y="2098509"/>
                  <a:pt x="2098509" y="2703768"/>
                  <a:pt x="1351884" y="2703768"/>
                </a:cubicBezTo>
                <a:cubicBezTo>
                  <a:pt x="605259" y="2703768"/>
                  <a:pt x="0" y="2098509"/>
                  <a:pt x="0" y="1351884"/>
                </a:cubicBezTo>
                <a:cubicBezTo>
                  <a:pt x="0" y="605259"/>
                  <a:pt x="605259" y="0"/>
                  <a:pt x="1351884" y="0"/>
                </a:cubicBezTo>
                <a:close/>
              </a:path>
            </a:pathLst>
          </a:custGeom>
        </p:spPr>
      </p:pic>
      <p:grpSp>
        <p:nvGrpSpPr>
          <p:cNvPr id="35" name="组合 34"/>
          <p:cNvGrpSpPr/>
          <p:nvPr/>
        </p:nvGrpSpPr>
        <p:grpSpPr>
          <a:xfrm>
            <a:off x="3122975" y="4134237"/>
            <a:ext cx="1113620" cy="982956"/>
            <a:chOff x="6485282" y="-1420938"/>
            <a:chExt cx="1262849" cy="1114676"/>
          </a:xfrm>
          <a:gradFill>
            <a:gsLst>
              <a:gs pos="44925">
                <a:srgbClr val="306DDE"/>
              </a:gs>
              <a:gs pos="6000">
                <a:srgbClr val="3981E2">
                  <a:alpha val="73000"/>
                </a:srgbClr>
              </a:gs>
              <a:gs pos="81000">
                <a:srgbClr val="285BDB"/>
              </a:gs>
            </a:gsLst>
            <a:lin ang="2700000" scaled="0"/>
          </a:gradFill>
        </p:grpSpPr>
        <p:sp>
          <p:nvSpPr>
            <p:cNvPr id="36" name="椭圆 35"/>
            <p:cNvSpPr/>
            <p:nvPr/>
          </p:nvSpPr>
          <p:spPr>
            <a:xfrm>
              <a:off x="6529262" y="-1420938"/>
              <a:ext cx="1114678" cy="1114676"/>
            </a:xfrm>
            <a:prstGeom prst="ellipse">
              <a:avLst/>
            </a:prstGeom>
            <a:grpFill/>
            <a:ln>
              <a:noFill/>
            </a:ln>
            <a:effectLst>
              <a:outerShdw blurRad="723900" sx="102000" sy="102000" algn="ctr"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思源宋体 CN Heavy" panose="02020900000000000000" charset="-122"/>
                <a:ea typeface="思源宋体 CN Heavy" panose="02020900000000000000" charset="-122"/>
                <a:cs typeface="+mn-ea"/>
              </a:endParaRPr>
            </a:p>
          </p:txBody>
        </p:sp>
        <p:sp>
          <p:nvSpPr>
            <p:cNvPr id="37" name="文本框 36"/>
            <p:cNvSpPr txBox="1"/>
            <p:nvPr>
              <p:custDataLst>
                <p:tags r:id="rId6"/>
              </p:custDataLst>
            </p:nvPr>
          </p:nvSpPr>
          <p:spPr>
            <a:xfrm flipH="1">
              <a:off x="6485282" y="-1359077"/>
              <a:ext cx="1262849" cy="1047060"/>
            </a:xfrm>
            <a:prstGeom prst="rect">
              <a:avLst/>
            </a:prstGeom>
            <a:noFill/>
          </p:spPr>
          <p:txBody>
            <a:bodyPr vert="horz" wrap="square" rtlCol="0">
              <a:spAutoFit/>
            </a:bodyPr>
            <a:lstStyle/>
            <a:p>
              <a:pPr algn="ctr"/>
              <a:r>
                <a:rPr lang="en-US" altLang="zh-CN" sz="5400" kern="100" dirty="0">
                  <a:solidFill>
                    <a:schemeClr val="bg1"/>
                  </a:solidFill>
                  <a:latin typeface="思源宋体 CN Heavy" panose="02020900000000000000" charset="-122"/>
                  <a:ea typeface="思源宋体 CN Heavy" panose="02020900000000000000" charset="-122"/>
                  <a:cs typeface="汉仪旗黑-50S" panose="00020600040101010101" charset="-122"/>
                </a:rPr>
                <a:t>04</a:t>
              </a:r>
              <a:endParaRPr lang="zh-CN" altLang="en-US" sz="5400" kern="100" dirty="0">
                <a:solidFill>
                  <a:schemeClr val="bg1"/>
                </a:solidFill>
                <a:latin typeface="思源宋体 CN Heavy" panose="02020900000000000000" charset="-122"/>
                <a:ea typeface="思源宋体 CN Heavy" panose="02020900000000000000" charset="-122"/>
                <a:cs typeface="汉仪旗黑-50S" panose="00020600040101010101" charset="-122"/>
              </a:endParaRPr>
            </a:p>
          </p:txBody>
        </p:sp>
      </p:gr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413000" y="2227385"/>
            <a:ext cx="7340600" cy="3377901"/>
            <a:chOff x="2413000" y="2043954"/>
            <a:chExt cx="7340600" cy="3377901"/>
          </a:xfrm>
        </p:grpSpPr>
        <p:cxnSp>
          <p:nvCxnSpPr>
            <p:cNvPr id="3" name="MG-直接连接符 28"/>
            <p:cNvCxnSpPr/>
            <p:nvPr>
              <p:custDataLst>
                <p:tags r:id="rId1"/>
              </p:custDataLst>
            </p:nvPr>
          </p:nvCxnSpPr>
          <p:spPr>
            <a:xfrm>
              <a:off x="2413000" y="3664266"/>
              <a:ext cx="7340600" cy="0"/>
            </a:xfrm>
            <a:prstGeom prst="line">
              <a:avLst/>
            </a:prstGeom>
            <a:ln w="19050">
              <a:solidFill>
                <a:srgbClr val="285BDB"/>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4407050" y="2043954"/>
              <a:ext cx="3377901" cy="3377901"/>
            </a:xfrm>
            <a:prstGeom prst="ellipse">
              <a:avLst/>
            </a:prstGeom>
            <a:gradFill flip="none" rotWithShape="1">
              <a:gsLst>
                <a:gs pos="44925">
                  <a:srgbClr val="306DDE"/>
                </a:gs>
                <a:gs pos="6000">
                  <a:srgbClr val="3981E2">
                    <a:alpha val="73000"/>
                  </a:srgbClr>
                </a:gs>
                <a:gs pos="81000">
                  <a:srgbClr val="285BDB"/>
                </a:gs>
              </a:gsLst>
              <a:lin ang="2700000" scaled="0"/>
              <a:tileRect/>
            </a:gradFill>
            <a:ln w="12700" cap="flat" cmpd="sng" algn="ctr">
              <a:solidFill>
                <a:srgbClr val="285BDB"/>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7" name="组合 6"/>
          <p:cNvGrpSpPr/>
          <p:nvPr/>
        </p:nvGrpSpPr>
        <p:grpSpPr>
          <a:xfrm>
            <a:off x="1245700" y="4235068"/>
            <a:ext cx="2559048" cy="2026507"/>
            <a:chOff x="130177" y="2155785"/>
            <a:chExt cx="2559048" cy="2026507"/>
          </a:xfrm>
        </p:grpSpPr>
        <p:sp>
          <p:nvSpPr>
            <p:cNvPr id="8" name="矩形 7"/>
            <p:cNvSpPr/>
            <p:nvPr/>
          </p:nvSpPr>
          <p:spPr>
            <a:xfrm>
              <a:off x="163206" y="2155785"/>
              <a:ext cx="2492990"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应用基础设施水平突破</a:t>
              </a:r>
              <a:endPar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9" name="矩形 8"/>
            <p:cNvSpPr/>
            <p:nvPr/>
          </p:nvSpPr>
          <p:spPr>
            <a:xfrm>
              <a:off x="130177" y="2579161"/>
              <a:ext cx="2559048" cy="1603131"/>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5G</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已融入</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80</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个国民经济大类，应用案例数累计超</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10</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万个，“</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5G+</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工业互联网”覆盖全部</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41</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个工业大类，形成多个典型应用场景。</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1" name="组合 20"/>
          <p:cNvGrpSpPr/>
          <p:nvPr/>
        </p:nvGrpSpPr>
        <p:grpSpPr>
          <a:xfrm>
            <a:off x="1163311" y="1495411"/>
            <a:ext cx="2723823" cy="2334284"/>
            <a:chOff x="47789" y="2155785"/>
            <a:chExt cx="2723823" cy="2334284"/>
          </a:xfrm>
        </p:grpSpPr>
        <p:sp>
          <p:nvSpPr>
            <p:cNvPr id="22" name="矩形 21"/>
            <p:cNvSpPr/>
            <p:nvPr/>
          </p:nvSpPr>
          <p:spPr>
            <a:xfrm>
              <a:off x="47789" y="2155785"/>
              <a:ext cx="2723823"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网络基础设施泛在智联：</a:t>
              </a:r>
              <a:endPar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23" name="矩形 22"/>
            <p:cNvSpPr/>
            <p:nvPr/>
          </p:nvSpPr>
          <p:spPr>
            <a:xfrm>
              <a:off x="130177" y="2579161"/>
              <a:ext cx="2559048" cy="1910908"/>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我国提前完成“十四五”规划关于</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5G</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、千兆光网建设目标，实现县县通千兆、乡乡通</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5G</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90%</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以上行政村通</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5G</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400G</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骨干网正式规模化部署。</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4" name="组合 23"/>
          <p:cNvGrpSpPr/>
          <p:nvPr/>
        </p:nvGrpSpPr>
        <p:grpSpPr>
          <a:xfrm>
            <a:off x="8327927" y="4235068"/>
            <a:ext cx="2954655" cy="2026507"/>
            <a:chOff x="-67627" y="2155785"/>
            <a:chExt cx="2954655" cy="2026507"/>
          </a:xfrm>
        </p:grpSpPr>
        <p:sp>
          <p:nvSpPr>
            <p:cNvPr id="25" name="矩形 24"/>
            <p:cNvSpPr/>
            <p:nvPr/>
          </p:nvSpPr>
          <p:spPr>
            <a:xfrm>
              <a:off x="-67627" y="2155785"/>
              <a:ext cx="2954655"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数据流通利用设施建设加快</a:t>
              </a:r>
              <a:endPar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26" name="矩形 25"/>
            <p:cNvSpPr/>
            <p:nvPr/>
          </p:nvSpPr>
          <p:spPr>
            <a:xfrm>
              <a:off x="130177" y="2579161"/>
              <a:ext cx="2559048" cy="1603131"/>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北京、上海等</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18</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个城市积极开展可信数据空间、数场、数联网等技术路线试点，加快推动国家数据基础设施规模化部署。</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7" name="组合 26"/>
          <p:cNvGrpSpPr/>
          <p:nvPr/>
        </p:nvGrpSpPr>
        <p:grpSpPr>
          <a:xfrm>
            <a:off x="8525731" y="1591662"/>
            <a:ext cx="2559048" cy="2026507"/>
            <a:chOff x="130177" y="2155785"/>
            <a:chExt cx="2559048" cy="2026507"/>
          </a:xfrm>
        </p:grpSpPr>
        <p:sp>
          <p:nvSpPr>
            <p:cNvPr id="28" name="矩形 27"/>
            <p:cNvSpPr/>
            <p:nvPr/>
          </p:nvSpPr>
          <p:spPr>
            <a:xfrm>
              <a:off x="163206" y="2155785"/>
              <a:ext cx="2492990"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算力基础设施建设提速</a:t>
              </a:r>
              <a:endPar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29" name="矩形 28"/>
            <p:cNvSpPr/>
            <p:nvPr/>
          </p:nvSpPr>
          <p:spPr>
            <a:xfrm>
              <a:off x="130177" y="2579161"/>
              <a:ext cx="2559048" cy="1603131"/>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深入实施“东数西算”工程，全国在用算力中心标准机架数超过</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900</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万，算力规模达到</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280EFLOPS</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，位居全球前列。</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MG-文本框 11"/>
          <p:cNvSpPr txBox="1"/>
          <p:nvPr>
            <p:custDataLst>
              <p:tags r:id="rId2"/>
            </p:custDataLst>
          </p:nvPr>
        </p:nvSpPr>
        <p:spPr>
          <a:xfrm>
            <a:off x="177739" y="17659"/>
            <a:ext cx="4942901"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数字基础设施</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2" name="组合 11"/>
          <p:cNvGrpSpPr/>
          <p:nvPr/>
        </p:nvGrpSpPr>
        <p:grpSpPr>
          <a:xfrm>
            <a:off x="10605916" y="-6858"/>
            <a:ext cx="1586085" cy="528405"/>
            <a:chOff x="10605916" y="5727392"/>
            <a:chExt cx="1586085" cy="528405"/>
          </a:xfrm>
        </p:grpSpPr>
        <p:sp>
          <p:nvSpPr>
            <p:cNvPr id="13" name="矩形 12"/>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4" name="文本框 13"/>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pic>
        <p:nvPicPr>
          <p:cNvPr id="19" name="图片 18"/>
          <p:cNvPicPr>
            <a:picLocks noChangeAspect="1"/>
          </p:cNvPicPr>
          <p:nvPr/>
        </p:nvPicPr>
        <p:blipFill>
          <a:blip r:embed="rId3">
            <a:extLst>
              <a:ext uri="{28A0092B-C50C-407E-A947-70E740481C1C}">
                <a14:useLocalDpi xmlns:a14="http://schemas.microsoft.com/office/drawing/2010/main" val="0"/>
              </a:ext>
            </a:extLst>
          </a:blip>
          <a:srcRect l="9921" t="1197" r="49867" b="2700"/>
          <a:stretch>
            <a:fillRect/>
          </a:stretch>
        </p:blipFill>
        <p:spPr>
          <a:xfrm>
            <a:off x="4877628" y="2697963"/>
            <a:ext cx="2436746" cy="2436746"/>
          </a:xfrm>
          <a:custGeom>
            <a:avLst/>
            <a:gdLst>
              <a:gd name="connsiteX0" fmla="*/ 1218373 w 2436746"/>
              <a:gd name="connsiteY0" fmla="*/ 0 h 2436746"/>
              <a:gd name="connsiteX1" fmla="*/ 2436746 w 2436746"/>
              <a:gd name="connsiteY1" fmla="*/ 1218373 h 2436746"/>
              <a:gd name="connsiteX2" fmla="*/ 1218373 w 2436746"/>
              <a:gd name="connsiteY2" fmla="*/ 2436746 h 2436746"/>
              <a:gd name="connsiteX3" fmla="*/ 0 w 2436746"/>
              <a:gd name="connsiteY3" fmla="*/ 1218373 h 2436746"/>
              <a:gd name="connsiteX4" fmla="*/ 1218373 w 2436746"/>
              <a:gd name="connsiteY4" fmla="*/ 0 h 2436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6746" h="2436746">
                <a:moveTo>
                  <a:pt x="1218373" y="0"/>
                </a:moveTo>
                <a:cubicBezTo>
                  <a:pt x="1891262" y="0"/>
                  <a:pt x="2436746" y="545484"/>
                  <a:pt x="2436746" y="1218373"/>
                </a:cubicBezTo>
                <a:cubicBezTo>
                  <a:pt x="2436746" y="1891262"/>
                  <a:pt x="1891262" y="2436746"/>
                  <a:pt x="1218373" y="2436746"/>
                </a:cubicBezTo>
                <a:cubicBezTo>
                  <a:pt x="545484" y="2436746"/>
                  <a:pt x="0" y="1891262"/>
                  <a:pt x="0" y="1218373"/>
                </a:cubicBezTo>
                <a:cubicBezTo>
                  <a:pt x="0" y="545484"/>
                  <a:pt x="545484" y="0"/>
                  <a:pt x="1218373" y="0"/>
                </a:cubicBezTo>
                <a:close/>
              </a:path>
            </a:pathLst>
          </a:custGeom>
          <a:ln w="63500">
            <a:solidFill>
              <a:schemeClr val="bg1"/>
            </a:solidFill>
          </a:ln>
        </p:spPr>
      </p:pic>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4942901"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数字基础设施</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pic>
        <p:nvPicPr>
          <p:cNvPr id="8"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754" y="1475356"/>
            <a:ext cx="7837733" cy="4487813"/>
          </a:xfrm>
          <a:prstGeom prst="rect">
            <a:avLst/>
          </a:prstGeom>
        </p:spPr>
      </p:pic>
      <p:sp>
        <p:nvSpPr>
          <p:cNvPr id="9" name="文本框 8"/>
          <p:cNvSpPr txBox="1"/>
          <p:nvPr/>
        </p:nvSpPr>
        <p:spPr>
          <a:xfrm>
            <a:off x="7825762" y="6152634"/>
            <a:ext cx="3122538" cy="369332"/>
          </a:xfrm>
          <a:prstGeom prst="rect">
            <a:avLst/>
          </a:prstGeom>
          <a:noFill/>
        </p:spPr>
        <p:txBody>
          <a:bodyPr wrap="square">
            <a:spAutoFit/>
          </a:bodyPr>
          <a:lstStyle/>
          <a:p>
            <a:r>
              <a:rPr lang="zh-CN" altLang="en-US" sz="1800" b="0" i="0" u="none" strike="noStrike" baseline="0" dirty="0">
                <a:latin typeface="FZFSK--GBK1-0"/>
              </a:rPr>
              <a:t>数据来源：工业和信息化部</a:t>
            </a:r>
            <a:endParaRPr lang="zh-CN" altLang="en-US" dirty="0"/>
          </a:p>
        </p:txBody>
      </p:sp>
      <p:sp>
        <p:nvSpPr>
          <p:cNvPr id="10" name="文本框 9"/>
          <p:cNvSpPr txBox="1"/>
          <p:nvPr/>
        </p:nvSpPr>
        <p:spPr>
          <a:xfrm>
            <a:off x="3644584" y="894831"/>
            <a:ext cx="4291445" cy="369332"/>
          </a:xfrm>
          <a:prstGeom prst="rect">
            <a:avLst/>
          </a:prstGeom>
          <a:noFill/>
        </p:spPr>
        <p:txBody>
          <a:bodyPr wrap="square">
            <a:spAutoFit/>
          </a:bodyPr>
          <a:lstStyle/>
          <a:p>
            <a:r>
              <a:rPr lang="en-US" altLang="zh-CN" b="1" dirty="0"/>
              <a:t>2019 </a:t>
            </a:r>
            <a:r>
              <a:rPr lang="zh-CN" altLang="en-US" b="1" dirty="0"/>
              <a:t>年</a:t>
            </a:r>
            <a:r>
              <a:rPr lang="en-US" altLang="zh-CN" b="1" dirty="0"/>
              <a:t>—2024 </a:t>
            </a:r>
            <a:r>
              <a:rPr lang="zh-CN" altLang="en-US" b="1" dirty="0"/>
              <a:t>年数据中心标准机架数</a:t>
            </a:r>
            <a:endParaRPr lang="zh-CN" altLang="en-US"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4942901"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数字基础设施</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pic>
        <p:nvPicPr>
          <p:cNvPr id="8"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4227" y="1385933"/>
            <a:ext cx="8023545" cy="4594208"/>
          </a:xfrm>
          <a:prstGeom prst="rect">
            <a:avLst/>
          </a:prstGeom>
        </p:spPr>
      </p:pic>
      <p:sp>
        <p:nvSpPr>
          <p:cNvPr id="11" name="文本框 10"/>
          <p:cNvSpPr txBox="1"/>
          <p:nvPr/>
        </p:nvSpPr>
        <p:spPr>
          <a:xfrm>
            <a:off x="7825762" y="6152634"/>
            <a:ext cx="3122538" cy="369332"/>
          </a:xfrm>
          <a:prstGeom prst="rect">
            <a:avLst/>
          </a:prstGeom>
          <a:noFill/>
        </p:spPr>
        <p:txBody>
          <a:bodyPr wrap="square">
            <a:spAutoFit/>
          </a:bodyPr>
          <a:lstStyle/>
          <a:p>
            <a:r>
              <a:rPr lang="zh-CN" altLang="en-US" sz="1800" b="0" i="0" u="none" strike="noStrike" baseline="0" dirty="0">
                <a:latin typeface="FZFSK--GBK1-0"/>
              </a:rPr>
              <a:t>数据来源：工业和信息化部</a:t>
            </a:r>
            <a:endParaRPr lang="zh-CN" altLang="en-US" dirty="0"/>
          </a:p>
        </p:txBody>
      </p:sp>
      <p:sp>
        <p:nvSpPr>
          <p:cNvPr id="12" name="文本框 11"/>
          <p:cNvSpPr txBox="1"/>
          <p:nvPr/>
        </p:nvSpPr>
        <p:spPr>
          <a:xfrm>
            <a:off x="3635050" y="877859"/>
            <a:ext cx="4921900" cy="369332"/>
          </a:xfrm>
          <a:prstGeom prst="rect">
            <a:avLst/>
          </a:prstGeom>
          <a:noFill/>
        </p:spPr>
        <p:txBody>
          <a:bodyPr wrap="square">
            <a:spAutoFit/>
          </a:bodyPr>
          <a:lstStyle/>
          <a:p>
            <a:r>
              <a:rPr lang="en-US" altLang="zh-CN" b="1" dirty="0"/>
              <a:t>2020</a:t>
            </a:r>
            <a:r>
              <a:rPr lang="zh-CN" altLang="en-US" b="1" dirty="0"/>
              <a:t>年</a:t>
            </a:r>
            <a:r>
              <a:rPr lang="en-US" altLang="zh-CN" b="1" dirty="0"/>
              <a:t>—2024</a:t>
            </a:r>
            <a:r>
              <a:rPr lang="zh-CN" altLang="en-US" b="1" dirty="0"/>
              <a:t>年</a:t>
            </a:r>
            <a:r>
              <a:rPr lang="en-US" altLang="zh-CN" b="1" dirty="0"/>
              <a:t>5G</a:t>
            </a:r>
            <a:r>
              <a:rPr lang="zh-CN" altLang="en-US" b="1" dirty="0"/>
              <a:t>基站数和移动电话基站数</a:t>
            </a:r>
            <a:endParaRPr lang="zh-CN" altLang="en-US"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9264644"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数字基础设施</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江西省数字基础设施的现状</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8"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MG-Rectangle 7"/>
          <p:cNvSpPr/>
          <p:nvPr>
            <p:custDataLst>
              <p:tags r:id="rId3"/>
            </p:custDataLst>
          </p:nvPr>
        </p:nvSpPr>
        <p:spPr>
          <a:xfrm>
            <a:off x="1" y="538359"/>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9"/>
          <p:cNvSpPr txBox="1"/>
          <p:nvPr/>
        </p:nvSpPr>
        <p:spPr>
          <a:xfrm>
            <a:off x="595696" y="1098367"/>
            <a:ext cx="10642601" cy="5105180"/>
          </a:xfrm>
          <a:prstGeom prst="rect">
            <a:avLst/>
          </a:prstGeom>
          <a:noFill/>
        </p:spPr>
        <p:txBody>
          <a:bodyPr wrap="square">
            <a:spAutoFit/>
          </a:bodyPr>
          <a:lstStyle/>
          <a:p>
            <a:pPr indent="457200">
              <a:lnSpc>
                <a:spcPct val="130000"/>
              </a:lnSpc>
            </a:pPr>
            <a:r>
              <a:rPr lang="zh-CN" altLang="en-US" b="1" dirty="0">
                <a:latin typeface="思源黑体 CN Normal"/>
              </a:rPr>
              <a:t>网络基础设施</a:t>
            </a:r>
            <a:endParaRPr lang="zh-CN" altLang="en-US" b="1" dirty="0">
              <a:latin typeface="思源黑体 CN Normal"/>
            </a:endParaRPr>
          </a:p>
          <a:p>
            <a:pPr marL="285750" indent="-285750">
              <a:lnSpc>
                <a:spcPct val="130000"/>
              </a:lnSpc>
              <a:buFont typeface="Arial" panose="020B0604020202020204" pitchFamily="34" charset="0"/>
              <a:buChar char="•"/>
            </a:pPr>
            <a:r>
              <a:rPr lang="en-US" altLang="zh-CN" dirty="0">
                <a:latin typeface="思源黑体 CN Normal"/>
              </a:rPr>
              <a:t>5G</a:t>
            </a:r>
            <a:r>
              <a:rPr lang="zh-CN" altLang="en-US" dirty="0">
                <a:latin typeface="思源黑体 CN Normal"/>
              </a:rPr>
              <a:t>网络建设</a:t>
            </a:r>
            <a:endParaRPr lang="zh-CN" altLang="en-US" dirty="0">
              <a:latin typeface="思源黑体 CN Normal"/>
            </a:endParaRPr>
          </a:p>
          <a:p>
            <a:pPr marL="742950" lvl="1" indent="-285750">
              <a:lnSpc>
                <a:spcPct val="130000"/>
              </a:lnSpc>
              <a:buFont typeface="Arial" panose="020B0604020202020204" pitchFamily="34" charset="0"/>
              <a:buChar char="•"/>
            </a:pPr>
            <a:r>
              <a:rPr lang="zh-CN" altLang="en-US" dirty="0">
                <a:latin typeface="思源黑体 CN Normal"/>
              </a:rPr>
              <a:t>江西省持续推进</a:t>
            </a:r>
            <a:r>
              <a:rPr lang="en-US" altLang="zh-CN" dirty="0">
                <a:latin typeface="思源黑体 CN Normal"/>
              </a:rPr>
              <a:t>5G</a:t>
            </a:r>
            <a:r>
              <a:rPr lang="zh-CN" altLang="en-US" dirty="0">
                <a:latin typeface="思源黑体 CN Normal"/>
              </a:rPr>
              <a:t>网络基础设施建设。截至</a:t>
            </a:r>
            <a:r>
              <a:rPr lang="en-US" altLang="zh-CN" dirty="0">
                <a:latin typeface="思源黑体 CN Normal"/>
              </a:rPr>
              <a:t>2024</a:t>
            </a:r>
            <a:r>
              <a:rPr lang="zh-CN" altLang="en-US" dirty="0">
                <a:latin typeface="思源黑体 CN Normal"/>
              </a:rPr>
              <a:t>年底，全省</a:t>
            </a:r>
            <a:r>
              <a:rPr lang="en-US" altLang="zh-CN" dirty="0">
                <a:latin typeface="思源黑体 CN Normal"/>
              </a:rPr>
              <a:t>5G</a:t>
            </a:r>
            <a:r>
              <a:rPr lang="zh-CN" altLang="en-US" dirty="0">
                <a:latin typeface="思源黑体 CN Normal"/>
              </a:rPr>
              <a:t>基站达</a:t>
            </a:r>
            <a:r>
              <a:rPr lang="en-US" altLang="zh-CN" dirty="0">
                <a:latin typeface="思源黑体 CN Normal"/>
              </a:rPr>
              <a:t>13.2</a:t>
            </a:r>
            <a:r>
              <a:rPr lang="zh-CN" altLang="en-US" dirty="0">
                <a:latin typeface="思源黑体 CN Normal"/>
              </a:rPr>
              <a:t>万个，每万人拥有</a:t>
            </a:r>
            <a:r>
              <a:rPr lang="en-US" altLang="zh-CN" dirty="0">
                <a:latin typeface="思源黑体 CN Normal"/>
              </a:rPr>
              <a:t>5G</a:t>
            </a:r>
            <a:r>
              <a:rPr lang="zh-CN" altLang="en-US" dirty="0">
                <a:latin typeface="思源黑体 CN Normal"/>
              </a:rPr>
              <a:t>基站</a:t>
            </a:r>
            <a:r>
              <a:rPr lang="en-US" altLang="zh-CN" dirty="0">
                <a:latin typeface="思源黑体 CN Normal"/>
              </a:rPr>
              <a:t>29.2</a:t>
            </a:r>
            <a:r>
              <a:rPr lang="zh-CN" altLang="en-US" dirty="0">
                <a:latin typeface="思源黑体 CN Normal"/>
              </a:rPr>
              <a:t>个，行政村</a:t>
            </a:r>
            <a:r>
              <a:rPr lang="en-US" altLang="zh-CN" dirty="0">
                <a:latin typeface="思源黑体 CN Normal"/>
              </a:rPr>
              <a:t>5G</a:t>
            </a:r>
            <a:r>
              <a:rPr lang="zh-CN" altLang="en-US" dirty="0">
                <a:latin typeface="思源黑体 CN Normal"/>
              </a:rPr>
              <a:t>通达率达</a:t>
            </a:r>
            <a:r>
              <a:rPr lang="en-US" altLang="zh-CN" dirty="0">
                <a:latin typeface="思源黑体 CN Normal"/>
              </a:rPr>
              <a:t>99%</a:t>
            </a:r>
            <a:r>
              <a:rPr lang="zh-CN" altLang="en-US" dirty="0">
                <a:latin typeface="思源黑体 CN Normal"/>
              </a:rPr>
              <a:t>。截至</a:t>
            </a:r>
            <a:r>
              <a:rPr lang="en-US" altLang="zh-CN" dirty="0">
                <a:latin typeface="思源黑体 CN Normal"/>
              </a:rPr>
              <a:t>2025</a:t>
            </a:r>
            <a:r>
              <a:rPr lang="zh-CN" altLang="en-US" dirty="0">
                <a:latin typeface="思源黑体 CN Normal"/>
              </a:rPr>
              <a:t>年</a:t>
            </a:r>
            <a:r>
              <a:rPr lang="en-US" altLang="zh-CN" dirty="0">
                <a:latin typeface="思源黑体 CN Normal"/>
              </a:rPr>
              <a:t>3</a:t>
            </a:r>
            <a:r>
              <a:rPr lang="zh-CN" altLang="en-US" dirty="0">
                <a:latin typeface="思源黑体 CN Normal"/>
              </a:rPr>
              <a:t>月，全省</a:t>
            </a:r>
            <a:r>
              <a:rPr lang="en-US" altLang="zh-CN" dirty="0">
                <a:latin typeface="思源黑体 CN Normal"/>
              </a:rPr>
              <a:t>5G</a:t>
            </a:r>
            <a:r>
              <a:rPr lang="zh-CN" altLang="en-US" dirty="0">
                <a:latin typeface="思源黑体 CN Normal"/>
              </a:rPr>
              <a:t>基站数量进一步增加至</a:t>
            </a:r>
            <a:r>
              <a:rPr lang="en-US" altLang="zh-CN" dirty="0">
                <a:latin typeface="思源黑体 CN Normal"/>
              </a:rPr>
              <a:t>13.6</a:t>
            </a:r>
            <a:r>
              <a:rPr lang="zh-CN" altLang="en-US" dirty="0">
                <a:latin typeface="思源黑体 CN Normal"/>
              </a:rPr>
              <a:t>万个，实现了高校、医院、旅游景点等</a:t>
            </a:r>
            <a:r>
              <a:rPr lang="en-US" altLang="zh-CN" dirty="0">
                <a:latin typeface="思源黑体 CN Normal"/>
              </a:rPr>
              <a:t>5685</a:t>
            </a:r>
            <a:r>
              <a:rPr lang="zh-CN" altLang="en-US" dirty="0">
                <a:latin typeface="思源黑体 CN Normal"/>
              </a:rPr>
              <a:t>个重点场所</a:t>
            </a:r>
            <a:r>
              <a:rPr lang="en-US" altLang="zh-CN" dirty="0">
                <a:latin typeface="思源黑体 CN Normal"/>
              </a:rPr>
              <a:t>5G</a:t>
            </a:r>
            <a:r>
              <a:rPr lang="zh-CN" altLang="en-US" dirty="0">
                <a:latin typeface="思源黑体 CN Normal"/>
              </a:rPr>
              <a:t>移动网络深度覆盖，</a:t>
            </a:r>
            <a:r>
              <a:rPr lang="en-US" altLang="zh-CN" dirty="0">
                <a:latin typeface="思源黑体 CN Normal"/>
              </a:rPr>
              <a:t>5600</a:t>
            </a:r>
            <a:r>
              <a:rPr lang="zh-CN" altLang="en-US" dirty="0">
                <a:latin typeface="思源黑体 CN Normal"/>
              </a:rPr>
              <a:t>千米高速公路、</a:t>
            </a:r>
            <a:r>
              <a:rPr lang="en-US" altLang="zh-CN" dirty="0">
                <a:latin typeface="思源黑体 CN Normal"/>
              </a:rPr>
              <a:t>1418</a:t>
            </a:r>
            <a:r>
              <a:rPr lang="zh-CN" altLang="en-US" dirty="0">
                <a:latin typeface="思源黑体 CN Normal"/>
              </a:rPr>
              <a:t>千米高铁线路、</a:t>
            </a:r>
            <a:r>
              <a:rPr lang="en-US" altLang="zh-CN" dirty="0">
                <a:latin typeface="思源黑体 CN Normal"/>
              </a:rPr>
              <a:t>2600</a:t>
            </a:r>
            <a:r>
              <a:rPr lang="zh-CN" altLang="en-US" dirty="0">
                <a:latin typeface="思源黑体 CN Normal"/>
              </a:rPr>
              <a:t>千米国道省道移动网络连续覆盖，行政村及以上</a:t>
            </a:r>
            <a:r>
              <a:rPr lang="en-US" altLang="zh-CN" dirty="0">
                <a:latin typeface="思源黑体 CN Normal"/>
              </a:rPr>
              <a:t>5G</a:t>
            </a:r>
            <a:r>
              <a:rPr lang="zh-CN" altLang="en-US" dirty="0">
                <a:latin typeface="思源黑体 CN Normal"/>
              </a:rPr>
              <a:t>网络全面通达。</a:t>
            </a:r>
            <a:endParaRPr lang="zh-CN" altLang="en-US" dirty="0">
              <a:latin typeface="思源黑体 CN Normal"/>
            </a:endParaRPr>
          </a:p>
          <a:p>
            <a:pPr marL="742950" lvl="1" indent="-285750">
              <a:lnSpc>
                <a:spcPct val="130000"/>
              </a:lnSpc>
              <a:buFont typeface="Arial" panose="020B0604020202020204" pitchFamily="34" charset="0"/>
              <a:buChar char="•"/>
            </a:pPr>
            <a:r>
              <a:rPr lang="zh-CN" altLang="en-US" dirty="0">
                <a:latin typeface="思源黑体 CN Normal"/>
              </a:rPr>
              <a:t>基础电信运营商加快推进</a:t>
            </a:r>
            <a:r>
              <a:rPr lang="en-US" altLang="zh-CN" dirty="0">
                <a:latin typeface="思源黑体 CN Normal"/>
              </a:rPr>
              <a:t>5G</a:t>
            </a:r>
            <a:r>
              <a:rPr lang="zh-CN" altLang="en-US" dirty="0">
                <a:latin typeface="思源黑体 CN Normal"/>
              </a:rPr>
              <a:t>网络基础设施建设，持续优化面向开发区的</a:t>
            </a:r>
            <a:r>
              <a:rPr lang="en-US" altLang="zh-CN" dirty="0">
                <a:latin typeface="思源黑体 CN Normal"/>
              </a:rPr>
              <a:t>5G</a:t>
            </a:r>
            <a:r>
              <a:rPr lang="zh-CN" altLang="en-US" dirty="0">
                <a:latin typeface="思源黑体 CN Normal"/>
              </a:rPr>
              <a:t>网络布局，实现全省</a:t>
            </a:r>
            <a:r>
              <a:rPr lang="en-US" altLang="zh-CN" dirty="0">
                <a:latin typeface="思源黑体 CN Normal"/>
              </a:rPr>
              <a:t>5G</a:t>
            </a:r>
            <a:r>
              <a:rPr lang="zh-CN" altLang="en-US" dirty="0">
                <a:latin typeface="思源黑体 CN Normal"/>
              </a:rPr>
              <a:t>网络的广泛覆盖和深度应用。</a:t>
            </a:r>
            <a:endParaRPr lang="zh-CN" altLang="en-US" dirty="0">
              <a:latin typeface="思源黑体 CN Normal"/>
            </a:endParaRPr>
          </a:p>
          <a:p>
            <a:pPr marL="285750" indent="-285750">
              <a:lnSpc>
                <a:spcPct val="130000"/>
              </a:lnSpc>
              <a:buFont typeface="Arial" panose="020B0604020202020204" pitchFamily="34" charset="0"/>
              <a:buChar char="•"/>
            </a:pPr>
            <a:r>
              <a:rPr lang="zh-CN" altLang="en-US" dirty="0">
                <a:latin typeface="思源黑体 CN Normal"/>
              </a:rPr>
              <a:t>千兆光网建设</a:t>
            </a:r>
            <a:endParaRPr lang="zh-CN" altLang="en-US" dirty="0">
              <a:latin typeface="思源黑体 CN Normal"/>
            </a:endParaRPr>
          </a:p>
          <a:p>
            <a:pPr marL="742950" lvl="1" indent="-285750">
              <a:lnSpc>
                <a:spcPct val="130000"/>
              </a:lnSpc>
              <a:buFont typeface="Arial" panose="020B0604020202020204" pitchFamily="34" charset="0"/>
              <a:buChar char="•"/>
            </a:pPr>
            <a:r>
              <a:rPr lang="zh-CN" altLang="en-US" dirty="0">
                <a:latin typeface="思源黑体 CN Normal"/>
              </a:rPr>
              <a:t>加速推进光网城市建设，开展万兆光网试点，万兆无源光网络及以上端口规模达</a:t>
            </a:r>
            <a:r>
              <a:rPr lang="en-US" altLang="zh-CN" dirty="0">
                <a:latin typeface="思源黑体 CN Normal"/>
              </a:rPr>
              <a:t>79.2</a:t>
            </a:r>
            <a:r>
              <a:rPr lang="zh-CN" altLang="en-US" dirty="0">
                <a:latin typeface="思源黑体 CN Normal"/>
              </a:rPr>
              <a:t>万个。全省</a:t>
            </a:r>
            <a:r>
              <a:rPr lang="en-US" altLang="zh-CN" dirty="0">
                <a:latin typeface="思源黑体 CN Normal"/>
              </a:rPr>
              <a:t>11</a:t>
            </a:r>
            <a:r>
              <a:rPr lang="zh-CN" altLang="en-US" dirty="0">
                <a:latin typeface="思源黑体 CN Normal"/>
              </a:rPr>
              <a:t>个设区市中有</a:t>
            </a:r>
            <a:r>
              <a:rPr lang="en-US" altLang="zh-CN" dirty="0">
                <a:latin typeface="思源黑体 CN Normal"/>
              </a:rPr>
              <a:t>10</a:t>
            </a:r>
            <a:r>
              <a:rPr lang="zh-CN" altLang="en-US" dirty="0">
                <a:latin typeface="思源黑体 CN Normal"/>
              </a:rPr>
              <a:t>个建成“千兆城市”，占比</a:t>
            </a:r>
            <a:r>
              <a:rPr lang="en-US" altLang="zh-CN" dirty="0">
                <a:latin typeface="思源黑体 CN Normal"/>
              </a:rPr>
              <a:t>91%</a:t>
            </a:r>
            <a:r>
              <a:rPr lang="zh-CN" altLang="en-US" dirty="0">
                <a:latin typeface="思源黑体 CN Normal"/>
              </a:rPr>
              <a:t>，居全国第</a:t>
            </a:r>
            <a:r>
              <a:rPr lang="en-US" altLang="zh-CN" dirty="0">
                <a:latin typeface="思源黑体 CN Normal"/>
              </a:rPr>
              <a:t>5</a:t>
            </a:r>
            <a:r>
              <a:rPr lang="zh-CN" altLang="en-US" dirty="0">
                <a:latin typeface="思源黑体 CN Normal"/>
              </a:rPr>
              <a:t>位。</a:t>
            </a:r>
            <a:endParaRPr lang="zh-CN" altLang="en-US" dirty="0">
              <a:latin typeface="思源黑体 CN Normal"/>
            </a:endParaRPr>
          </a:p>
          <a:p>
            <a:pPr marL="285750" indent="-285750">
              <a:lnSpc>
                <a:spcPct val="130000"/>
              </a:lnSpc>
              <a:buFont typeface="Arial" panose="020B0604020202020204" pitchFamily="34" charset="0"/>
              <a:buChar char="•"/>
            </a:pPr>
            <a:r>
              <a:rPr lang="zh-CN" altLang="en-US" dirty="0">
                <a:latin typeface="思源黑体 CN Normal"/>
              </a:rPr>
              <a:t> 骨干网优化</a:t>
            </a:r>
            <a:endParaRPr lang="zh-CN" altLang="en-US" dirty="0">
              <a:latin typeface="思源黑体 CN Normal"/>
            </a:endParaRPr>
          </a:p>
          <a:p>
            <a:pPr marL="742950" lvl="1" indent="-285750">
              <a:lnSpc>
                <a:spcPct val="130000"/>
              </a:lnSpc>
              <a:buFont typeface="Arial" panose="020B0604020202020204" pitchFamily="34" charset="0"/>
              <a:buChar char="•"/>
            </a:pPr>
            <a:r>
              <a:rPr lang="zh-CN" altLang="en-US" dirty="0">
                <a:latin typeface="思源黑体 CN Normal"/>
              </a:rPr>
              <a:t> 建成开通南昌国家级互联网骨干直联点，互联网网间带宽达</a:t>
            </a:r>
            <a:r>
              <a:rPr lang="en-US" altLang="zh-CN" dirty="0">
                <a:latin typeface="思源黑体 CN Normal"/>
              </a:rPr>
              <a:t>2000GB</a:t>
            </a:r>
            <a:r>
              <a:rPr lang="zh-CN" altLang="en-US" dirty="0">
                <a:latin typeface="思源黑体 CN Normal"/>
              </a:rPr>
              <a:t>，省内网间平均时延降至</a:t>
            </a:r>
            <a:r>
              <a:rPr lang="en-US" altLang="zh-CN" dirty="0">
                <a:latin typeface="思源黑体 CN Normal"/>
              </a:rPr>
              <a:t>1.8</a:t>
            </a:r>
            <a:r>
              <a:rPr lang="zh-CN" altLang="en-US" dirty="0">
                <a:latin typeface="思源黑体 CN Normal"/>
              </a:rPr>
              <a:t>毫秒，数据传输稳定性和速率大幅提升。</a:t>
            </a:r>
            <a:endParaRPr lang="zh-CN" altLang="en-US" dirty="0">
              <a:latin typeface="思源黑体 CN Norm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9264644"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数字基础设施</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江西省数字基础设施的现状</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8"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MG-Rectangle 7"/>
          <p:cNvSpPr/>
          <p:nvPr>
            <p:custDataLst>
              <p:tags r:id="rId3"/>
            </p:custDataLst>
          </p:nvPr>
        </p:nvSpPr>
        <p:spPr>
          <a:xfrm>
            <a:off x="1" y="538359"/>
            <a:ext cx="12191999" cy="4457153"/>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9"/>
          <p:cNvSpPr txBox="1"/>
          <p:nvPr/>
        </p:nvSpPr>
        <p:spPr>
          <a:xfrm>
            <a:off x="595696" y="1098367"/>
            <a:ext cx="10642601" cy="3374129"/>
          </a:xfrm>
          <a:prstGeom prst="rect">
            <a:avLst/>
          </a:prstGeom>
          <a:noFill/>
        </p:spPr>
        <p:txBody>
          <a:bodyPr wrap="square">
            <a:spAutoFit/>
          </a:bodyPr>
          <a:lstStyle/>
          <a:p>
            <a:pPr indent="457200">
              <a:lnSpc>
                <a:spcPct val="150000"/>
              </a:lnSpc>
            </a:pPr>
            <a:r>
              <a:rPr lang="zh-CN" altLang="en-US" b="1" dirty="0">
                <a:latin typeface="思源黑体 CN Normal"/>
              </a:rPr>
              <a:t>算力基础设施</a:t>
            </a:r>
            <a:endParaRPr lang="zh-CN" altLang="en-US" b="1" dirty="0">
              <a:latin typeface="思源黑体 CN Normal"/>
            </a:endParaRPr>
          </a:p>
          <a:p>
            <a:pPr marL="285750" indent="-285750">
              <a:lnSpc>
                <a:spcPct val="150000"/>
              </a:lnSpc>
              <a:buFont typeface="Arial" panose="020B0604020202020204" pitchFamily="34" charset="0"/>
              <a:buChar char="•"/>
            </a:pPr>
            <a:r>
              <a:rPr lang="zh-CN" altLang="en-US" dirty="0"/>
              <a:t>数据中心建设</a:t>
            </a:r>
            <a:endParaRPr lang="en-US" altLang="zh-CN" dirty="0"/>
          </a:p>
          <a:p>
            <a:pPr marL="742950" lvl="1" indent="-285750">
              <a:lnSpc>
                <a:spcPct val="150000"/>
              </a:lnSpc>
              <a:buFont typeface="Arial" panose="020B0604020202020204" pitchFamily="34" charset="0"/>
              <a:buChar char="•"/>
            </a:pPr>
            <a:r>
              <a:rPr lang="zh-CN" altLang="en-US" dirty="0"/>
              <a:t>全省数据中心以南昌为中心规划建设“十字型”大数据走廊，形成横纵数据资源集聚、大数据应用协同发展的良好局面。全行业已提供算力规模超</a:t>
            </a:r>
            <a:r>
              <a:rPr lang="en-US" altLang="zh-CN" dirty="0"/>
              <a:t>500PFlops</a:t>
            </a:r>
            <a:r>
              <a:rPr lang="zh-CN" altLang="en-US" dirty="0"/>
              <a:t>，其中超大型算力中心</a:t>
            </a:r>
            <a:r>
              <a:rPr lang="en-US" altLang="zh-CN" dirty="0"/>
              <a:t>2</a:t>
            </a:r>
            <a:r>
              <a:rPr lang="zh-CN" altLang="en-US" dirty="0"/>
              <a:t>个、大型算力中心</a:t>
            </a:r>
            <a:r>
              <a:rPr lang="en-US" altLang="zh-CN" dirty="0"/>
              <a:t>5</a:t>
            </a:r>
            <a:r>
              <a:rPr lang="zh-CN" altLang="en-US" dirty="0"/>
              <a:t>个。中国电信鄱阳湖智算中心投入运营，省内行业大模型等智能算力供给能力显著提升。</a:t>
            </a:r>
            <a:endParaRPr lang="en-US" altLang="zh-CN" dirty="0"/>
          </a:p>
          <a:p>
            <a:pPr marL="285750" indent="-285750">
              <a:lnSpc>
                <a:spcPct val="150000"/>
              </a:lnSpc>
              <a:buFont typeface="Arial" panose="020B0604020202020204" pitchFamily="34" charset="0"/>
              <a:buChar char="•"/>
            </a:pPr>
            <a:r>
              <a:rPr lang="en-US" altLang="zh-CN" dirty="0"/>
              <a:t> </a:t>
            </a:r>
            <a:r>
              <a:rPr lang="zh-CN" altLang="en-US" dirty="0"/>
              <a:t>算力网络建设</a:t>
            </a:r>
            <a:endParaRPr lang="en-US" altLang="zh-CN" dirty="0"/>
          </a:p>
          <a:p>
            <a:pPr marL="742950" lvl="1" indent="-285750">
              <a:lnSpc>
                <a:spcPct val="150000"/>
              </a:lnSpc>
              <a:buFont typeface="Arial" panose="020B0604020202020204" pitchFamily="34" charset="0"/>
              <a:buChar char="•"/>
            </a:pPr>
            <a:r>
              <a:rPr lang="en-US" altLang="zh-CN" dirty="0"/>
              <a:t> </a:t>
            </a:r>
            <a:r>
              <a:rPr lang="zh-CN" altLang="en-US" dirty="0"/>
              <a:t>持续推进建设省际及省内高速、智能、高效运力网，积极引入</a:t>
            </a:r>
            <a:r>
              <a:rPr lang="en-US" altLang="zh-CN" dirty="0"/>
              <a:t>OXC</a:t>
            </a:r>
            <a:r>
              <a:rPr lang="zh-CN" altLang="en-US" dirty="0"/>
              <a:t>、</a:t>
            </a:r>
            <a:r>
              <a:rPr lang="en-US" altLang="zh-CN" dirty="0"/>
              <a:t>SRv6</a:t>
            </a:r>
            <a:r>
              <a:rPr lang="zh-CN" altLang="en-US" dirty="0"/>
              <a:t>等先进技术，构建城市内</a:t>
            </a:r>
            <a:r>
              <a:rPr lang="en-US" altLang="zh-CN" dirty="0"/>
              <a:t>1ms</a:t>
            </a:r>
            <a:r>
              <a:rPr lang="zh-CN" altLang="en-US" dirty="0"/>
              <a:t>入算时延圈，筑牢广泛连接、高效流通、智能开放的算力互联网络。</a:t>
            </a:r>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9264644"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数字基础设施</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江西省数字基础设施的现状</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8"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MG-Rectangle 7"/>
          <p:cNvSpPr/>
          <p:nvPr>
            <p:custDataLst>
              <p:tags r:id="rId3"/>
            </p:custDataLst>
          </p:nvPr>
        </p:nvSpPr>
        <p:spPr>
          <a:xfrm>
            <a:off x="1" y="538360"/>
            <a:ext cx="12191999" cy="2772732"/>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9"/>
          <p:cNvSpPr txBox="1"/>
          <p:nvPr/>
        </p:nvSpPr>
        <p:spPr>
          <a:xfrm>
            <a:off x="595696" y="1098367"/>
            <a:ext cx="10642601" cy="2127634"/>
          </a:xfrm>
          <a:prstGeom prst="rect">
            <a:avLst/>
          </a:prstGeom>
          <a:noFill/>
        </p:spPr>
        <p:txBody>
          <a:bodyPr wrap="square">
            <a:spAutoFit/>
          </a:bodyPr>
          <a:lstStyle/>
          <a:p>
            <a:r>
              <a:rPr lang="zh-CN" altLang="en-US" b="1" dirty="0"/>
              <a:t>工业互联网基础设施</a:t>
            </a:r>
            <a:endParaRPr lang="en-US" altLang="zh-CN" b="1" dirty="0"/>
          </a:p>
          <a:p>
            <a:pPr marL="285750" indent="-285750">
              <a:buFont typeface="Arial" panose="020B0604020202020204" pitchFamily="34" charset="0"/>
              <a:buChar char="•"/>
            </a:pPr>
            <a:r>
              <a:rPr lang="en-US" altLang="zh-CN" dirty="0">
                <a:latin typeface="思源黑体 CN Normal"/>
              </a:rPr>
              <a:t> </a:t>
            </a:r>
            <a:r>
              <a:rPr lang="zh-CN" altLang="en-US" dirty="0">
                <a:latin typeface="思源黑体 CN Normal"/>
              </a:rPr>
              <a:t>标识解析体系建设</a:t>
            </a:r>
            <a:endParaRPr lang="en-US" altLang="zh-CN" dirty="0">
              <a:latin typeface="思源黑体 CN Normal"/>
            </a:endParaRPr>
          </a:p>
          <a:p>
            <a:pPr marL="742950" lvl="1" indent="-285750">
              <a:buFont typeface="Arial" panose="020B0604020202020204" pitchFamily="34" charset="0"/>
              <a:buChar char="•"/>
            </a:pPr>
            <a:r>
              <a:rPr lang="en-US" altLang="zh-CN" dirty="0">
                <a:latin typeface="思源黑体 CN Normal"/>
              </a:rPr>
              <a:t> </a:t>
            </a:r>
            <a:r>
              <a:rPr lang="zh-CN" altLang="en-US" dirty="0">
                <a:latin typeface="思源黑体 CN Normal"/>
              </a:rPr>
              <a:t>有序推动工业互联网标识解析二级节点建设，全省已有</a:t>
            </a:r>
            <a:r>
              <a:rPr lang="en-US" altLang="zh-CN" dirty="0">
                <a:latin typeface="思源黑体 CN Normal"/>
              </a:rPr>
              <a:t>17</a:t>
            </a:r>
            <a:r>
              <a:rPr lang="zh-CN" altLang="en-US" dirty="0">
                <a:latin typeface="思源黑体 CN Normal"/>
              </a:rPr>
              <a:t>个二级节点接入国家顶级节点。</a:t>
            </a:r>
            <a:endParaRPr lang="en-US" altLang="zh-CN" dirty="0">
              <a:latin typeface="思源黑体 CN Normal"/>
            </a:endParaRPr>
          </a:p>
          <a:p>
            <a:pPr marL="285750" indent="-285750">
              <a:buFont typeface="Arial" panose="020B0604020202020204" pitchFamily="34" charset="0"/>
              <a:buChar char="•"/>
            </a:pPr>
            <a:r>
              <a:rPr lang="en-US" altLang="zh-CN" dirty="0">
                <a:latin typeface="思源黑体 CN Normal"/>
              </a:rPr>
              <a:t> </a:t>
            </a:r>
            <a:r>
              <a:rPr lang="zh-CN" altLang="en-US" dirty="0">
                <a:latin typeface="思源黑体 CN Normal"/>
              </a:rPr>
              <a:t>融合应用</a:t>
            </a:r>
            <a:endParaRPr lang="en-US" altLang="zh-CN" dirty="0">
              <a:latin typeface="思源黑体 CN Normal"/>
            </a:endParaRPr>
          </a:p>
          <a:p>
            <a:pPr marL="742950" lvl="1" indent="-285750">
              <a:buFont typeface="Arial" panose="020B0604020202020204" pitchFamily="34" charset="0"/>
              <a:buChar char="•"/>
            </a:pPr>
            <a:r>
              <a:rPr lang="en-US" altLang="zh-CN" dirty="0">
                <a:latin typeface="思源黑体 CN Normal"/>
              </a:rPr>
              <a:t> </a:t>
            </a:r>
            <a:r>
              <a:rPr lang="zh-CN" altLang="en-US" dirty="0">
                <a:latin typeface="思源黑体 CN Normal"/>
              </a:rPr>
              <a:t>深入实施</a:t>
            </a:r>
            <a:r>
              <a:rPr lang="en-US" altLang="zh-CN" dirty="0">
                <a:latin typeface="思源黑体 CN Normal"/>
              </a:rPr>
              <a:t>5G</a:t>
            </a:r>
            <a:r>
              <a:rPr lang="zh-CN" altLang="en-US" dirty="0">
                <a:latin typeface="思源黑体 CN Normal"/>
              </a:rPr>
              <a:t>规模化应用“扬帆”行动计划，在智慧生活、智能生产、数字治理等领域不断拓展新应用，推动数字经济与实体经济深度融合。</a:t>
            </a:r>
            <a:endParaRPr lang="zh-CN" altLang="en-US" dirty="0">
              <a:latin typeface="思源黑体 CN Normal"/>
            </a:endParaRPr>
          </a:p>
          <a:p>
            <a:pPr indent="457200">
              <a:lnSpc>
                <a:spcPct val="150000"/>
              </a:lnSpc>
            </a:pPr>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1"/>
            </p:custDataLst>
          </p:nvPr>
        </p:nvSpPr>
        <p:spPr>
          <a:xfrm>
            <a:off x="177739" y="17659"/>
            <a:ext cx="5183533"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数字技术创新</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5" name="组合 4"/>
          <p:cNvGrpSpPr/>
          <p:nvPr/>
        </p:nvGrpSpPr>
        <p:grpSpPr>
          <a:xfrm>
            <a:off x="10605916" y="-6858"/>
            <a:ext cx="1586085" cy="528405"/>
            <a:chOff x="10605916" y="5727392"/>
            <a:chExt cx="1586085" cy="528405"/>
          </a:xfrm>
        </p:grpSpPr>
        <p:sp>
          <p:nvSpPr>
            <p:cNvPr id="6" name="矩形 5"/>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7" name="文本框 6"/>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grpSp>
        <p:nvGrpSpPr>
          <p:cNvPr id="8" name="组合 7"/>
          <p:cNvGrpSpPr/>
          <p:nvPr/>
        </p:nvGrpSpPr>
        <p:grpSpPr>
          <a:xfrm>
            <a:off x="833316" y="1813958"/>
            <a:ext cx="3872378" cy="3872378"/>
            <a:chOff x="1347677" y="1813168"/>
            <a:chExt cx="1734440" cy="1734439"/>
          </a:xfrm>
        </p:grpSpPr>
        <p:sp>
          <p:nvSpPr>
            <p:cNvPr id="9" name="MG-椭圆 21"/>
            <p:cNvSpPr/>
            <p:nvPr>
              <p:custDataLst>
                <p:tags r:id="rId2"/>
              </p:custDataLst>
            </p:nvPr>
          </p:nvSpPr>
          <p:spPr>
            <a:xfrm>
              <a:off x="1768157" y="2231828"/>
              <a:ext cx="895298" cy="895298"/>
            </a:xfrm>
            <a:prstGeom prst="ellipse">
              <a:avLst/>
            </a:prstGeom>
            <a:gradFill flip="none" rotWithShape="1">
              <a:gsLst>
                <a:gs pos="0">
                  <a:srgbClr val="529AFD"/>
                </a:gs>
                <a:gs pos="70000">
                  <a:srgbClr val="4175FD"/>
                </a:gs>
              </a:gsLst>
              <a:lin ang="27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440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10" name="MG-弧形 22"/>
            <p:cNvSpPr/>
            <p:nvPr>
              <p:custDataLst>
                <p:tags r:id="rId3"/>
              </p:custDataLst>
            </p:nvPr>
          </p:nvSpPr>
          <p:spPr bwMode="auto">
            <a:xfrm>
              <a:off x="1498735" y="1962406"/>
              <a:ext cx="1432323" cy="1434142"/>
            </a:xfrm>
            <a:prstGeom prst="arc">
              <a:avLst>
                <a:gd name="adj1" fmla="val 1745583"/>
                <a:gd name="adj2" fmla="val 2357491"/>
              </a:avLst>
            </a:prstGeom>
            <a:noFill/>
            <a:ln w="76200" cap="rnd">
              <a:solidFill>
                <a:srgbClr val="4175FD"/>
              </a:solidFill>
              <a:beve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0">
                <a:lnSpc>
                  <a:spcPct val="100000"/>
                </a:lnSpc>
                <a:spcBef>
                  <a:spcPts val="0"/>
                </a:spcBef>
                <a:spcAft>
                  <a:spcPts val="0"/>
                </a:spcAft>
                <a:buClrTx/>
                <a:buSzTx/>
                <a:buFontTx/>
                <a:buNone/>
                <a:defRPr/>
              </a:pPr>
              <a:endParaRPr kumimoji="0" lang="en-US" sz="4000" b="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11" name="MG-文本框 4"/>
            <p:cNvSpPr txBox="1"/>
            <p:nvPr>
              <p:custDataLst>
                <p:tags r:id="rId4"/>
              </p:custDataLst>
            </p:nvPr>
          </p:nvSpPr>
          <p:spPr>
            <a:xfrm>
              <a:off x="1807013" y="2518144"/>
              <a:ext cx="815767" cy="31706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40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1</a:t>
              </a:r>
              <a:r>
                <a:rPr kumimoji="0" lang="id-ID" sz="20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a:t>
              </a:r>
              <a:endParaRPr kumimoji="0" lang="id-ID" sz="40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12" name="MG-椭圆 25"/>
            <p:cNvSpPr/>
            <p:nvPr>
              <p:custDataLst>
                <p:tags r:id="rId5"/>
              </p:custDataLst>
            </p:nvPr>
          </p:nvSpPr>
          <p:spPr>
            <a:xfrm>
              <a:off x="1347677" y="1813168"/>
              <a:ext cx="1734440" cy="1734439"/>
            </a:xfrm>
            <a:prstGeom prst="ellipse">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4000" b="0" i="0" u="none" strike="noStrike" kern="1200" cap="none" spc="0" normalizeH="0" baseline="0" noProof="0">
                <a:ln>
                  <a:noFill/>
                </a:ln>
                <a:solidFill>
                  <a:schemeClr val="lt1"/>
                </a:solidFill>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grpSp>
      <p:grpSp>
        <p:nvGrpSpPr>
          <p:cNvPr id="13" name="组合 12"/>
          <p:cNvGrpSpPr/>
          <p:nvPr/>
        </p:nvGrpSpPr>
        <p:grpSpPr>
          <a:xfrm>
            <a:off x="5361272" y="1383780"/>
            <a:ext cx="5715001" cy="1665534"/>
            <a:chOff x="5128846" y="2329167"/>
            <a:chExt cx="5715001" cy="1665534"/>
          </a:xfrm>
        </p:grpSpPr>
        <p:grpSp>
          <p:nvGrpSpPr>
            <p:cNvPr id="14" name="组合 13"/>
            <p:cNvGrpSpPr/>
            <p:nvPr/>
          </p:nvGrpSpPr>
          <p:grpSpPr>
            <a:xfrm>
              <a:off x="5657360" y="2329167"/>
              <a:ext cx="5186487" cy="1665534"/>
              <a:chOff x="1621348" y="2523551"/>
              <a:chExt cx="5186487" cy="1665534"/>
            </a:xfrm>
          </p:grpSpPr>
          <p:sp>
            <p:nvSpPr>
              <p:cNvPr id="16" name="矩形 15"/>
              <p:cNvSpPr/>
              <p:nvPr/>
            </p:nvSpPr>
            <p:spPr>
              <a:xfrm>
                <a:off x="1621348" y="2523551"/>
                <a:ext cx="2262158" cy="369332"/>
              </a:xfrm>
              <a:prstGeom prst="rect">
                <a:avLst/>
              </a:prstGeom>
            </p:spPr>
            <p:txBody>
              <a:bodyPr wrap="non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国产人工智能崛起：</a:t>
                </a:r>
                <a:endPar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17" name="矩形 16"/>
              <p:cNvSpPr/>
              <p:nvPr/>
            </p:nvSpPr>
            <p:spPr>
              <a:xfrm>
                <a:off x="1633539" y="2893730"/>
                <a:ext cx="5174296" cy="1295355"/>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我国已培育出一批竞争力强的通用大模型和行业大模型，国产大模型登顶全球主流开源社区下载量的榜单，创造了“中国速度”。</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R="0" lvl="0" indent="0" algn="just" fontAlgn="auto">
                  <a:lnSpc>
                    <a:spcPct val="125000"/>
                  </a:lnSpc>
                  <a:spcBef>
                    <a:spcPts val="0"/>
                  </a:spcBef>
                  <a:spcAft>
                    <a:spcPts val="0"/>
                  </a:spcAft>
                  <a:buClrTx/>
                  <a:buSzTx/>
                  <a:buFontTx/>
                  <a:buNone/>
                  <a:defRPr/>
                </a:pP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5" name="椭圆 14"/>
            <p:cNvSpPr/>
            <p:nvPr/>
          </p:nvSpPr>
          <p:spPr>
            <a:xfrm>
              <a:off x="5128846" y="2605271"/>
              <a:ext cx="381000" cy="381000"/>
            </a:xfrm>
            <a:prstGeom prst="ellipse">
              <a:avLst/>
            </a:prstGeom>
            <a:gradFill flip="none" rotWithShape="1">
              <a:gsLst>
                <a:gs pos="44925">
                  <a:srgbClr val="306DDE"/>
                </a:gs>
                <a:gs pos="6000">
                  <a:srgbClr val="3981E2">
                    <a:alpha val="73000"/>
                  </a:srgbClr>
                </a:gs>
                <a:gs pos="81000">
                  <a:srgbClr val="285BDB"/>
                </a:gs>
              </a:gsLst>
              <a:lin ang="27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1</a:t>
              </a:r>
              <a:endParaRPr lang="zh-CN" altLang="en-US"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grpSp>
      <p:grpSp>
        <p:nvGrpSpPr>
          <p:cNvPr id="18" name="组合 17"/>
          <p:cNvGrpSpPr/>
          <p:nvPr/>
        </p:nvGrpSpPr>
        <p:grpSpPr>
          <a:xfrm>
            <a:off x="5361272" y="2928299"/>
            <a:ext cx="5715001" cy="1356910"/>
            <a:chOff x="5128846" y="2330014"/>
            <a:chExt cx="5715001" cy="1356910"/>
          </a:xfrm>
        </p:grpSpPr>
        <p:grpSp>
          <p:nvGrpSpPr>
            <p:cNvPr id="19" name="组合 18"/>
            <p:cNvGrpSpPr/>
            <p:nvPr/>
          </p:nvGrpSpPr>
          <p:grpSpPr>
            <a:xfrm>
              <a:off x="5657360" y="2330014"/>
              <a:ext cx="5186487" cy="1356910"/>
              <a:chOff x="1621348" y="2524398"/>
              <a:chExt cx="5186487" cy="1356910"/>
            </a:xfrm>
          </p:grpSpPr>
          <p:sp>
            <p:nvSpPr>
              <p:cNvPr id="21" name="矩形 20"/>
              <p:cNvSpPr/>
              <p:nvPr/>
            </p:nvSpPr>
            <p:spPr>
              <a:xfrm>
                <a:off x="1621348" y="2524398"/>
                <a:ext cx="2262158" cy="369332"/>
              </a:xfrm>
              <a:prstGeom prst="rect">
                <a:avLst/>
              </a:prstGeom>
            </p:spPr>
            <p:txBody>
              <a:bodyPr wrap="non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前沿技术创新加速：</a:t>
                </a:r>
                <a:endPar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22" name="矩形 21"/>
              <p:cNvSpPr/>
              <p:nvPr/>
            </p:nvSpPr>
            <p:spPr>
              <a:xfrm>
                <a:off x="1633539" y="2893730"/>
                <a:ext cx="5174296" cy="987578"/>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我国科技型企业在全球</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专利合作条约</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》(PCT)</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申请中占据重要地位，自主研发“北脑二号”填补我国高性能侵入式脑机接口空白，原生鸿蒙系统正式发布。</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0" name="椭圆 19"/>
            <p:cNvSpPr/>
            <p:nvPr/>
          </p:nvSpPr>
          <p:spPr>
            <a:xfrm>
              <a:off x="5128846" y="2605271"/>
              <a:ext cx="381000" cy="381000"/>
            </a:xfrm>
            <a:prstGeom prst="ellipse">
              <a:avLst/>
            </a:prstGeom>
            <a:gradFill flip="none" rotWithShape="1">
              <a:gsLst>
                <a:gs pos="44925">
                  <a:srgbClr val="306DDE"/>
                </a:gs>
                <a:gs pos="6000">
                  <a:srgbClr val="3981E2">
                    <a:alpha val="73000"/>
                  </a:srgbClr>
                </a:gs>
                <a:gs pos="81000">
                  <a:srgbClr val="285BDB"/>
                </a:gs>
              </a:gsLst>
              <a:lin ang="27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2</a:t>
              </a:r>
              <a:endParaRPr lang="zh-CN" altLang="en-US"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grpSp>
      <p:grpSp>
        <p:nvGrpSpPr>
          <p:cNvPr id="23" name="组合 22"/>
          <p:cNvGrpSpPr/>
          <p:nvPr/>
        </p:nvGrpSpPr>
        <p:grpSpPr>
          <a:xfrm>
            <a:off x="5384571" y="4533526"/>
            <a:ext cx="5715001" cy="1628717"/>
            <a:chOff x="5128846" y="2365984"/>
            <a:chExt cx="5715001" cy="1628717"/>
          </a:xfrm>
        </p:grpSpPr>
        <p:grpSp>
          <p:nvGrpSpPr>
            <p:cNvPr id="24" name="组合 23"/>
            <p:cNvGrpSpPr/>
            <p:nvPr/>
          </p:nvGrpSpPr>
          <p:grpSpPr>
            <a:xfrm>
              <a:off x="5669551" y="2365984"/>
              <a:ext cx="5174296" cy="1628717"/>
              <a:chOff x="1633539" y="2560368"/>
              <a:chExt cx="5174296" cy="1628717"/>
            </a:xfrm>
          </p:grpSpPr>
          <p:sp>
            <p:nvSpPr>
              <p:cNvPr id="26" name="矩形 25"/>
              <p:cNvSpPr/>
              <p:nvPr/>
            </p:nvSpPr>
            <p:spPr>
              <a:xfrm>
                <a:off x="1666672" y="2560368"/>
                <a:ext cx="3684785" cy="369333"/>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数字技术创新与产业创新深度融合：</a:t>
                </a:r>
                <a:endParaRPr kumimoji="0" lang="zh-CN" altLang="en-US"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sp>
            <p:nvSpPr>
              <p:cNvPr id="27" name="矩形 26"/>
              <p:cNvSpPr/>
              <p:nvPr/>
            </p:nvSpPr>
            <p:spPr>
              <a:xfrm>
                <a:off x="1633539" y="2893730"/>
                <a:ext cx="5174296" cy="1295355"/>
              </a:xfrm>
              <a:prstGeom prst="rect">
                <a:avLst/>
              </a:prstGeom>
            </p:spPr>
            <p:txBody>
              <a:bodyPr wrap="square">
                <a:spAutoFit/>
              </a:bodyPr>
              <a:lstStyle/>
              <a:p>
                <a:pPr marR="0" lvl="0" indent="0" algn="just" fontAlgn="auto">
                  <a:lnSpc>
                    <a:spcPct val="125000"/>
                  </a:lnSpc>
                  <a:spcBef>
                    <a:spcPts val="0"/>
                  </a:spcBef>
                  <a:spcAft>
                    <a:spcPts val="0"/>
                  </a:spcAft>
                  <a:buClrTx/>
                  <a:buSzTx/>
                  <a:buFontTx/>
                  <a:buNone/>
                  <a:defRPr/>
                </a:pP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围绕信息通信、人工智能、集成电路等数字技术领域，已布局建设一批国家先进制造业集群，形成了覆盖基础层、框架层、模型层、应用层的完整“人工智能</a:t>
                </a:r>
                <a:r>
                  <a:rPr lang="en-US" altLang="zh-CN"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r>
                  <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产业体系。</a:t>
                </a:r>
                <a:endParaRPr lang="zh-CN" altLang="en-US" sz="16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5" name="椭圆 24"/>
            <p:cNvSpPr/>
            <p:nvPr/>
          </p:nvSpPr>
          <p:spPr>
            <a:xfrm>
              <a:off x="5128846" y="2605271"/>
              <a:ext cx="381000" cy="381000"/>
            </a:xfrm>
            <a:prstGeom prst="ellipse">
              <a:avLst/>
            </a:prstGeom>
            <a:gradFill flip="none" rotWithShape="1">
              <a:gsLst>
                <a:gs pos="44925">
                  <a:srgbClr val="306DDE"/>
                </a:gs>
                <a:gs pos="6000">
                  <a:srgbClr val="3981E2">
                    <a:alpha val="73000"/>
                  </a:srgbClr>
                </a:gs>
                <a:gs pos="81000">
                  <a:srgbClr val="285BDB"/>
                </a:gs>
              </a:gsLst>
              <a:lin ang="27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rPr>
                <a:t>3</a:t>
              </a:r>
              <a:endParaRPr lang="zh-CN" altLang="en-US" dirty="0">
                <a:latin typeface="思源黑体 CN Medium" panose="020B0600000000000000" pitchFamily="34" charset="-122"/>
                <a:ea typeface="思源黑体 CN Medium" panose="020B0600000000000000" pitchFamily="34" charset="-122"/>
                <a:cs typeface="阿里巴巴普惠体 B" panose="00020600040101010101" pitchFamily="18" charset="-122"/>
                <a:sym typeface="思源黑体 CN Medium" panose="020B0600000000000000" pitchFamily="34" charset="-122"/>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35253" y="4489465"/>
            <a:ext cx="4503821" cy="844157"/>
          </a:xfrm>
        </p:spPr>
        <p:txBody>
          <a:bodyPr>
            <a:normAutofit fontScale="92500" lnSpcReduction="10000"/>
          </a:bodyPr>
          <a:lstStyle/>
          <a:p>
            <a:pPr marL="0" indent="0" algn="just">
              <a:buNone/>
            </a:pPr>
            <a:r>
              <a:rPr lang="zh-CN" altLang="en-US" sz="2000" i="1" dirty="0"/>
              <a:t>截至</a:t>
            </a:r>
            <a:r>
              <a:rPr lang="en-US" altLang="zh-CN" sz="2000" i="1" dirty="0"/>
              <a:t>2024</a:t>
            </a:r>
            <a:r>
              <a:rPr lang="zh-CN" altLang="en-US" sz="2000" i="1" dirty="0"/>
              <a:t>年底，国家互联网信息办公室已完成对</a:t>
            </a:r>
            <a:r>
              <a:rPr lang="en-US" altLang="zh-CN" sz="2000" i="1" dirty="0"/>
              <a:t>302</a:t>
            </a:r>
            <a:r>
              <a:rPr lang="zh-CN" altLang="en-US" sz="2000" i="1" dirty="0"/>
              <a:t>款生成式人工智能服务的备案工作，其中</a:t>
            </a:r>
            <a:r>
              <a:rPr lang="en-US" altLang="zh-CN" sz="2000" i="1" dirty="0"/>
              <a:t>2024</a:t>
            </a:r>
            <a:r>
              <a:rPr lang="zh-CN" altLang="en-US" sz="2000" i="1" dirty="0"/>
              <a:t>年新增</a:t>
            </a:r>
            <a:r>
              <a:rPr lang="en-US" altLang="zh-CN" sz="2000" i="1" dirty="0"/>
              <a:t>238</a:t>
            </a:r>
            <a:r>
              <a:rPr lang="zh-CN" altLang="en-US" sz="2000" i="1" dirty="0"/>
              <a:t>款备案。</a:t>
            </a:r>
            <a:endParaRPr lang="zh-CN" altLang="en-US" sz="2000" i="1"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551329"/>
            <a:ext cx="7007192" cy="4012254"/>
          </a:xfrm>
          <a:prstGeom prst="rect">
            <a:avLst/>
          </a:prstGeom>
        </p:spPr>
      </p:pic>
      <p:sp>
        <p:nvSpPr>
          <p:cNvPr id="7" name="文本框 6"/>
          <p:cNvSpPr txBox="1"/>
          <p:nvPr/>
        </p:nvSpPr>
        <p:spPr>
          <a:xfrm>
            <a:off x="2535856" y="971097"/>
            <a:ext cx="6855594" cy="369332"/>
          </a:xfrm>
          <a:prstGeom prst="rect">
            <a:avLst/>
          </a:prstGeom>
          <a:noFill/>
        </p:spPr>
        <p:txBody>
          <a:bodyPr wrap="square">
            <a:spAutoFit/>
          </a:bodyPr>
          <a:lstStyle/>
          <a:p>
            <a:r>
              <a:rPr lang="zh-CN" altLang="en-US" dirty="0"/>
              <a:t>截至</a:t>
            </a:r>
            <a:r>
              <a:rPr lang="en-US" altLang="zh-CN" dirty="0"/>
              <a:t>2024</a:t>
            </a:r>
            <a:r>
              <a:rPr lang="zh-CN" altLang="en-US" dirty="0"/>
              <a:t>年底各地区（部门）生成式人工智能服务备案情况</a:t>
            </a:r>
            <a:endParaRPr lang="zh-CN" altLang="en-US" dirty="0"/>
          </a:p>
        </p:txBody>
      </p:sp>
      <p:sp>
        <p:nvSpPr>
          <p:cNvPr id="9" name="文本框 8"/>
          <p:cNvSpPr txBox="1"/>
          <p:nvPr/>
        </p:nvSpPr>
        <p:spPr>
          <a:xfrm>
            <a:off x="435008" y="5676003"/>
            <a:ext cx="3727383" cy="369332"/>
          </a:xfrm>
          <a:prstGeom prst="rect">
            <a:avLst/>
          </a:prstGeom>
          <a:noFill/>
        </p:spPr>
        <p:txBody>
          <a:bodyPr wrap="square">
            <a:spAutoFit/>
          </a:bodyPr>
          <a:lstStyle/>
          <a:p>
            <a:r>
              <a:rPr lang="zh-CN" altLang="en-US" dirty="0"/>
              <a:t>数据来源：国家互联网信息办公室</a:t>
            </a:r>
            <a:endParaRPr lang="zh-CN" altLang="en-US" dirty="0"/>
          </a:p>
        </p:txBody>
      </p:sp>
      <p:sp>
        <p:nvSpPr>
          <p:cNvPr id="6" name="文本框 5"/>
          <p:cNvSpPr txBox="1"/>
          <p:nvPr/>
        </p:nvSpPr>
        <p:spPr>
          <a:xfrm>
            <a:off x="7652084" y="1836110"/>
            <a:ext cx="4186990" cy="2031325"/>
          </a:xfrm>
          <a:prstGeom prst="rect">
            <a:avLst/>
          </a:prstGeom>
          <a:noFill/>
        </p:spPr>
        <p:txBody>
          <a:bodyPr wrap="square">
            <a:spAutoFit/>
          </a:bodyPr>
          <a:lstStyle/>
          <a:p>
            <a:pPr indent="457200" algn="just"/>
            <a:r>
              <a:rPr lang="zh-CN" altLang="en-US" b="1" dirty="0"/>
              <a:t>生成式人工智能服务：</a:t>
            </a:r>
            <a:r>
              <a:rPr lang="zh-CN" altLang="en-US" dirty="0"/>
              <a:t>生成式人工智能服务是一种基于人工智能技术，通过生成式模型（如Transformer架构、生成对抗网络GAN等）来生成文本、图像、音频、视频等内容的服务。它能够根据用户输入的提示（Prompt）或指令，自动生成具有一定逻辑和连贯性的新内容。</a:t>
            </a:r>
            <a:endParaRPr lang="zh-CN" altLang="en-US" dirty="0"/>
          </a:p>
        </p:txBody>
      </p:sp>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2"/>
            </p:custDataLst>
          </p:nvPr>
        </p:nvSpPr>
        <p:spPr>
          <a:xfrm>
            <a:off x="177739" y="17659"/>
            <a:ext cx="4942901"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数字技术创新</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数字技术创新</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鸿蒙系统</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 y="538359"/>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4384983"/>
          </a:xfrm>
          <a:prstGeom prst="rect">
            <a:avLst/>
          </a:prstGeom>
          <a:noFill/>
        </p:spPr>
        <p:txBody>
          <a:bodyPr wrap="square">
            <a:spAutoFit/>
          </a:bodyPr>
          <a:lstStyle/>
          <a:p>
            <a:pPr marL="457200" lvl="2" algn="just">
              <a:lnSpc>
                <a:spcPct val="130000"/>
              </a:lnSpc>
            </a:pPr>
            <a:r>
              <a:rPr lang="zh-CN" altLang="en-US" b="1" dirty="0">
                <a:latin typeface="思源黑体 CN Normal"/>
              </a:rPr>
              <a:t>鸿蒙系统对我国数字经济的技术与产业影响</a:t>
            </a:r>
            <a:endParaRPr lang="en-US" altLang="zh-CN" b="1" dirty="0">
              <a:latin typeface="思源黑体 CN Normal"/>
            </a:endParaRPr>
          </a:p>
          <a:p>
            <a:pPr marL="742950" lvl="2" indent="-285750" algn="just">
              <a:lnSpc>
                <a:spcPct val="130000"/>
              </a:lnSpc>
              <a:buFont typeface="Arial" panose="020B0604020202020204" pitchFamily="34" charset="0"/>
              <a:buChar char="•"/>
            </a:pPr>
            <a:r>
              <a:rPr lang="zh-CN" altLang="en-US" dirty="0">
                <a:latin typeface="思源黑体 CN Normal"/>
              </a:rPr>
              <a:t>技术创新与自主可控</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打破国外技术垄断：鸿蒙系统实现全链条自主研发，打破国外操作系统垄断，为数字经济筑牢技术根基。</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推动技术升级：分布式技术等创新特性为信息技术产业升级提供新方向，助力万物互联。</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产业生态与经济发展</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构建自主可控的应用生态：鸿蒙系统构建自主应用生态，吸引开发者和合作伙伴，形成产业循环，推动信息技术产业发展。</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带动相关产业发展：鸿蒙系统推广带动芯片、软件、应用开发等产业创新升级，促进软件技术发展。</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促进数字经济产业融合：助力传统行业数字化转型，推动数字经济与实体经济深度融合，提升产业竞争力。</a:t>
            </a:r>
            <a:endParaRPr lang="zh-CN" altLang="en-US" dirty="0">
              <a:latin typeface="思源黑体 CN Norm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数字技术创新</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鸿蒙系统</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4024884"/>
          </a:xfrm>
          <a:prstGeom prst="rect">
            <a:avLst/>
          </a:prstGeom>
          <a:noFill/>
        </p:spPr>
        <p:txBody>
          <a:bodyPr wrap="square">
            <a:spAutoFit/>
          </a:bodyPr>
          <a:lstStyle/>
          <a:p>
            <a:pPr algn="just">
              <a:lnSpc>
                <a:spcPct val="130000"/>
              </a:lnSpc>
            </a:pPr>
            <a:r>
              <a:rPr lang="zh-CN" altLang="en-US" b="1" dirty="0"/>
              <a:t>鸿蒙系统对我国数字经济的安全与效率影响</a:t>
            </a:r>
            <a:endParaRPr lang="en-US" altLang="zh-CN" b="1"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数据安全与隐私保护</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提升数据安全性：鸿蒙系统采用星盾安全架构，全方位重构安全秩序，为数据和隐私提供坚实保障。</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保障信息安全：在政企办公领域，鸿蒙系统保障重要信息流通与管理安全，确保数据安全和隐私保护。</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提升生产效率与用户体验</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提高生产协作效率：鸿蒙系统的多设备联动和全场景协同能力，为政企机构提供高效生产协作模式。</a:t>
            </a:r>
            <a:endParaRPr lang="zh-CN" altLang="en-US" dirty="0">
              <a:latin typeface="思源黑体 CN Normal"/>
            </a:endParaRPr>
          </a:p>
          <a:p>
            <a:pPr marL="742950" lvl="1" indent="-285750" algn="just">
              <a:lnSpc>
                <a:spcPct val="130000"/>
              </a:lnSpc>
              <a:buFont typeface="Arial" panose="020B0604020202020204" pitchFamily="34" charset="0"/>
              <a:buChar char="•"/>
            </a:pPr>
            <a:r>
              <a:rPr lang="en-US" altLang="zh-CN" dirty="0">
                <a:latin typeface="思源黑体 CN Normal"/>
              </a:rPr>
              <a:t> </a:t>
            </a:r>
            <a:r>
              <a:rPr lang="zh-CN" altLang="en-US" dirty="0">
                <a:latin typeface="思源黑体 CN Normal"/>
              </a:rPr>
              <a:t>优化用户体验：鸿蒙系统在</a:t>
            </a:r>
            <a:r>
              <a:rPr lang="en-US" altLang="zh-CN" dirty="0">
                <a:latin typeface="思源黑体 CN Normal"/>
              </a:rPr>
              <a:t>AI</a:t>
            </a:r>
            <a:r>
              <a:rPr lang="zh-CN" altLang="en-US" dirty="0">
                <a:latin typeface="思源黑体 CN Normal"/>
              </a:rPr>
              <a:t>交互方面实现突破，为用户提供智能便捷的交互体验，提升用户满意度。</a:t>
            </a:r>
            <a:endParaRPr lang="zh-CN" altLang="en-US" dirty="0">
              <a:latin typeface="思源黑体 CN Norm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数字技术创新</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鸿蒙系统</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5215723"/>
          </a:xfrm>
          <a:prstGeom prst="rect">
            <a:avLst/>
          </a:prstGeom>
          <a:noFill/>
        </p:spPr>
        <p:txBody>
          <a:bodyPr wrap="square">
            <a:spAutoFit/>
          </a:bodyPr>
          <a:lstStyle/>
          <a:p>
            <a:pPr algn="just">
              <a:lnSpc>
                <a:spcPct val="130000"/>
              </a:lnSpc>
            </a:pPr>
            <a:r>
              <a:rPr lang="zh-CN" altLang="en-US" b="1" dirty="0"/>
              <a:t>鸿蒙系统对我国数字经济的人才与国际影响</a:t>
            </a:r>
            <a:endParaRPr lang="en-US" altLang="zh-CN" b="1" dirty="0">
              <a:latin typeface="思源黑体 CN Normal"/>
            </a:endParaRPr>
          </a:p>
          <a:p>
            <a:pPr lvl="1" algn="just">
              <a:lnSpc>
                <a:spcPct val="130000"/>
              </a:lnSpc>
            </a:pPr>
            <a:r>
              <a:rPr lang="en-US" altLang="zh-CN" sz="2400" dirty="0">
                <a:latin typeface="思源黑体 CN Normal"/>
              </a:rPr>
              <a:t>  </a:t>
            </a:r>
            <a:r>
              <a:rPr lang="zh-CN" altLang="en-US" sz="2400" dirty="0">
                <a:latin typeface="思源黑体 CN Normal"/>
              </a:rPr>
              <a:t>就业与人才培养</a:t>
            </a:r>
            <a:endParaRPr lang="zh-CN" altLang="en-US" sz="2400" dirty="0">
              <a:latin typeface="思源黑体 CN Normal"/>
            </a:endParaRPr>
          </a:p>
          <a:p>
            <a:pPr marL="1200150" lvl="2" indent="-285750" algn="just">
              <a:lnSpc>
                <a:spcPct val="130000"/>
              </a:lnSpc>
              <a:buFont typeface="Arial" panose="020B0604020202020204" pitchFamily="34" charset="0"/>
              <a:buChar char="•"/>
            </a:pPr>
            <a:r>
              <a:rPr lang="en-US" altLang="zh-CN" sz="2400" dirty="0">
                <a:latin typeface="思源黑体 CN Normal"/>
              </a:rPr>
              <a:t> </a:t>
            </a:r>
            <a:r>
              <a:rPr lang="zh-CN" altLang="en-US" sz="2400" dirty="0">
                <a:latin typeface="思源黑体 CN Normal"/>
              </a:rPr>
              <a:t>创造就业机会：鸿蒙系统发展带动相关产业繁荣，创造大量就业机会，为就业市场注入活力。</a:t>
            </a:r>
            <a:endParaRPr lang="zh-CN" altLang="en-US" sz="2400" dirty="0">
              <a:latin typeface="思源黑体 CN Normal"/>
            </a:endParaRPr>
          </a:p>
          <a:p>
            <a:pPr marL="1200150" lvl="2" indent="-285750" algn="just">
              <a:lnSpc>
                <a:spcPct val="130000"/>
              </a:lnSpc>
              <a:buFont typeface="Arial" panose="020B0604020202020204" pitchFamily="34" charset="0"/>
              <a:buChar char="•"/>
            </a:pPr>
            <a:r>
              <a:rPr lang="en-US" altLang="zh-CN" sz="2400" dirty="0">
                <a:latin typeface="思源黑体 CN Normal"/>
              </a:rPr>
              <a:t> </a:t>
            </a:r>
            <a:r>
              <a:rPr lang="zh-CN" altLang="en-US" sz="2400" dirty="0">
                <a:latin typeface="思源黑体 CN Normal"/>
              </a:rPr>
              <a:t>推动人才培养：高校和培训机构开设相关课程和培训项目，推动人才培养，为数字经济提供人才支撑。</a:t>
            </a:r>
            <a:endParaRPr lang="zh-CN" altLang="en-US" sz="2400" dirty="0">
              <a:latin typeface="思源黑体 CN Normal"/>
            </a:endParaRPr>
          </a:p>
          <a:p>
            <a:pPr lvl="1" algn="just">
              <a:lnSpc>
                <a:spcPct val="130000"/>
              </a:lnSpc>
            </a:pPr>
            <a:r>
              <a:rPr lang="en-US" altLang="zh-CN" sz="2400" dirty="0">
                <a:latin typeface="思源黑体 CN Normal"/>
              </a:rPr>
              <a:t> </a:t>
            </a:r>
            <a:r>
              <a:rPr lang="zh-CN" altLang="en-US" sz="2400" dirty="0">
                <a:latin typeface="思源黑体 CN Normal"/>
              </a:rPr>
              <a:t>国际竞争力与话语权</a:t>
            </a:r>
            <a:endParaRPr lang="en-US" altLang="zh-CN" sz="2400" dirty="0">
              <a:latin typeface="思源黑体 CN Normal"/>
            </a:endParaRPr>
          </a:p>
          <a:p>
            <a:pPr marL="1200150" lvl="2" indent="-285750" algn="just">
              <a:lnSpc>
                <a:spcPct val="130000"/>
              </a:lnSpc>
              <a:buFont typeface="Arial" panose="020B0604020202020204" pitchFamily="34" charset="0"/>
              <a:buChar char="•"/>
            </a:pPr>
            <a:r>
              <a:rPr lang="en-US" altLang="zh-CN" sz="2400" dirty="0">
                <a:latin typeface="思源黑体 CN Normal"/>
              </a:rPr>
              <a:t> </a:t>
            </a:r>
            <a:r>
              <a:rPr lang="zh-CN" altLang="en-US" sz="2400" dirty="0">
                <a:latin typeface="思源黑体 CN Normal"/>
              </a:rPr>
              <a:t>增强国际竞争力：鸿蒙系统提升我国全球信息技术领域竞争力，作为全球第三大移动操作系统，扩大全球市场份额。</a:t>
            </a:r>
            <a:endParaRPr lang="en-US" altLang="zh-CN" sz="2400" dirty="0">
              <a:latin typeface="思源黑体 CN Normal"/>
            </a:endParaRPr>
          </a:p>
          <a:p>
            <a:pPr marL="1200150" lvl="2" indent="-285750" algn="just">
              <a:lnSpc>
                <a:spcPct val="130000"/>
              </a:lnSpc>
              <a:buFont typeface="Arial" panose="020B0604020202020204" pitchFamily="34" charset="0"/>
              <a:buChar char="•"/>
            </a:pPr>
            <a:r>
              <a:rPr lang="en-US" altLang="zh-CN" sz="2400" dirty="0">
                <a:latin typeface="思源黑体 CN Normal"/>
              </a:rPr>
              <a:t> </a:t>
            </a:r>
            <a:r>
              <a:rPr lang="zh-CN" altLang="en-US" sz="2400" dirty="0">
                <a:latin typeface="思源黑体 CN Normal"/>
              </a:rPr>
              <a:t>提升国际话语权：鸿蒙系统发展增强我国国际数字经济规则制定话语权，推动全球数字经济健康发展。</a:t>
            </a:r>
            <a:endParaRPr lang="zh-CN" altLang="en-US" sz="2400" dirty="0">
              <a:latin typeface="思源黑体 CN Norm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598604" y="-1"/>
            <a:ext cx="10957756" cy="685800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672840" y="866713"/>
            <a:ext cx="6097604" cy="369332"/>
          </a:xfrm>
          <a:prstGeom prst="rect">
            <a:avLst/>
          </a:prstGeom>
          <a:noFill/>
        </p:spPr>
        <p:txBody>
          <a:bodyPr wrap="square">
            <a:spAutoFit/>
          </a:bodyPr>
          <a:lstStyle/>
          <a:p>
            <a:r>
              <a:rPr lang="en-US" altLang="zh-CN" sz="1800" b="0" i="0" u="none" strike="noStrike" baseline="0" dirty="0">
                <a:latin typeface="TimesNewRomanPSMT"/>
              </a:rPr>
              <a:t>2020</a:t>
            </a:r>
            <a:r>
              <a:rPr lang="zh-CN" altLang="en-US" sz="1800" b="0" i="0" u="none" strike="noStrike" baseline="0" dirty="0">
                <a:latin typeface="FZHTK--GBK1-0"/>
              </a:rPr>
              <a:t>年</a:t>
            </a:r>
            <a:r>
              <a:rPr lang="en-US" altLang="zh-CN" sz="1800" b="0" i="0" u="none" strike="noStrike" baseline="0" dirty="0">
                <a:latin typeface="FZHTK--GBK1-0"/>
              </a:rPr>
              <a:t>—</a:t>
            </a:r>
            <a:r>
              <a:rPr lang="en-US" altLang="zh-CN" sz="1800" b="0" i="0" u="none" strike="noStrike" baseline="0" dirty="0">
                <a:latin typeface="TimesNewRomanPSMT"/>
              </a:rPr>
              <a:t>2024</a:t>
            </a:r>
            <a:r>
              <a:rPr lang="zh-CN" altLang="en-US" sz="1800" b="0" i="0" u="none" strike="noStrike" baseline="0" dirty="0">
                <a:latin typeface="FZHTK--GBK1-0"/>
              </a:rPr>
              <a:t>年我国集成电路产量</a:t>
            </a:r>
            <a:endParaRPr lang="zh-CN" altLang="en-US" dirty="0"/>
          </a:p>
        </p:txBody>
      </p:sp>
      <p:pic>
        <p:nvPicPr>
          <p:cNvPr id="5"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54441" y="1546904"/>
            <a:ext cx="7491665" cy="4289658"/>
          </a:xfrm>
          <a:prstGeom prst="rect">
            <a:avLst/>
          </a:prstGeom>
        </p:spPr>
      </p:pic>
      <p:sp>
        <p:nvSpPr>
          <p:cNvPr id="6" name="文本框 5"/>
          <p:cNvSpPr txBox="1"/>
          <p:nvPr/>
        </p:nvSpPr>
        <p:spPr>
          <a:xfrm>
            <a:off x="3407344" y="6088949"/>
            <a:ext cx="6291713" cy="369332"/>
          </a:xfrm>
          <a:prstGeom prst="rect">
            <a:avLst/>
          </a:prstGeom>
          <a:noFill/>
        </p:spPr>
        <p:txBody>
          <a:bodyPr wrap="square">
            <a:spAutoFit/>
          </a:bodyPr>
          <a:lstStyle/>
          <a:p>
            <a:r>
              <a:rPr lang="en-US" altLang="zh-CN" sz="1800" b="0" i="0" u="none" strike="noStrike" baseline="0" dirty="0">
                <a:latin typeface="TimesNewRomanPSMT"/>
              </a:rPr>
              <a:t>2024 </a:t>
            </a:r>
            <a:r>
              <a:rPr lang="zh-CN" altLang="en-US" sz="1800" b="0" i="0" u="none" strike="noStrike" baseline="0" dirty="0">
                <a:latin typeface="FZFSK--GBK1-0"/>
              </a:rPr>
              <a:t>年，集成电路产量为</a:t>
            </a:r>
            <a:r>
              <a:rPr lang="en-US" altLang="zh-CN" sz="1800" b="0" i="0" u="none" strike="noStrike" baseline="0" dirty="0">
                <a:latin typeface="TimesNewRomanPSMT"/>
              </a:rPr>
              <a:t>4514.2 </a:t>
            </a:r>
            <a:r>
              <a:rPr lang="zh-CN" altLang="en-US" sz="1800" b="0" i="0" u="none" strike="noStrike" baseline="0" dirty="0">
                <a:latin typeface="FZFSK--GBK1-0"/>
              </a:rPr>
              <a:t>亿块，同</a:t>
            </a:r>
            <a:r>
              <a:rPr lang="zh-CN" altLang="en-US" sz="1800" dirty="0"/>
              <a:t>比</a:t>
            </a:r>
            <a:r>
              <a:rPr lang="zh-CN" altLang="en-US" dirty="0"/>
              <a:t>增速超过</a:t>
            </a:r>
            <a:r>
              <a:rPr lang="en-US" altLang="zh-CN" dirty="0"/>
              <a:t>20%</a:t>
            </a:r>
            <a:r>
              <a:rPr lang="zh-CN" altLang="en-US" dirty="0"/>
              <a:t>。</a:t>
            </a:r>
            <a:endParaRPr lang="zh-CN" altLang="en-US" dirty="0"/>
          </a:p>
        </p:txBody>
      </p:sp>
      <p:sp>
        <p:nvSpPr>
          <p:cNvPr id="7" name="矩形 6"/>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MG-文本框 11"/>
          <p:cNvSpPr txBox="1"/>
          <p:nvPr>
            <p:custDataLst>
              <p:tags r:id="rId2"/>
            </p:custDataLst>
          </p:nvPr>
        </p:nvSpPr>
        <p:spPr>
          <a:xfrm>
            <a:off x="177739" y="17659"/>
            <a:ext cx="4942901"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数字技术创新</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0" name="组合 9"/>
          <p:cNvGrpSpPr/>
          <p:nvPr/>
        </p:nvGrpSpPr>
        <p:grpSpPr>
          <a:xfrm>
            <a:off x="10605916" y="-6858"/>
            <a:ext cx="1586085" cy="528405"/>
            <a:chOff x="10605916" y="5727392"/>
            <a:chExt cx="1586085" cy="528405"/>
          </a:xfrm>
        </p:grpSpPr>
        <p:sp>
          <p:nvSpPr>
            <p:cNvPr id="11" name="矩形 10"/>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2" name="文本框 11"/>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数字技术创新</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4421660"/>
          </a:xfrm>
          <a:prstGeom prst="rect">
            <a:avLst/>
          </a:prstGeom>
          <a:noFill/>
        </p:spPr>
        <p:txBody>
          <a:bodyPr wrap="square">
            <a:spAutoFit/>
          </a:bodyPr>
          <a:lstStyle/>
          <a:p>
            <a:pPr indent="457200" algn="just">
              <a:lnSpc>
                <a:spcPct val="200000"/>
              </a:lnSpc>
            </a:pPr>
            <a:r>
              <a:rPr lang="en-US" altLang="zh-CN" sz="2400" dirty="0"/>
              <a:t>2024</a:t>
            </a:r>
            <a:r>
              <a:rPr lang="zh-CN" altLang="en-US" sz="2400" dirty="0"/>
              <a:t>年中国集成电路产量：</a:t>
            </a:r>
            <a:r>
              <a:rPr lang="en-US" altLang="zh-CN" sz="2400" dirty="0"/>
              <a:t>4514.2</a:t>
            </a:r>
            <a:r>
              <a:rPr lang="zh-CN" altLang="en-US" sz="2400" dirty="0"/>
              <a:t>亿块</a:t>
            </a:r>
            <a:endParaRPr lang="en-US" altLang="zh-CN" sz="2400" dirty="0"/>
          </a:p>
          <a:p>
            <a:pPr indent="457200" algn="just">
              <a:lnSpc>
                <a:spcPct val="200000"/>
              </a:lnSpc>
            </a:pPr>
            <a:r>
              <a:rPr lang="en-US" altLang="zh-CN" sz="2400" dirty="0"/>
              <a:t> 2024</a:t>
            </a:r>
            <a:r>
              <a:rPr lang="zh-CN" altLang="en-US" sz="2400" dirty="0"/>
              <a:t>年全球集成电路市场规模：</a:t>
            </a:r>
            <a:r>
              <a:rPr lang="en-US" altLang="zh-CN" sz="2400" dirty="0"/>
              <a:t>6955.2</a:t>
            </a:r>
            <a:r>
              <a:rPr lang="zh-CN" altLang="en-US" sz="2400" dirty="0"/>
              <a:t>亿美元</a:t>
            </a:r>
            <a:endParaRPr lang="en-US" altLang="zh-CN" sz="2400" dirty="0"/>
          </a:p>
          <a:p>
            <a:pPr indent="457200" algn="just">
              <a:lnSpc>
                <a:spcPct val="200000"/>
              </a:lnSpc>
            </a:pPr>
            <a:r>
              <a:rPr lang="zh-CN" altLang="en-US" sz="2400" dirty="0"/>
              <a:t>中国集成电路产量在全球产量中的占比：假设为</a:t>
            </a:r>
            <a:r>
              <a:rPr lang="en-US" altLang="zh-CN" sz="2400" dirty="0"/>
              <a:t>30%,</a:t>
            </a:r>
            <a:r>
              <a:rPr lang="zh-CN" altLang="en-US" sz="2400" dirty="0"/>
              <a:t>那么，中国集成电路产量的价值可以估算为：中国集成电路产量价值 </a:t>
            </a:r>
            <a:r>
              <a:rPr lang="en-US" altLang="zh-CN" sz="2400" dirty="0"/>
              <a:t>= 2086.56 </a:t>
            </a:r>
            <a:r>
              <a:rPr lang="zh-CN" altLang="en-US" sz="2400" dirty="0"/>
              <a:t>亿美元</a:t>
            </a:r>
            <a:r>
              <a:rPr lang="en-US" altLang="zh-CN" sz="2400" dirty="0"/>
              <a:t>.</a:t>
            </a:r>
            <a:endParaRPr lang="en-US" altLang="zh-CN" sz="2400" dirty="0"/>
          </a:p>
          <a:p>
            <a:pPr indent="457200" algn="just">
              <a:lnSpc>
                <a:spcPct val="200000"/>
              </a:lnSpc>
            </a:pPr>
            <a:r>
              <a:rPr lang="zh-CN" altLang="en-US" sz="2400" dirty="0"/>
              <a:t>假设中国集成电路产量占全球产量的</a:t>
            </a:r>
            <a:r>
              <a:rPr lang="en-US" altLang="zh-CN" sz="2400" dirty="0"/>
              <a:t>30%</a:t>
            </a:r>
            <a:r>
              <a:rPr lang="zh-CN" altLang="en-US" sz="2400" dirty="0"/>
              <a:t>，那么中国集成电路产量的价值为：中国集成电路产量价值</a:t>
            </a:r>
            <a:r>
              <a:rPr lang="en-US" altLang="zh-CN" sz="2400" dirty="0"/>
              <a:t> = 6955.2 \ 0.3 = 2086.56 </a:t>
            </a:r>
            <a:r>
              <a:rPr lang="zh-CN" altLang="en-US" sz="2400" dirty="0"/>
              <a:t>亿美元。</a:t>
            </a:r>
            <a:endParaRPr lang="zh-CN" altLang="en-US" sz="2400" dirty="0">
              <a:latin typeface="思源黑体 CN Norm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数据要素市场</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438150" y="1098367"/>
            <a:ext cx="11239500" cy="4315861"/>
          </a:xfrm>
          <a:prstGeom prst="rect">
            <a:avLst/>
          </a:prstGeom>
          <a:noFill/>
        </p:spPr>
        <p:txBody>
          <a:bodyPr wrap="square">
            <a:spAutoFit/>
          </a:bodyPr>
          <a:lstStyle/>
          <a:p>
            <a:pPr indent="457200" algn="just">
              <a:lnSpc>
                <a:spcPct val="200000"/>
              </a:lnSpc>
            </a:pPr>
            <a:r>
              <a:rPr lang="zh-CN" altLang="en-US" sz="2000" b="1" dirty="0"/>
              <a:t> </a:t>
            </a:r>
            <a:r>
              <a:rPr lang="zh-CN" altLang="en-US" sz="2000" b="1" dirty="0">
                <a:solidFill>
                  <a:srgbClr val="C00000"/>
                </a:solidFill>
              </a:rPr>
              <a:t>数据基础制度密集出台：</a:t>
            </a:r>
            <a:r>
              <a:rPr lang="en-US" altLang="zh-CN" sz="2000" dirty="0"/>
              <a:t>2024</a:t>
            </a:r>
            <a:r>
              <a:rPr lang="zh-CN" altLang="en-US" sz="2000" dirty="0"/>
              <a:t>年，各部门共出台</a:t>
            </a:r>
            <a:r>
              <a:rPr lang="en-US" altLang="zh-CN" sz="2000" dirty="0"/>
              <a:t>21</a:t>
            </a:r>
            <a:r>
              <a:rPr lang="zh-CN" altLang="en-US" sz="2000" dirty="0"/>
              <a:t>份政策文件，数据基础制度的“四梁八柱”更加稳固，为数据要素市场化配置改革提供政策支持。</a:t>
            </a:r>
            <a:endParaRPr lang="zh-CN" altLang="en-US" sz="2000" dirty="0"/>
          </a:p>
          <a:p>
            <a:pPr indent="457200" algn="just">
              <a:lnSpc>
                <a:spcPct val="200000"/>
              </a:lnSpc>
            </a:pPr>
            <a:r>
              <a:rPr lang="zh-CN" altLang="en-US" sz="2000" dirty="0">
                <a:solidFill>
                  <a:srgbClr val="C00000"/>
                </a:solidFill>
              </a:rPr>
              <a:t> </a:t>
            </a:r>
            <a:r>
              <a:rPr lang="zh-CN" altLang="en-US" sz="2000" b="1" dirty="0">
                <a:solidFill>
                  <a:srgbClr val="C00000"/>
                </a:solidFill>
              </a:rPr>
              <a:t>数据资源产量、流量、质量“三量”齐升：</a:t>
            </a:r>
            <a:r>
              <a:rPr lang="en-US" altLang="zh-CN" sz="2000" dirty="0"/>
              <a:t>2024</a:t>
            </a:r>
            <a:r>
              <a:rPr lang="zh-CN" altLang="en-US" sz="2000" dirty="0"/>
              <a:t>年我国数据生产量达</a:t>
            </a:r>
            <a:r>
              <a:rPr lang="en-US" altLang="zh-CN" sz="2000" dirty="0"/>
              <a:t>41.06</a:t>
            </a:r>
            <a:r>
              <a:rPr lang="zh-CN" altLang="en-US" sz="2000" dirty="0"/>
              <a:t>泽字节</a:t>
            </a:r>
            <a:r>
              <a:rPr lang="en-US" altLang="zh-CN" sz="2000" dirty="0"/>
              <a:t>(ZB)</a:t>
            </a:r>
            <a:r>
              <a:rPr lang="zh-CN" altLang="en-US" sz="2000" dirty="0"/>
              <a:t>，同比增长</a:t>
            </a:r>
            <a:r>
              <a:rPr lang="en-US" altLang="zh-CN" sz="2000" dirty="0"/>
              <a:t>25%</a:t>
            </a:r>
            <a:r>
              <a:rPr lang="zh-CN" altLang="en-US" sz="2000" dirty="0"/>
              <a:t>；移动互联网接入总流量、固定互联网宽带接入流量均持续增长，高质量数据集建设不断提速提质。</a:t>
            </a:r>
            <a:endParaRPr lang="zh-CN" altLang="en-US" sz="2000" dirty="0"/>
          </a:p>
          <a:p>
            <a:pPr indent="457200" algn="just">
              <a:lnSpc>
                <a:spcPct val="200000"/>
              </a:lnSpc>
            </a:pPr>
            <a:r>
              <a:rPr lang="zh-CN" altLang="en-US" sz="2000" dirty="0">
                <a:solidFill>
                  <a:srgbClr val="C00000"/>
                </a:solidFill>
              </a:rPr>
              <a:t> </a:t>
            </a:r>
            <a:r>
              <a:rPr lang="zh-CN" altLang="en-US" sz="2000" b="1" dirty="0">
                <a:solidFill>
                  <a:srgbClr val="C00000"/>
                </a:solidFill>
              </a:rPr>
              <a:t>数据要素市场化配置改革加快：</a:t>
            </a:r>
            <a:r>
              <a:rPr lang="zh-CN" altLang="en-US" sz="2000" dirty="0"/>
              <a:t>国家数据局加强顶层设计，细化数据持有权、使用权、经营权，构建数据流通交易体系，探索数据安全新型治理机制。</a:t>
            </a:r>
            <a:endParaRPr lang="zh-CN" alt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宽带互联网接入量</a:t>
            </a: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25296" y="1371600"/>
            <a:ext cx="9461754" cy="3675020"/>
          </a:xfrm>
        </p:spPr>
      </p:pic>
      <p:sp>
        <p:nvSpPr>
          <p:cNvPr id="7" name="文本框 6"/>
          <p:cNvSpPr txBox="1"/>
          <p:nvPr/>
        </p:nvSpPr>
        <p:spPr>
          <a:xfrm>
            <a:off x="1045326" y="5220084"/>
            <a:ext cx="6028805" cy="646331"/>
          </a:xfrm>
          <a:prstGeom prst="rect">
            <a:avLst/>
          </a:prstGeom>
          <a:noFill/>
        </p:spPr>
        <p:txBody>
          <a:bodyPr wrap="square">
            <a:spAutoFit/>
          </a:bodyPr>
          <a:lstStyle/>
          <a:p>
            <a:r>
              <a:rPr lang="en-US" altLang="zh-CN" dirty="0"/>
              <a:t>2021 </a:t>
            </a:r>
            <a:r>
              <a:rPr lang="zh-CN" altLang="en-US" dirty="0"/>
              <a:t>年</a:t>
            </a:r>
            <a:r>
              <a:rPr lang="en-US" altLang="zh-CN" dirty="0"/>
              <a:t>—2024 </a:t>
            </a:r>
            <a:r>
              <a:rPr lang="zh-CN" altLang="en-US" dirty="0"/>
              <a:t>年移动互联网接入流量、固定互联网宽带接入流量和月户均移动互联网接入流量（</a:t>
            </a:r>
            <a:r>
              <a:rPr lang="en-US" altLang="zh-CN" dirty="0"/>
              <a:t>DOU</a:t>
            </a:r>
            <a:r>
              <a:rPr lang="zh-CN" altLang="en-US" dirty="0"/>
              <a:t>）</a:t>
            </a:r>
            <a:endParaRPr lang="zh-CN" altLang="en-US" dirty="0"/>
          </a:p>
        </p:txBody>
      </p:sp>
      <p:sp>
        <p:nvSpPr>
          <p:cNvPr id="9" name="文本框 8"/>
          <p:cNvSpPr txBox="1"/>
          <p:nvPr/>
        </p:nvSpPr>
        <p:spPr>
          <a:xfrm>
            <a:off x="7928956" y="5771403"/>
            <a:ext cx="3424844" cy="369332"/>
          </a:xfrm>
          <a:prstGeom prst="rect">
            <a:avLst/>
          </a:prstGeom>
          <a:noFill/>
        </p:spPr>
        <p:txBody>
          <a:bodyPr wrap="square">
            <a:spAutoFit/>
          </a:bodyPr>
          <a:lstStyle/>
          <a:p>
            <a:r>
              <a:rPr lang="zh-CN" altLang="en-US" dirty="0"/>
              <a:t>数据来源：工业和信息化部</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接入他国（国际）宽带规模</a:t>
            </a: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25296" y="1409700"/>
            <a:ext cx="9385554" cy="3706492"/>
          </a:xfrm>
        </p:spPr>
      </p:pic>
      <p:sp>
        <p:nvSpPr>
          <p:cNvPr id="7" name="文本框 6"/>
          <p:cNvSpPr txBox="1"/>
          <p:nvPr/>
        </p:nvSpPr>
        <p:spPr>
          <a:xfrm>
            <a:off x="1294708" y="5280952"/>
            <a:ext cx="6097384" cy="369332"/>
          </a:xfrm>
          <a:prstGeom prst="rect">
            <a:avLst/>
          </a:prstGeom>
          <a:noFill/>
        </p:spPr>
        <p:txBody>
          <a:bodyPr wrap="square">
            <a:spAutoFit/>
          </a:bodyPr>
          <a:lstStyle/>
          <a:p>
            <a:r>
              <a:rPr lang="en-US" altLang="zh-CN" dirty="0"/>
              <a:t>2021 </a:t>
            </a:r>
            <a:r>
              <a:rPr lang="zh-CN" altLang="en-US" dirty="0"/>
              <a:t>年</a:t>
            </a:r>
            <a:r>
              <a:rPr lang="en-US" altLang="zh-CN" dirty="0"/>
              <a:t>—2024 </a:t>
            </a:r>
            <a:r>
              <a:rPr lang="zh-CN" altLang="en-US" dirty="0"/>
              <a:t>年我国通往其他国家的国际带宽规模</a:t>
            </a:r>
            <a:endParaRPr lang="zh-CN" altLang="en-US" dirty="0"/>
          </a:p>
        </p:txBody>
      </p:sp>
      <p:sp>
        <p:nvSpPr>
          <p:cNvPr id="9" name="文本框 8"/>
          <p:cNvSpPr txBox="1"/>
          <p:nvPr/>
        </p:nvSpPr>
        <p:spPr>
          <a:xfrm>
            <a:off x="7326283" y="5815044"/>
            <a:ext cx="3746269" cy="369332"/>
          </a:xfrm>
          <a:prstGeom prst="rect">
            <a:avLst/>
          </a:prstGeom>
          <a:noFill/>
        </p:spPr>
        <p:txBody>
          <a:bodyPr wrap="square">
            <a:spAutoFit/>
          </a:bodyPr>
          <a:lstStyle/>
          <a:p>
            <a:r>
              <a:rPr lang="zh-CN" altLang="en-US" dirty="0"/>
              <a:t>数据来源：</a:t>
            </a:r>
            <a:r>
              <a:rPr lang="en-US" altLang="zh-CN" dirty="0" err="1"/>
              <a:t>TeleGeography</a:t>
            </a:r>
            <a:r>
              <a:rPr lang="en-US" altLang="zh-CN" dirty="0"/>
              <a:t> </a:t>
            </a:r>
            <a:r>
              <a:rPr lang="zh-CN" altLang="en-US" dirty="0"/>
              <a:t>数据库</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产业数字化转型</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4662110"/>
          </a:xfrm>
          <a:prstGeom prst="rect">
            <a:avLst/>
          </a:prstGeom>
          <a:noFill/>
        </p:spPr>
        <p:txBody>
          <a:bodyPr wrap="square">
            <a:spAutoFit/>
          </a:bodyPr>
          <a:lstStyle/>
          <a:p>
            <a:pPr indent="457200" algn="just">
              <a:lnSpc>
                <a:spcPct val="150000"/>
              </a:lnSpc>
            </a:pPr>
            <a:r>
              <a:rPr lang="zh-CN" altLang="en-US" sz="2000" b="1" dirty="0">
                <a:solidFill>
                  <a:srgbClr val="C00000"/>
                </a:solidFill>
              </a:rPr>
              <a:t>工业数字化转型再提速：</a:t>
            </a:r>
            <a:r>
              <a:rPr lang="zh-CN" altLang="en-US" sz="2000" dirty="0"/>
              <a:t>积极开展中小企业数字化转型城市试点行动，遴选两批</a:t>
            </a:r>
            <a:r>
              <a:rPr lang="en-US" altLang="zh-CN" sz="2000" dirty="0"/>
              <a:t>66</a:t>
            </a:r>
            <a:r>
              <a:rPr lang="zh-CN" altLang="en-US" sz="2000" dirty="0"/>
              <a:t>个试点城市，推动</a:t>
            </a:r>
            <a:r>
              <a:rPr lang="en-US" altLang="zh-CN" sz="2000" dirty="0"/>
              <a:t>3</a:t>
            </a:r>
            <a:r>
              <a:rPr lang="zh-CN" altLang="en-US" sz="2000" dirty="0"/>
              <a:t>万家中小企业开展数字化改造，重点规模以上工业企业数字化研发设计工具普及率和关键工序数控化率持续提升。</a:t>
            </a:r>
            <a:endParaRPr lang="zh-CN" altLang="en-US" sz="2000" dirty="0"/>
          </a:p>
          <a:p>
            <a:pPr indent="457200" algn="just">
              <a:lnSpc>
                <a:spcPct val="150000"/>
              </a:lnSpc>
            </a:pPr>
            <a:r>
              <a:rPr lang="zh-CN" altLang="en-US" sz="2000" b="1" dirty="0">
                <a:solidFill>
                  <a:srgbClr val="C00000"/>
                </a:solidFill>
              </a:rPr>
              <a:t>服务业数字化扩容提质</a:t>
            </a:r>
            <a:r>
              <a:rPr lang="zh-CN" altLang="en-US" sz="2000" dirty="0"/>
              <a:t>：我国连续</a:t>
            </a:r>
            <a:r>
              <a:rPr lang="en-US" altLang="zh-CN" sz="2000" dirty="0"/>
              <a:t>12</a:t>
            </a:r>
            <a:r>
              <a:rPr lang="zh-CN" altLang="en-US" sz="2000" dirty="0"/>
              <a:t>年成为全球第一大网络零售市场，</a:t>
            </a:r>
            <a:r>
              <a:rPr lang="en-US" altLang="zh-CN" sz="2000" dirty="0"/>
              <a:t>2024</a:t>
            </a:r>
            <a:r>
              <a:rPr lang="zh-CN" altLang="en-US" sz="2000" dirty="0"/>
              <a:t>年网上零售额达</a:t>
            </a:r>
            <a:r>
              <a:rPr lang="en-US" altLang="zh-CN" sz="2000" dirty="0"/>
              <a:t>155225</a:t>
            </a:r>
            <a:r>
              <a:rPr lang="zh-CN" altLang="en-US" sz="2000" dirty="0"/>
              <a:t>亿元，同比增长</a:t>
            </a:r>
            <a:r>
              <a:rPr lang="en-US" altLang="zh-CN" sz="2000" dirty="0"/>
              <a:t>7.2%</a:t>
            </a:r>
            <a:r>
              <a:rPr lang="zh-CN" altLang="en-US" sz="2000" dirty="0"/>
              <a:t>。数字金融、数字文化产业等异军突起，文化新业态营业收入显著增长。</a:t>
            </a:r>
            <a:endParaRPr lang="zh-CN" altLang="en-US" sz="2000" dirty="0"/>
          </a:p>
          <a:p>
            <a:pPr indent="457200" algn="just">
              <a:lnSpc>
                <a:spcPct val="150000"/>
              </a:lnSpc>
            </a:pPr>
            <a:r>
              <a:rPr lang="zh-CN" altLang="en-US" sz="2000" b="1" dirty="0">
                <a:solidFill>
                  <a:srgbClr val="C00000"/>
                </a:solidFill>
              </a:rPr>
              <a:t>数字化赋能农业农村现代化：</a:t>
            </a:r>
            <a:r>
              <a:rPr lang="zh-CN" altLang="en-US" sz="2000" dirty="0"/>
              <a:t>农业科技整体进入世界第一方阵，数字技术在农业生产中的应用进一步拓展，农村电商焕发创新活力，推动农村和农产品网络零售额增长。</a:t>
            </a:r>
            <a:endParaRPr lang="zh-CN" altLang="en-US" sz="2000" dirty="0"/>
          </a:p>
          <a:p>
            <a:pPr indent="457200" algn="just">
              <a:lnSpc>
                <a:spcPct val="150000"/>
              </a:lnSpc>
            </a:pPr>
            <a:r>
              <a:rPr lang="zh-CN" altLang="en-US" sz="2000" b="1" dirty="0">
                <a:solidFill>
                  <a:srgbClr val="C00000"/>
                </a:solidFill>
              </a:rPr>
              <a:t>数字消费与新业态涌现：</a:t>
            </a:r>
            <a:r>
              <a:rPr lang="zh-CN" altLang="en-US" sz="2000" dirty="0"/>
              <a:t>“人工智能</a:t>
            </a:r>
            <a:r>
              <a:rPr lang="en-US" altLang="zh-CN" sz="2000" dirty="0"/>
              <a:t>+</a:t>
            </a:r>
            <a:r>
              <a:rPr lang="zh-CN" altLang="en-US" sz="2000" dirty="0"/>
              <a:t>智能硬件”开启新一轮消费空间，智能终端高端化发展提速，数字消费成为经济增长新动力。</a:t>
            </a:r>
            <a:endParaRPr lang="zh-CN" alt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801155" y="1953991"/>
            <a:ext cx="7660478" cy="4030672"/>
          </a:xfrm>
        </p:spPr>
      </p:pic>
      <p:sp>
        <p:nvSpPr>
          <p:cNvPr id="7" name="文本框 6"/>
          <p:cNvSpPr txBox="1"/>
          <p:nvPr/>
        </p:nvSpPr>
        <p:spPr>
          <a:xfrm>
            <a:off x="3364249" y="6009535"/>
            <a:ext cx="6097384" cy="369332"/>
          </a:xfrm>
          <a:prstGeom prst="rect">
            <a:avLst/>
          </a:prstGeom>
          <a:noFill/>
        </p:spPr>
        <p:txBody>
          <a:bodyPr wrap="square">
            <a:spAutoFit/>
          </a:bodyPr>
          <a:lstStyle/>
          <a:p>
            <a:r>
              <a:rPr lang="en-US" altLang="zh-CN" dirty="0"/>
              <a:t>2020</a:t>
            </a:r>
            <a:r>
              <a:rPr lang="zh-CN" altLang="en-US" dirty="0"/>
              <a:t>年</a:t>
            </a:r>
            <a:r>
              <a:rPr lang="en-US" altLang="zh-CN" dirty="0"/>
              <a:t>—2024</a:t>
            </a:r>
            <a:r>
              <a:rPr lang="zh-CN" altLang="en-US" dirty="0"/>
              <a:t>年人工智能核心产业规模</a:t>
            </a:r>
            <a:endParaRPr lang="zh-CN" altLang="en-US" dirty="0"/>
          </a:p>
        </p:txBody>
      </p:sp>
      <p:sp>
        <p:nvSpPr>
          <p:cNvPr id="9" name="文本框 8"/>
          <p:cNvSpPr txBox="1"/>
          <p:nvPr/>
        </p:nvSpPr>
        <p:spPr>
          <a:xfrm>
            <a:off x="7305575" y="6378867"/>
            <a:ext cx="5299297" cy="369332"/>
          </a:xfrm>
          <a:prstGeom prst="rect">
            <a:avLst/>
          </a:prstGeom>
          <a:noFill/>
        </p:spPr>
        <p:txBody>
          <a:bodyPr wrap="square">
            <a:spAutoFit/>
          </a:bodyPr>
          <a:lstStyle/>
          <a:p>
            <a:r>
              <a:rPr lang="zh-CN" altLang="en-US" dirty="0"/>
              <a:t>数据来源：工业和信息化部、中国互联网协会</a:t>
            </a:r>
            <a:endParaRPr lang="zh-CN" altLang="en-US" dirty="0"/>
          </a:p>
        </p:txBody>
      </p:sp>
      <p:sp>
        <p:nvSpPr>
          <p:cNvPr id="11" name="文本框 10"/>
          <p:cNvSpPr txBox="1"/>
          <p:nvPr/>
        </p:nvSpPr>
        <p:spPr>
          <a:xfrm>
            <a:off x="1060011" y="594636"/>
            <a:ext cx="10073640" cy="1200329"/>
          </a:xfrm>
          <a:prstGeom prst="rect">
            <a:avLst/>
          </a:prstGeom>
          <a:noFill/>
        </p:spPr>
        <p:txBody>
          <a:bodyPr wrap="square">
            <a:spAutoFit/>
          </a:bodyPr>
          <a:lstStyle/>
          <a:p>
            <a:pPr algn="just"/>
            <a:r>
              <a:rPr lang="zh-CN" altLang="en-US" dirty="0"/>
              <a:t>截至</a:t>
            </a:r>
            <a:r>
              <a:rPr lang="en-US" altLang="zh-CN" dirty="0"/>
              <a:t>2024</a:t>
            </a:r>
            <a:r>
              <a:rPr lang="zh-CN" altLang="en-US" dirty="0"/>
              <a:t>年底，人工智能企业数量超过</a:t>
            </a:r>
            <a:r>
              <a:rPr lang="en-US" altLang="zh-CN" dirty="0"/>
              <a:t>4700</a:t>
            </a:r>
            <a:r>
              <a:rPr lang="zh-CN" altLang="en-US" dirty="0"/>
              <a:t>家，核心产业规模已接近</a:t>
            </a:r>
            <a:r>
              <a:rPr lang="en-US" altLang="zh-CN" dirty="0"/>
              <a:t>6000</a:t>
            </a:r>
            <a:r>
              <a:rPr lang="zh-CN" altLang="en-US" dirty="0"/>
              <a:t>亿元人民币，</a:t>
            </a:r>
            <a:r>
              <a:rPr lang="en-US" altLang="zh-CN" dirty="0"/>
              <a:t>4</a:t>
            </a:r>
            <a:r>
              <a:rPr lang="zh-CN" altLang="en-US" dirty="0"/>
              <a:t>年内规模接近翻倍，产业链覆盖芯片、算法、数据、平台、应用等上下游关键环节。</a:t>
            </a:r>
            <a:endParaRPr lang="en-US" altLang="zh-CN" dirty="0"/>
          </a:p>
          <a:p>
            <a:pPr algn="just"/>
            <a:endParaRPr lang="en-US" altLang="zh-CN" dirty="0"/>
          </a:p>
          <a:p>
            <a:pPr algn="r"/>
            <a:r>
              <a:rPr lang="zh-CN" altLang="en-US" dirty="0"/>
              <a:t>数据来源：第</a:t>
            </a:r>
            <a:r>
              <a:rPr lang="en-US" altLang="zh-CN" dirty="0"/>
              <a:t>55</a:t>
            </a:r>
            <a:r>
              <a:rPr lang="zh-CN" altLang="en-US" dirty="0"/>
              <a:t>次</a:t>
            </a:r>
            <a:r>
              <a:rPr lang="en-US" altLang="zh-CN" dirty="0"/>
              <a:t>《</a:t>
            </a:r>
            <a:r>
              <a:rPr lang="zh-CN" altLang="en-US" dirty="0"/>
              <a:t>中国互联网络发展状况统计报告</a:t>
            </a:r>
            <a:r>
              <a:rPr lang="en-US" altLang="zh-CN" dirty="0"/>
              <a:t>》</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人工智能核心产业规模</a:t>
            </a:r>
            <a:endParaRPr lang="zh-CN" altLang="en-US" dirty="0"/>
          </a:p>
        </p:txBody>
      </p:sp>
      <p:graphicFrame>
        <p:nvGraphicFramePr>
          <p:cNvPr id="6" name="表格 5"/>
          <p:cNvGraphicFramePr>
            <a:graphicFrameLocks noGrp="1"/>
          </p:cNvGraphicFramePr>
          <p:nvPr/>
        </p:nvGraphicFramePr>
        <p:xfrm>
          <a:off x="211756" y="2127184"/>
          <a:ext cx="11531061" cy="3946357"/>
        </p:xfrm>
        <a:graphic>
          <a:graphicData uri="http://schemas.openxmlformats.org/drawingml/2006/table">
            <a:tbl>
              <a:tblPr>
                <a:tableStyleId>{5C22544A-7EE6-4342-B048-85BDC9FD1C3A}</a:tableStyleId>
              </a:tblPr>
              <a:tblGrid>
                <a:gridCol w="1281229"/>
                <a:gridCol w="1281229"/>
                <a:gridCol w="1281229"/>
                <a:gridCol w="1281229"/>
                <a:gridCol w="1281229"/>
                <a:gridCol w="1281229"/>
                <a:gridCol w="1281229"/>
                <a:gridCol w="1281229"/>
                <a:gridCol w="1281229"/>
              </a:tblGrid>
              <a:tr h="739942">
                <a:tc>
                  <a:txBody>
                    <a:bodyPr/>
                    <a:lstStyle/>
                    <a:p>
                      <a:pPr algn="ctr" rtl="0" fontAlgn="ctr"/>
                      <a:r>
                        <a:rPr lang="zh-CN" altLang="en-US" sz="1600" b="1" u="none" strike="noStrike" dirty="0">
                          <a:effectLst/>
                        </a:rPr>
                        <a:t>地区</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全国</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北京</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广东</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浙江</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杭州</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郑州</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辽宁</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沈阳</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r>
              <a:tr h="986589">
                <a:tc>
                  <a:txBody>
                    <a:bodyPr/>
                    <a:lstStyle/>
                    <a:p>
                      <a:pPr algn="ctr" rtl="0" fontAlgn="ctr"/>
                      <a:r>
                        <a:rPr lang="zh-CN" altLang="en-US" sz="1600" b="1" u="none" strike="noStrike" dirty="0">
                          <a:effectLst/>
                        </a:rPr>
                        <a:t>核心产业规模（最新数据）</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en-US" altLang="zh-CN" sz="1600" u="none" strike="noStrike">
                          <a:effectLst/>
                        </a:rPr>
                        <a:t>2024</a:t>
                      </a:r>
                      <a:r>
                        <a:rPr lang="zh-CN" altLang="en-US" sz="1600" u="none" strike="noStrike">
                          <a:effectLst/>
                        </a:rPr>
                        <a:t>年突破</a:t>
                      </a:r>
                      <a:r>
                        <a:rPr lang="en-US" altLang="zh-CN" sz="1600" u="none" strike="noStrike">
                          <a:effectLst/>
                        </a:rPr>
                        <a:t>7000</a:t>
                      </a:r>
                      <a:r>
                        <a:rPr lang="zh-CN" altLang="en-US" sz="1600" u="none" strike="noStrike">
                          <a:effectLst/>
                        </a:rPr>
                        <a:t>亿元（年增</a:t>
                      </a:r>
                      <a:r>
                        <a:rPr lang="en-US" altLang="zh-CN" sz="1600" u="none" strike="noStrike">
                          <a:effectLst/>
                        </a:rPr>
                        <a:t>&gt;20%</a:t>
                      </a:r>
                      <a:r>
                        <a:rPr lang="zh-CN" altLang="en-US" sz="1600" u="none" strike="noStrike">
                          <a:effectLst/>
                        </a:rPr>
                        <a:t>）</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rtl="0" fontAlgn="ctr"/>
                      <a:r>
                        <a:rPr lang="en-US" altLang="zh-CN" sz="1600" u="none" strike="noStrike">
                          <a:effectLst/>
                        </a:rPr>
                        <a:t>2024</a:t>
                      </a:r>
                      <a:r>
                        <a:rPr lang="zh-CN" altLang="en-US" sz="1600" u="none" strike="noStrike">
                          <a:effectLst/>
                        </a:rPr>
                        <a:t>年</a:t>
                      </a:r>
                      <a:r>
                        <a:rPr lang="en-US" altLang="zh-CN" sz="1600" u="none" strike="noStrike">
                          <a:effectLst/>
                        </a:rPr>
                        <a:t>3458.7</a:t>
                      </a:r>
                      <a:r>
                        <a:rPr lang="zh-CN" altLang="en-US" sz="1600" u="none" strike="noStrike">
                          <a:effectLst/>
                        </a:rPr>
                        <a:t>亿元（占全国</a:t>
                      </a:r>
                      <a:r>
                        <a:rPr lang="en-US" altLang="zh-CN" sz="1600" u="none" strike="noStrike">
                          <a:effectLst/>
                        </a:rPr>
                        <a:t>50%</a:t>
                      </a:r>
                      <a:r>
                        <a:rPr lang="zh-CN" altLang="en-US" sz="1600" u="none" strike="noStrike">
                          <a:effectLst/>
                        </a:rPr>
                        <a:t>）</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rtl="0" fontAlgn="ctr"/>
                      <a:r>
                        <a:rPr lang="en-US" altLang="zh-CN" sz="1600" u="none" strike="noStrike">
                          <a:effectLst/>
                        </a:rPr>
                        <a:t>2024</a:t>
                      </a:r>
                      <a:r>
                        <a:rPr lang="zh-CN" altLang="en-US" sz="1600" u="none" strike="noStrike">
                          <a:effectLst/>
                        </a:rPr>
                        <a:t>年超</a:t>
                      </a:r>
                      <a:r>
                        <a:rPr lang="en-US" altLang="zh-CN" sz="1600" u="none" strike="noStrike">
                          <a:effectLst/>
                        </a:rPr>
                        <a:t>2200</a:t>
                      </a:r>
                      <a:r>
                        <a:rPr lang="zh-CN" altLang="en-US" sz="1600" u="none" strike="noStrike">
                          <a:effectLst/>
                        </a:rPr>
                        <a:t>亿元</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目标</a:t>
                      </a:r>
                      <a:r>
                        <a:rPr lang="en-US" altLang="zh-CN" sz="1600" u="none" strike="noStrike">
                          <a:effectLst/>
                        </a:rPr>
                        <a:t>2027</a:t>
                      </a:r>
                      <a:r>
                        <a:rPr lang="zh-CN" altLang="en-US" sz="1600" u="none" strike="noStrike">
                          <a:effectLst/>
                        </a:rPr>
                        <a:t>年超</a:t>
                      </a:r>
                      <a:r>
                        <a:rPr lang="en-US" altLang="zh-CN" sz="1600" u="none" strike="noStrike">
                          <a:effectLst/>
                        </a:rPr>
                        <a:t>1</a:t>
                      </a:r>
                      <a:r>
                        <a:rPr lang="zh-CN" altLang="en-US" sz="1600" u="none" strike="noStrike">
                          <a:effectLst/>
                        </a:rPr>
                        <a:t>万亿元</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目标核心产业营收</a:t>
                      </a:r>
                      <a:r>
                        <a:rPr lang="en-US" altLang="zh-CN" sz="1600" u="none" strike="noStrike">
                          <a:effectLst/>
                        </a:rPr>
                        <a:t>3900</a:t>
                      </a:r>
                      <a:r>
                        <a:rPr lang="zh-CN" altLang="en-US" sz="1600" u="none" strike="noStrike">
                          <a:effectLst/>
                        </a:rPr>
                        <a:t>亿元</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目标</a:t>
                      </a:r>
                      <a:r>
                        <a:rPr lang="en-US" altLang="zh-CN" sz="1600" u="none" strike="noStrike">
                          <a:effectLst/>
                        </a:rPr>
                        <a:t>2025</a:t>
                      </a:r>
                      <a:r>
                        <a:rPr lang="zh-CN" altLang="en-US" sz="1600" u="none" strike="noStrike">
                          <a:effectLst/>
                        </a:rPr>
                        <a:t>年超</a:t>
                      </a:r>
                      <a:r>
                        <a:rPr lang="en-US" altLang="zh-CN" sz="1600" u="none" strike="noStrike">
                          <a:effectLst/>
                        </a:rPr>
                        <a:t>350</a:t>
                      </a:r>
                      <a:r>
                        <a:rPr lang="zh-CN" altLang="en-US" sz="1600" u="none" strike="noStrike">
                          <a:effectLst/>
                        </a:rPr>
                        <a:t>亿元</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目标</a:t>
                      </a:r>
                      <a:r>
                        <a:rPr lang="en-US" altLang="zh-CN" sz="1600" u="none" strike="noStrike">
                          <a:effectLst/>
                        </a:rPr>
                        <a:t>2027</a:t>
                      </a:r>
                      <a:r>
                        <a:rPr lang="zh-CN" altLang="en-US" sz="1600" u="none" strike="noStrike">
                          <a:effectLst/>
                        </a:rPr>
                        <a:t>年达</a:t>
                      </a:r>
                      <a:r>
                        <a:rPr lang="en-US" altLang="zh-CN" sz="1600" u="none" strike="noStrike">
                          <a:effectLst/>
                        </a:rPr>
                        <a:t>1000</a:t>
                      </a:r>
                      <a:r>
                        <a:rPr lang="zh-CN" altLang="en-US" sz="1600" u="none" strike="noStrike">
                          <a:effectLst/>
                        </a:rPr>
                        <a:t>亿元</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目标</a:t>
                      </a:r>
                      <a:r>
                        <a:rPr lang="en-US" altLang="zh-CN" sz="1600" u="none" strike="noStrike">
                          <a:effectLst/>
                        </a:rPr>
                        <a:t>2027</a:t>
                      </a:r>
                      <a:r>
                        <a:rPr lang="zh-CN" altLang="en-US" sz="1600" u="none" strike="noStrike">
                          <a:effectLst/>
                        </a:rPr>
                        <a:t>年达</a:t>
                      </a:r>
                      <a:r>
                        <a:rPr lang="en-US" altLang="zh-CN" sz="1600" u="none" strike="noStrike">
                          <a:effectLst/>
                        </a:rPr>
                        <a:t>700</a:t>
                      </a:r>
                      <a:r>
                        <a:rPr lang="zh-CN" altLang="en-US" sz="1600" u="none" strike="noStrike">
                          <a:effectLst/>
                        </a:rPr>
                        <a:t>亿元</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r>
              <a:tr h="1233237">
                <a:tc>
                  <a:txBody>
                    <a:bodyPr/>
                    <a:lstStyle/>
                    <a:p>
                      <a:pPr algn="ctr" rtl="0" fontAlgn="ctr"/>
                      <a:r>
                        <a:rPr lang="zh-CN" altLang="en-US" sz="1600" b="1" u="none" strike="noStrike" dirty="0">
                          <a:effectLst/>
                        </a:rPr>
                        <a:t>特点与目标</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浙江、北京、广东为引领者</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企业</a:t>
                      </a:r>
                      <a:r>
                        <a:rPr lang="en-US" altLang="zh-CN" sz="1600" u="none" strike="noStrike">
                          <a:effectLst/>
                        </a:rPr>
                        <a:t>2400</a:t>
                      </a:r>
                      <a:r>
                        <a:rPr lang="zh-CN" altLang="en-US" sz="1600" u="none" strike="noStrike">
                          <a:effectLst/>
                        </a:rPr>
                        <a:t>家，顶尖人才占全国</a:t>
                      </a:r>
                      <a:r>
                        <a:rPr lang="en-US" altLang="zh-CN" sz="1600" u="none" strike="noStrike">
                          <a:effectLst/>
                        </a:rPr>
                        <a:t>40%</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工业机器人产量全国第一（</a:t>
                      </a:r>
                      <a:r>
                        <a:rPr lang="en-US" altLang="zh-CN" sz="1600" u="none" strike="noStrike">
                          <a:effectLst/>
                        </a:rPr>
                        <a:t>24.68</a:t>
                      </a:r>
                      <a:r>
                        <a:rPr lang="zh-CN" altLang="en-US" sz="1600" u="none" strike="noStrike">
                          <a:effectLst/>
                        </a:rPr>
                        <a:t>万台</a:t>
                      </a:r>
                      <a:r>
                        <a:rPr lang="en-US" altLang="zh-CN" sz="1600" u="none" strike="noStrike">
                          <a:effectLst/>
                        </a:rPr>
                        <a:t>/</a:t>
                      </a:r>
                      <a:r>
                        <a:rPr lang="zh-CN" altLang="en-US" sz="1600" u="none" strike="noStrike">
                          <a:effectLst/>
                        </a:rPr>
                        <a:t>套）</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打造“芯片</a:t>
                      </a:r>
                      <a:r>
                        <a:rPr lang="en-US" altLang="zh-CN" sz="1600" u="none" strike="noStrike">
                          <a:effectLst/>
                        </a:rPr>
                        <a:t>-</a:t>
                      </a:r>
                      <a:r>
                        <a:rPr lang="zh-CN" altLang="en-US" sz="1600" u="none" strike="noStrike">
                          <a:effectLst/>
                        </a:rPr>
                        <a:t>大模型</a:t>
                      </a:r>
                      <a:r>
                        <a:rPr lang="en-US" altLang="zh-CN" sz="1600" u="none" strike="noStrike">
                          <a:effectLst/>
                        </a:rPr>
                        <a:t>-</a:t>
                      </a:r>
                      <a:r>
                        <a:rPr lang="zh-CN" altLang="en-US" sz="1600" u="none" strike="noStrike">
                          <a:effectLst/>
                        </a:rPr>
                        <a:t>终端”全产业链</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规模以上企业超</a:t>
                      </a:r>
                      <a:r>
                        <a:rPr lang="en-US" altLang="zh-CN" sz="1600" u="none" strike="noStrike">
                          <a:effectLst/>
                        </a:rPr>
                        <a:t>700</a:t>
                      </a:r>
                      <a:r>
                        <a:rPr lang="zh-CN" altLang="en-US" sz="1600" u="none" strike="noStrike">
                          <a:effectLst/>
                        </a:rPr>
                        <a:t>家，产业基金规模千亿级</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聚焦传感器、网联汽车，建</a:t>
                      </a:r>
                      <a:r>
                        <a:rPr lang="en-US" altLang="zh-CN" sz="1600" u="none" strike="noStrike">
                          <a:effectLst/>
                        </a:rPr>
                        <a:t>10</a:t>
                      </a:r>
                      <a:r>
                        <a:rPr lang="zh-CN" altLang="en-US" sz="1600" u="none" strike="noStrike">
                          <a:effectLst/>
                        </a:rPr>
                        <a:t>个创新平台</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沈阳、大连“双核”带动，培育</a:t>
                      </a:r>
                      <a:r>
                        <a:rPr lang="en-US" altLang="zh-CN" sz="1600" u="none" strike="noStrike">
                          <a:effectLst/>
                        </a:rPr>
                        <a:t>300</a:t>
                      </a:r>
                      <a:r>
                        <a:rPr lang="zh-CN" altLang="en-US" sz="1600" u="none" strike="noStrike">
                          <a:effectLst/>
                        </a:rPr>
                        <a:t>家规上企业</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重点发展智能机器人、智能网联车</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r>
              <a:tr h="986589">
                <a:tc>
                  <a:txBody>
                    <a:bodyPr/>
                    <a:lstStyle/>
                    <a:p>
                      <a:pPr algn="ctr" rtl="0" fontAlgn="ctr"/>
                      <a:r>
                        <a:rPr lang="zh-CN" altLang="en-US" sz="1600" b="1" u="none" strike="noStrike" dirty="0">
                          <a:effectLst/>
                        </a:rPr>
                        <a:t>来源</a:t>
                      </a:r>
                      <a:endParaRPr lang="zh-CN" altLang="en-US" sz="1600" b="1"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工信部</a:t>
                      </a:r>
                      <a:r>
                        <a:rPr lang="en-US" altLang="zh-CN" sz="1600" u="none" strike="noStrike">
                          <a:effectLst/>
                        </a:rPr>
                        <a:t>2025</a:t>
                      </a:r>
                      <a:r>
                        <a:rPr lang="zh-CN" altLang="en-US" sz="1600" u="none" strike="noStrike">
                          <a:effectLst/>
                        </a:rPr>
                        <a:t>年阶段性通报</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北京市科委</a:t>
                      </a:r>
                      <a:r>
                        <a:rPr lang="en-US" altLang="zh-CN" sz="1600" u="none" strike="noStrike" dirty="0">
                          <a:effectLst/>
                        </a:rPr>
                        <a:t>2025</a:t>
                      </a:r>
                      <a:r>
                        <a:rPr lang="zh-CN" altLang="en-US" sz="1600" u="none" strike="noStrike" dirty="0">
                          <a:effectLst/>
                        </a:rPr>
                        <a:t>年发布</a:t>
                      </a:r>
                      <a:endParaRPr lang="zh-CN" altLang="en-US" sz="1600" b="0"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广东省工信厅</a:t>
                      </a:r>
                      <a:r>
                        <a:rPr lang="en-US" altLang="zh-CN" sz="1600" u="none" strike="noStrike">
                          <a:effectLst/>
                        </a:rPr>
                        <a:t>2025</a:t>
                      </a:r>
                      <a:r>
                        <a:rPr lang="zh-CN" altLang="en-US" sz="1600" u="none" strike="noStrike">
                          <a:effectLst/>
                        </a:rPr>
                        <a:t>年报告</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en-US" altLang="zh-CN" sz="1600" u="none" strike="noStrike">
                          <a:effectLst/>
                        </a:rPr>
                        <a:t>《</a:t>
                      </a:r>
                      <a:r>
                        <a:rPr lang="zh-CN" altLang="en-US" sz="1600" u="none" strike="noStrike">
                          <a:effectLst/>
                        </a:rPr>
                        <a:t>浙江省人工智能发展规划</a:t>
                      </a:r>
                      <a:r>
                        <a:rPr lang="en-US" altLang="zh-CN" sz="1600" u="none" strike="noStrike">
                          <a:effectLst/>
                        </a:rPr>
                        <a:t>》</a:t>
                      </a:r>
                      <a:endParaRPr lang="en-US" altLang="zh-CN"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杭州</a:t>
                      </a:r>
                      <a:r>
                        <a:rPr lang="en-US" altLang="zh-CN" sz="1600" u="none" strike="noStrike">
                          <a:effectLst/>
                        </a:rPr>
                        <a:t>《</a:t>
                      </a:r>
                      <a:r>
                        <a:rPr lang="zh-CN" altLang="en-US" sz="1600" u="none" strike="noStrike">
                          <a:effectLst/>
                        </a:rPr>
                        <a:t>实施方案</a:t>
                      </a:r>
                      <a:r>
                        <a:rPr lang="en-US" altLang="zh-CN" sz="1600" u="none" strike="noStrike">
                          <a:effectLst/>
                        </a:rPr>
                        <a:t>》2025</a:t>
                      </a:r>
                      <a:r>
                        <a:rPr lang="zh-CN" altLang="en-US" sz="1600" u="none" strike="noStrike">
                          <a:effectLst/>
                        </a:rPr>
                        <a:t>版</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郑州市人工智能产业规划</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a:effectLst/>
                        </a:rPr>
                        <a:t>辽宁省人工智能三年行动方案</a:t>
                      </a:r>
                      <a:endParaRPr lang="zh-CN" altLang="en-US" sz="1600" b="0" i="0" u="none" strike="noStrike">
                        <a:solidFill>
                          <a:srgbClr val="000000"/>
                        </a:solidFill>
                        <a:effectLst/>
                        <a:latin typeface="Arial" panose="020B0604020202020204" pitchFamily="34" charset="0"/>
                        <a:ea typeface="等线" panose="02010600030101010101" pitchFamily="2" charset="-122"/>
                      </a:endParaRPr>
                    </a:p>
                  </a:txBody>
                  <a:tcPr marL="6350" marR="6350" marT="6350" marB="0" anchor="ctr"/>
                </a:tc>
                <a:tc>
                  <a:txBody>
                    <a:bodyPr/>
                    <a:lstStyle/>
                    <a:p>
                      <a:pPr algn="l" rtl="0" fontAlgn="ctr"/>
                      <a:r>
                        <a:rPr lang="zh-CN" altLang="en-US" sz="1600" u="none" strike="noStrike" dirty="0">
                          <a:effectLst/>
                        </a:rPr>
                        <a:t>沈阳市专项政策</a:t>
                      </a:r>
                      <a:endParaRPr lang="zh-CN" altLang="en-US" sz="1600" b="0" i="0" u="none" strike="noStrike" dirty="0">
                        <a:solidFill>
                          <a:srgbClr val="000000"/>
                        </a:solidFill>
                        <a:effectLst/>
                        <a:latin typeface="Arial" panose="020B0604020202020204" pitchFamily="34" charset="0"/>
                        <a:ea typeface="等线" panose="02010600030101010101" pitchFamily="2" charset="-122"/>
                      </a:endParaRPr>
                    </a:p>
                  </a:txBody>
                  <a:tcPr marL="6350" marR="6350" marT="6350" marB="0" anchor="ct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产业数字化转型</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4" y="2166771"/>
            <a:ext cx="10642601" cy="2554545"/>
          </a:xfrm>
          <a:prstGeom prst="rect">
            <a:avLst/>
          </a:prstGeom>
          <a:noFill/>
        </p:spPr>
        <p:txBody>
          <a:bodyPr wrap="square">
            <a:spAutoFit/>
          </a:bodyPr>
          <a:lstStyle/>
          <a:p>
            <a:r>
              <a:rPr lang="zh-CN" altLang="en-US" sz="2000" dirty="0"/>
              <a:t>沈阳	目标</a:t>
            </a:r>
            <a:r>
              <a:rPr lang="en-US" altLang="zh-CN" sz="2000" dirty="0"/>
              <a:t>2027</a:t>
            </a:r>
            <a:r>
              <a:rPr lang="zh-CN" altLang="en-US" sz="2000" dirty="0"/>
              <a:t>年达</a:t>
            </a:r>
            <a:r>
              <a:rPr lang="en-US" altLang="zh-CN" sz="2000" dirty="0"/>
              <a:t>700</a:t>
            </a:r>
            <a:r>
              <a:rPr lang="zh-CN" altLang="en-US" sz="2000" dirty="0"/>
              <a:t>亿元	发展智能机器人、智能网联车应用场景</a:t>
            </a:r>
            <a:endParaRPr lang="zh-CN" altLang="en-US" sz="2000" dirty="0"/>
          </a:p>
          <a:p>
            <a:r>
              <a:rPr lang="zh-CN" altLang="en-US" sz="2000" dirty="0"/>
              <a:t>关键结论</a:t>
            </a:r>
            <a:endParaRPr lang="en-US" altLang="zh-CN" sz="2000" dirty="0"/>
          </a:p>
          <a:p>
            <a:endParaRPr lang="zh-CN" altLang="en-US" sz="2000" dirty="0"/>
          </a:p>
          <a:p>
            <a:r>
              <a:rPr lang="zh-CN" altLang="en-US" sz="2000" dirty="0"/>
              <a:t>区域梯队：北京、广东、浙江为第一梯队（规模均超</a:t>
            </a:r>
            <a:r>
              <a:rPr lang="en-US" altLang="zh-CN" sz="2000" dirty="0"/>
              <a:t>2000</a:t>
            </a:r>
            <a:r>
              <a:rPr lang="zh-CN" altLang="en-US" sz="2000" dirty="0"/>
              <a:t>亿），河南、辽宁等地加速追赶。</a:t>
            </a:r>
            <a:endParaRPr lang="zh-CN" altLang="en-US" sz="2000" dirty="0"/>
          </a:p>
          <a:p>
            <a:r>
              <a:rPr lang="zh-CN" altLang="en-US" sz="2000" dirty="0"/>
              <a:t>增长驱动：算力基建（如北京</a:t>
            </a:r>
            <a:r>
              <a:rPr lang="en-US" altLang="zh-CN" sz="2000" dirty="0"/>
              <a:t>3.3</a:t>
            </a:r>
            <a:r>
              <a:rPr lang="zh-CN" altLang="en-US" sz="2000" dirty="0"/>
              <a:t>万</a:t>
            </a:r>
            <a:r>
              <a:rPr lang="en-US" altLang="zh-CN" sz="2000" dirty="0"/>
              <a:t>P</a:t>
            </a:r>
            <a:r>
              <a:rPr lang="zh-CN" altLang="en-US" sz="2000" dirty="0"/>
              <a:t>算力）、大模型备案（全国</a:t>
            </a:r>
            <a:r>
              <a:rPr lang="en-US" altLang="zh-CN" sz="2000" dirty="0"/>
              <a:t>1/3</a:t>
            </a:r>
            <a:r>
              <a:rPr lang="zh-CN" altLang="en-US" sz="2000" dirty="0"/>
              <a:t>在京）、垂直场景（医疗</a:t>
            </a:r>
            <a:r>
              <a:rPr lang="en-US" altLang="zh-CN" sz="2000" dirty="0"/>
              <a:t>/</a:t>
            </a:r>
            <a:r>
              <a:rPr lang="zh-CN" altLang="en-US" sz="2000" dirty="0"/>
              <a:t>工业）是三大引擎。</a:t>
            </a:r>
            <a:endParaRPr lang="zh-CN" altLang="en-US" sz="2000" dirty="0"/>
          </a:p>
          <a:p>
            <a:r>
              <a:rPr lang="zh-CN" altLang="en-US" sz="2000" dirty="0"/>
              <a:t>政策支持：地方密集出台</a:t>
            </a:r>
            <a:r>
              <a:rPr lang="en-US" altLang="zh-CN" sz="2000" dirty="0"/>
              <a:t>AI</a:t>
            </a:r>
            <a:r>
              <a:rPr lang="zh-CN" altLang="en-US" sz="2000" dirty="0"/>
              <a:t>专项政策（如浙江“算力券”、广东“单项目最高奖</a:t>
            </a:r>
            <a:r>
              <a:rPr lang="en-US" altLang="zh-CN" sz="2000" dirty="0"/>
              <a:t>1.5</a:t>
            </a:r>
            <a:r>
              <a:rPr lang="zh-CN" altLang="en-US" sz="2000" dirty="0"/>
              <a:t>亿”），强化产业链协同。</a:t>
            </a:r>
            <a:endParaRPr lang="zh-CN" alt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35267" y="605942"/>
            <a:ext cx="11138734" cy="4988374"/>
          </a:xfrm>
          <a:prstGeom prst="rect">
            <a:avLst/>
          </a:prstGeom>
        </p:spPr>
      </p:pic>
      <p:pic>
        <p:nvPicPr>
          <p:cNvPr id="7" name="图片 6"/>
          <p:cNvPicPr>
            <a:picLocks noChangeAspect="1"/>
          </p:cNvPicPr>
          <p:nvPr/>
        </p:nvPicPr>
        <p:blipFill>
          <a:blip r:embed="rId2"/>
          <a:stretch>
            <a:fillRect/>
          </a:stretch>
        </p:blipFill>
        <p:spPr>
          <a:xfrm>
            <a:off x="935446" y="5468248"/>
            <a:ext cx="10621287" cy="1125675"/>
          </a:xfrm>
          <a:prstGeom prst="rect">
            <a:avLst/>
          </a:prstGeom>
        </p:spPr>
      </p:pic>
      <p:sp>
        <p:nvSpPr>
          <p:cNvPr id="2" name="标题 1"/>
          <p:cNvSpPr>
            <a:spLocks noGrp="1"/>
          </p:cNvSpPr>
          <p:nvPr>
            <p:ph type="title"/>
          </p:nvPr>
        </p:nvSpPr>
        <p:spPr>
          <a:xfrm>
            <a:off x="799699" y="264077"/>
            <a:ext cx="5206465" cy="111308"/>
          </a:xfrm>
        </p:spPr>
        <p:txBody>
          <a:bodyPr>
            <a:noAutofit/>
          </a:bodyPr>
          <a:lstStyle/>
          <a:p>
            <a:r>
              <a:rPr lang="zh-CN" altLang="en-US" sz="2400" dirty="0"/>
              <a:t>人工智能垂直场景</a:t>
            </a:r>
            <a:endParaRPr lang="zh-CN" alt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63575"/>
          </a:xfrm>
        </p:spPr>
        <p:txBody>
          <a:bodyPr>
            <a:normAutofit fontScale="90000"/>
          </a:bodyPr>
          <a:lstStyle/>
          <a:p>
            <a:r>
              <a:rPr lang="zh-CN" altLang="en-US" dirty="0"/>
              <a:t>新兴潜力</a:t>
            </a:r>
            <a:r>
              <a:rPr lang="en-US" altLang="zh-CN" dirty="0"/>
              <a:t>AI</a:t>
            </a:r>
            <a:r>
              <a:rPr lang="zh-CN" altLang="en-US" dirty="0"/>
              <a:t>垂直场景</a:t>
            </a:r>
            <a:endParaRPr lang="zh-CN" altLang="en-US" dirty="0"/>
          </a:p>
        </p:txBody>
      </p:sp>
      <p:pic>
        <p:nvPicPr>
          <p:cNvPr id="10" name="图片 9"/>
          <p:cNvPicPr>
            <a:picLocks noChangeAspect="1"/>
          </p:cNvPicPr>
          <p:nvPr/>
        </p:nvPicPr>
        <p:blipFill>
          <a:blip r:embed="rId1"/>
          <a:srcRect t="11060"/>
          <a:stretch>
            <a:fillRect/>
          </a:stretch>
        </p:blipFill>
        <p:spPr>
          <a:xfrm>
            <a:off x="170046" y="1722923"/>
            <a:ext cx="11582400" cy="378678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23333" y="1376413"/>
            <a:ext cx="7775261" cy="4452043"/>
          </a:xfrm>
        </p:spPr>
      </p:pic>
      <p:sp>
        <p:nvSpPr>
          <p:cNvPr id="7" name="文本框 6"/>
          <p:cNvSpPr txBox="1"/>
          <p:nvPr/>
        </p:nvSpPr>
        <p:spPr>
          <a:xfrm>
            <a:off x="7886263" y="6206290"/>
            <a:ext cx="6097384" cy="369332"/>
          </a:xfrm>
          <a:prstGeom prst="rect">
            <a:avLst/>
          </a:prstGeom>
          <a:noFill/>
        </p:spPr>
        <p:txBody>
          <a:bodyPr wrap="square">
            <a:spAutoFit/>
          </a:bodyPr>
          <a:lstStyle/>
          <a:p>
            <a:r>
              <a:rPr lang="zh-CN" altLang="en-US" sz="1800" b="0" i="0" u="none" strike="noStrike" baseline="0" dirty="0">
                <a:latin typeface="FZFSK--GBK1-0"/>
              </a:rPr>
              <a:t>数据来源：国家统计局、商务部</a:t>
            </a:r>
            <a:endParaRPr lang="zh-CN" altLang="en-US" dirty="0"/>
          </a:p>
        </p:txBody>
      </p:sp>
      <p:sp>
        <p:nvSpPr>
          <p:cNvPr id="9" name="文本框 8"/>
          <p:cNvSpPr txBox="1"/>
          <p:nvPr/>
        </p:nvSpPr>
        <p:spPr>
          <a:xfrm>
            <a:off x="1511969" y="5836958"/>
            <a:ext cx="6097384" cy="369332"/>
          </a:xfrm>
          <a:prstGeom prst="rect">
            <a:avLst/>
          </a:prstGeom>
          <a:noFill/>
        </p:spPr>
        <p:txBody>
          <a:bodyPr wrap="square">
            <a:spAutoFit/>
          </a:bodyPr>
          <a:lstStyle/>
          <a:p>
            <a:r>
              <a:rPr lang="en-US" altLang="zh-CN" sz="1800" b="0" i="0" u="none" strike="noStrike" baseline="0" dirty="0">
                <a:latin typeface="TimesNewRomanPSMT"/>
              </a:rPr>
              <a:t>2020</a:t>
            </a:r>
            <a:r>
              <a:rPr lang="zh-CN" altLang="en-US" sz="1800" b="0" i="0" u="none" strike="noStrike" baseline="0" dirty="0">
                <a:latin typeface="FZHTK--GBK1-0"/>
              </a:rPr>
              <a:t>年</a:t>
            </a:r>
            <a:r>
              <a:rPr lang="en-US" altLang="zh-CN" sz="1800" b="0" i="0" u="none" strike="noStrike" baseline="0" dirty="0">
                <a:latin typeface="FZHTK--GBK1-0"/>
              </a:rPr>
              <a:t>—</a:t>
            </a:r>
            <a:r>
              <a:rPr lang="en-US" altLang="zh-CN" sz="1800" b="0" i="0" u="none" strike="noStrike" baseline="0" dirty="0">
                <a:latin typeface="TimesNewRomanPSMT"/>
              </a:rPr>
              <a:t>2024</a:t>
            </a:r>
            <a:r>
              <a:rPr lang="zh-CN" altLang="en-US" sz="1800" b="0" i="0" u="none" strike="noStrike" baseline="0" dirty="0">
                <a:latin typeface="FZHTK--GBK1-0"/>
              </a:rPr>
              <a:t>年社会消费品零售总额和网上零售额</a:t>
            </a:r>
            <a:endParaRPr lang="zh-CN" altLang="en-US" dirty="0"/>
          </a:p>
        </p:txBody>
      </p:sp>
      <p:sp>
        <p:nvSpPr>
          <p:cNvPr id="11" name="文本框 10"/>
          <p:cNvSpPr txBox="1"/>
          <p:nvPr/>
        </p:nvSpPr>
        <p:spPr>
          <a:xfrm>
            <a:off x="8508733" y="2432641"/>
            <a:ext cx="3012707" cy="2958630"/>
          </a:xfrm>
          <a:prstGeom prst="rect">
            <a:avLst/>
          </a:prstGeom>
          <a:noFill/>
        </p:spPr>
        <p:txBody>
          <a:bodyPr wrap="square">
            <a:spAutoFit/>
          </a:bodyPr>
          <a:lstStyle/>
          <a:p>
            <a:pPr indent="457200" algn="just">
              <a:lnSpc>
                <a:spcPct val="150000"/>
              </a:lnSpc>
            </a:pPr>
            <a:r>
              <a:rPr lang="zh-CN" altLang="en-US" sz="1800" b="0" i="0" u="none" strike="noStrike" baseline="0" dirty="0">
                <a:latin typeface="FZFSK--GBK1-0"/>
              </a:rPr>
              <a:t>从总体规模看，我国已连续</a:t>
            </a:r>
            <a:r>
              <a:rPr lang="en-US" altLang="zh-CN" sz="1800" b="0" i="0" u="none" strike="noStrike" baseline="0" dirty="0">
                <a:latin typeface="TimesNewRomanPSMT"/>
              </a:rPr>
              <a:t>12</a:t>
            </a:r>
            <a:r>
              <a:rPr lang="zh-CN" altLang="en-US" sz="1800" b="0" i="0" u="none" strike="noStrike" baseline="0" dirty="0">
                <a:latin typeface="FZFSK--GBK1-0"/>
              </a:rPr>
              <a:t>年成为全球第一大网络零售市场，</a:t>
            </a:r>
            <a:r>
              <a:rPr lang="en-US" altLang="zh-CN" sz="1800" b="0" i="0" u="none" strike="noStrike" baseline="0" dirty="0">
                <a:latin typeface="TimesNewRomanPSMT"/>
              </a:rPr>
              <a:t>2024</a:t>
            </a:r>
            <a:r>
              <a:rPr lang="zh-CN" altLang="en-US" sz="1800" b="0" i="0" u="none" strike="noStrike" baseline="0" dirty="0">
                <a:latin typeface="FZFSK--GBK1-0"/>
              </a:rPr>
              <a:t>年网上零售额</a:t>
            </a:r>
            <a:r>
              <a:rPr lang="en-US" altLang="zh-CN" sz="1800" b="0" i="0" u="none" strike="noStrike" baseline="0" dirty="0">
                <a:latin typeface="TimesNewRomanPSMT"/>
              </a:rPr>
              <a:t>155225</a:t>
            </a:r>
            <a:r>
              <a:rPr lang="zh-CN" altLang="en-US" sz="1800" b="0" i="0" u="none" strike="noStrike" baseline="0" dirty="0">
                <a:latin typeface="FZFSK--GBK1-0"/>
              </a:rPr>
              <a:t>亿元，较上年增长</a:t>
            </a:r>
            <a:r>
              <a:rPr lang="en-US" altLang="zh-CN" sz="1800" b="0" i="0" u="none" strike="noStrike" baseline="0" dirty="0">
                <a:latin typeface="TimesNewRomanPSMT"/>
              </a:rPr>
              <a:t>7.2%</a:t>
            </a:r>
            <a:r>
              <a:rPr lang="zh-CN" altLang="en-US" sz="1800" b="0" i="0" u="none" strike="noStrike" baseline="0" dirty="0">
                <a:latin typeface="FZFSK--GBK1-0"/>
              </a:rPr>
              <a:t>，实物网络零售拉动社会网络零售增长</a:t>
            </a:r>
            <a:r>
              <a:rPr lang="en-US" altLang="zh-CN" sz="1800" b="0" i="0" u="none" strike="noStrike" baseline="0" dirty="0">
                <a:latin typeface="TimesNewRomanPSMT"/>
              </a:rPr>
              <a:t>1.7</a:t>
            </a:r>
            <a:r>
              <a:rPr lang="zh-CN" altLang="en-US" sz="1800" b="0" i="0" u="none" strike="noStrike" baseline="0" dirty="0">
                <a:latin typeface="FZFSK--GBK1-0"/>
              </a:rPr>
              <a:t>个百分点。</a:t>
            </a:r>
            <a:endParaRPr lang="zh-CN" altLang="en-US" dirty="0"/>
          </a:p>
        </p:txBody>
      </p:sp>
      <p:sp>
        <p:nvSpPr>
          <p:cNvPr id="2" name="矩形 1"/>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MG-文本框 11"/>
          <p:cNvSpPr txBox="1"/>
          <p:nvPr>
            <p:custDataLst>
              <p:tags r:id="rId2"/>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产业数字化转型</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6" name="组合 5"/>
          <p:cNvGrpSpPr/>
          <p:nvPr/>
        </p:nvGrpSpPr>
        <p:grpSpPr>
          <a:xfrm>
            <a:off x="10605916" y="-6858"/>
            <a:ext cx="1586085" cy="528405"/>
            <a:chOff x="10605916" y="5727392"/>
            <a:chExt cx="1586085" cy="528405"/>
          </a:xfrm>
        </p:grpSpPr>
        <p:sp>
          <p:nvSpPr>
            <p:cNvPr id="8" name="矩形 7"/>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0" name="文本框 9"/>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86555" y="1129793"/>
            <a:ext cx="7810306" cy="4472109"/>
          </a:xfrm>
        </p:spPr>
      </p:pic>
      <p:sp>
        <p:nvSpPr>
          <p:cNvPr id="7" name="文本框 6"/>
          <p:cNvSpPr txBox="1"/>
          <p:nvPr/>
        </p:nvSpPr>
        <p:spPr>
          <a:xfrm>
            <a:off x="1422023" y="5814833"/>
            <a:ext cx="4324696" cy="369332"/>
          </a:xfrm>
          <a:prstGeom prst="rect">
            <a:avLst/>
          </a:prstGeom>
          <a:noFill/>
        </p:spPr>
        <p:txBody>
          <a:bodyPr wrap="square">
            <a:spAutoFit/>
          </a:bodyPr>
          <a:lstStyle/>
          <a:p>
            <a:r>
              <a:rPr lang="en-US" altLang="zh-CN" sz="1800" b="0" i="0" u="none" strike="noStrike" baseline="0" dirty="0">
                <a:latin typeface="TimesNewRomanPSMT"/>
              </a:rPr>
              <a:t>2020 </a:t>
            </a:r>
            <a:r>
              <a:rPr lang="zh-CN" altLang="en-US" sz="1800" b="0" i="0" u="none" strike="noStrike" baseline="0" dirty="0">
                <a:latin typeface="FZHTK--GBK1-0"/>
              </a:rPr>
              <a:t>年</a:t>
            </a:r>
            <a:r>
              <a:rPr lang="en-US" altLang="zh-CN" sz="1800" b="0" i="0" u="none" strike="noStrike" baseline="0" dirty="0">
                <a:latin typeface="FZHTK--GBK1-0"/>
              </a:rPr>
              <a:t>—</a:t>
            </a:r>
            <a:r>
              <a:rPr lang="en-US" altLang="zh-CN" sz="1800" b="0" i="0" u="none" strike="noStrike" baseline="0" dirty="0">
                <a:latin typeface="TimesNewRomanPSMT"/>
              </a:rPr>
              <a:t>2024 </a:t>
            </a:r>
            <a:r>
              <a:rPr lang="zh-CN" altLang="en-US" sz="1800" b="0" i="0" u="none" strike="noStrike" baseline="0" dirty="0">
                <a:latin typeface="FZHTK--GBK1-0"/>
              </a:rPr>
              <a:t>年文化新业态营业收入</a:t>
            </a:r>
            <a:endParaRPr lang="zh-CN" altLang="en-US" dirty="0"/>
          </a:p>
        </p:txBody>
      </p:sp>
      <p:sp>
        <p:nvSpPr>
          <p:cNvPr id="9" name="文本框 8"/>
          <p:cNvSpPr txBox="1"/>
          <p:nvPr/>
        </p:nvSpPr>
        <p:spPr>
          <a:xfrm>
            <a:off x="9084608" y="6295105"/>
            <a:ext cx="4165369" cy="369332"/>
          </a:xfrm>
          <a:prstGeom prst="rect">
            <a:avLst/>
          </a:prstGeom>
          <a:noFill/>
        </p:spPr>
        <p:txBody>
          <a:bodyPr wrap="square">
            <a:spAutoFit/>
          </a:bodyPr>
          <a:lstStyle/>
          <a:p>
            <a:r>
              <a:rPr lang="zh-CN" altLang="en-US" dirty="0"/>
              <a:t>数据来源：国家统计局</a:t>
            </a:r>
            <a:endParaRPr lang="zh-CN" altLang="en-US" dirty="0"/>
          </a:p>
        </p:txBody>
      </p:sp>
      <p:sp>
        <p:nvSpPr>
          <p:cNvPr id="4" name="文本框 3"/>
          <p:cNvSpPr txBox="1"/>
          <p:nvPr/>
        </p:nvSpPr>
        <p:spPr>
          <a:xfrm>
            <a:off x="8604985" y="2627183"/>
            <a:ext cx="2983831" cy="2127634"/>
          </a:xfrm>
          <a:prstGeom prst="rect">
            <a:avLst/>
          </a:prstGeom>
          <a:noFill/>
        </p:spPr>
        <p:txBody>
          <a:bodyPr wrap="square">
            <a:spAutoFit/>
          </a:bodyPr>
          <a:lstStyle/>
          <a:p>
            <a:pPr indent="457200" algn="just">
              <a:lnSpc>
                <a:spcPct val="150000"/>
              </a:lnSpc>
            </a:pPr>
            <a:r>
              <a:rPr lang="zh-CN" altLang="en-US" dirty="0"/>
              <a:t>文化新业态特征较为明显的</a:t>
            </a:r>
            <a:r>
              <a:rPr lang="en-US" altLang="zh-CN" dirty="0"/>
              <a:t>16</a:t>
            </a:r>
            <a:r>
              <a:rPr lang="zh-CN" altLang="en-US" dirty="0"/>
              <a:t>个行业小类，实现营业收入</a:t>
            </a:r>
            <a:r>
              <a:rPr lang="en-US" altLang="zh-CN" dirty="0"/>
              <a:t>59082</a:t>
            </a:r>
            <a:r>
              <a:rPr lang="zh-CN" altLang="en-US" dirty="0"/>
              <a:t>亿元，比上年增长</a:t>
            </a:r>
            <a:r>
              <a:rPr lang="en-US" altLang="zh-CN" dirty="0"/>
              <a:t>9.8%</a:t>
            </a:r>
            <a:r>
              <a:rPr lang="zh-CN" altLang="en-US" dirty="0"/>
              <a:t>，快于全部规模以上文化企业</a:t>
            </a:r>
            <a:r>
              <a:rPr lang="en-US" altLang="zh-CN" dirty="0"/>
              <a:t>3.8</a:t>
            </a:r>
            <a:r>
              <a:rPr lang="zh-CN" altLang="en-US" dirty="0"/>
              <a:t>个百分点。</a:t>
            </a:r>
            <a:endParaRPr lang="zh-CN" altLang="en-US" dirty="0"/>
          </a:p>
        </p:txBody>
      </p:sp>
      <p:sp>
        <p:nvSpPr>
          <p:cNvPr id="6" name="矩形 5"/>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2"/>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产业数字化转型</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2" name="组合 11"/>
          <p:cNvGrpSpPr/>
          <p:nvPr/>
        </p:nvGrpSpPr>
        <p:grpSpPr>
          <a:xfrm>
            <a:off x="10605916" y="-6858"/>
            <a:ext cx="1586085" cy="528405"/>
            <a:chOff x="10605916" y="5727392"/>
            <a:chExt cx="1586085" cy="528405"/>
          </a:xfrm>
        </p:grpSpPr>
        <p:sp>
          <p:nvSpPr>
            <p:cNvPr id="13" name="矩形 12"/>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4" name="文本框 13"/>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0" y="1519107"/>
            <a:ext cx="8207893" cy="4140548"/>
          </a:xfrm>
        </p:spPr>
      </p:pic>
      <p:sp>
        <p:nvSpPr>
          <p:cNvPr id="7" name="文本框 6"/>
          <p:cNvSpPr txBox="1"/>
          <p:nvPr/>
        </p:nvSpPr>
        <p:spPr>
          <a:xfrm>
            <a:off x="1123640" y="6054381"/>
            <a:ext cx="6097384" cy="369332"/>
          </a:xfrm>
          <a:prstGeom prst="rect">
            <a:avLst/>
          </a:prstGeom>
          <a:noFill/>
        </p:spPr>
        <p:txBody>
          <a:bodyPr wrap="square">
            <a:spAutoFit/>
          </a:bodyPr>
          <a:lstStyle/>
          <a:p>
            <a:r>
              <a:rPr lang="en-US" altLang="zh-CN" dirty="0"/>
              <a:t>2020</a:t>
            </a:r>
            <a:r>
              <a:rPr lang="zh-CN" altLang="en-US" dirty="0"/>
              <a:t>年</a:t>
            </a:r>
            <a:r>
              <a:rPr lang="en-US" altLang="zh-CN" dirty="0"/>
              <a:t>—2024</a:t>
            </a:r>
            <a:r>
              <a:rPr lang="zh-CN" altLang="en-US" dirty="0"/>
              <a:t>年我国农村农产品网络零售额</a:t>
            </a:r>
            <a:endParaRPr lang="zh-CN" altLang="en-US" dirty="0"/>
          </a:p>
        </p:txBody>
      </p:sp>
      <p:sp>
        <p:nvSpPr>
          <p:cNvPr id="9" name="文本框 8"/>
          <p:cNvSpPr txBox="1"/>
          <p:nvPr/>
        </p:nvSpPr>
        <p:spPr>
          <a:xfrm>
            <a:off x="9561497" y="6239047"/>
            <a:ext cx="3800994" cy="369332"/>
          </a:xfrm>
          <a:prstGeom prst="rect">
            <a:avLst/>
          </a:prstGeom>
          <a:noFill/>
        </p:spPr>
        <p:txBody>
          <a:bodyPr wrap="square">
            <a:spAutoFit/>
          </a:bodyPr>
          <a:lstStyle/>
          <a:p>
            <a:r>
              <a:rPr lang="zh-CN" altLang="en-US" dirty="0"/>
              <a:t>数据来源：商务部</a:t>
            </a:r>
            <a:endParaRPr lang="zh-CN" altLang="en-US" dirty="0"/>
          </a:p>
        </p:txBody>
      </p:sp>
      <p:sp>
        <p:nvSpPr>
          <p:cNvPr id="4" name="文本框 3"/>
          <p:cNvSpPr txBox="1"/>
          <p:nvPr/>
        </p:nvSpPr>
        <p:spPr>
          <a:xfrm>
            <a:off x="8207893" y="1519107"/>
            <a:ext cx="3800994" cy="3789627"/>
          </a:xfrm>
          <a:prstGeom prst="rect">
            <a:avLst/>
          </a:prstGeom>
          <a:noFill/>
        </p:spPr>
        <p:txBody>
          <a:bodyPr wrap="square">
            <a:spAutoFit/>
          </a:bodyPr>
          <a:lstStyle/>
          <a:p>
            <a:pPr indent="457200" algn="just">
              <a:lnSpc>
                <a:spcPct val="150000"/>
              </a:lnSpc>
            </a:pPr>
            <a:r>
              <a:rPr lang="zh-CN" altLang="en-US" dirty="0"/>
              <a:t>农村电商焕发创新活力。着力打造“农村电商</a:t>
            </a:r>
            <a:r>
              <a:rPr lang="en-US" altLang="zh-CN" dirty="0"/>
              <a:t>+</a:t>
            </a:r>
            <a:r>
              <a:rPr lang="zh-CN" altLang="en-US" dirty="0"/>
              <a:t>产业带”，提升农村电商产业链供应链韧性和协同效能。“数商兴农”打通“农产品上行”通道，商务部举行多场重点对接会聚合农业需求和产能，推动农村和农产品网络零售额分别达到</a:t>
            </a:r>
            <a:r>
              <a:rPr lang="en-US" altLang="zh-CN" dirty="0"/>
              <a:t>2.65 </a:t>
            </a:r>
            <a:r>
              <a:rPr lang="zh-CN" altLang="en-US" dirty="0"/>
              <a:t>万亿元和</a:t>
            </a:r>
            <a:r>
              <a:rPr lang="en-US" altLang="zh-CN" dirty="0"/>
              <a:t>0.68 </a:t>
            </a:r>
            <a:r>
              <a:rPr lang="zh-CN" altLang="en-US" dirty="0"/>
              <a:t>万亿元，同比分别增长</a:t>
            </a:r>
            <a:r>
              <a:rPr lang="en-US" altLang="zh-CN" dirty="0"/>
              <a:t>6.4%</a:t>
            </a:r>
            <a:r>
              <a:rPr lang="zh-CN" altLang="en-US" dirty="0"/>
              <a:t>和</a:t>
            </a:r>
            <a:r>
              <a:rPr lang="en-US" altLang="zh-CN" dirty="0"/>
              <a:t>15.8%</a:t>
            </a:r>
            <a:endParaRPr lang="en-US" altLang="zh-CN" dirty="0"/>
          </a:p>
        </p:txBody>
      </p:sp>
      <p:sp>
        <p:nvSpPr>
          <p:cNvPr id="6" name="矩形 5"/>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2"/>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产业数字化转型</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2" name="组合 11"/>
          <p:cNvGrpSpPr/>
          <p:nvPr/>
        </p:nvGrpSpPr>
        <p:grpSpPr>
          <a:xfrm>
            <a:off x="10605916" y="-6858"/>
            <a:ext cx="1586085" cy="528405"/>
            <a:chOff x="10605916" y="5727392"/>
            <a:chExt cx="1586085" cy="528405"/>
          </a:xfrm>
        </p:grpSpPr>
        <p:sp>
          <p:nvSpPr>
            <p:cNvPr id="13" name="矩形 12"/>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4" name="文本框 13"/>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0" y="1300422"/>
            <a:ext cx="8151091" cy="4667239"/>
          </a:xfrm>
        </p:spPr>
      </p:pic>
      <p:sp>
        <p:nvSpPr>
          <p:cNvPr id="7" name="文本框 6"/>
          <p:cNvSpPr txBox="1"/>
          <p:nvPr/>
        </p:nvSpPr>
        <p:spPr>
          <a:xfrm>
            <a:off x="610692" y="6150134"/>
            <a:ext cx="7042265" cy="369332"/>
          </a:xfrm>
          <a:prstGeom prst="rect">
            <a:avLst/>
          </a:prstGeom>
          <a:noFill/>
        </p:spPr>
        <p:txBody>
          <a:bodyPr wrap="square">
            <a:spAutoFit/>
          </a:bodyPr>
          <a:lstStyle/>
          <a:p>
            <a:r>
              <a:rPr lang="en-US" altLang="zh-CN" sz="1800" b="0" i="0" u="none" strike="noStrike" baseline="0" dirty="0">
                <a:latin typeface="TimesNewRomanPSMT"/>
              </a:rPr>
              <a:t>2020</a:t>
            </a:r>
            <a:r>
              <a:rPr lang="zh-CN" altLang="en-US" sz="1800" b="0" i="0" u="none" strike="noStrike" baseline="0" dirty="0">
                <a:latin typeface="FZHTK--GBK1-0"/>
              </a:rPr>
              <a:t>年</a:t>
            </a:r>
            <a:r>
              <a:rPr lang="en-US" altLang="zh-CN" sz="1800" b="0" i="0" u="none" strike="noStrike" baseline="0" dirty="0">
                <a:latin typeface="FZHTK--GBK1-0"/>
              </a:rPr>
              <a:t>—</a:t>
            </a:r>
            <a:r>
              <a:rPr lang="en-US" altLang="zh-CN" sz="1800" b="0" i="0" u="none" strike="noStrike" baseline="0" dirty="0">
                <a:latin typeface="TimesNewRomanPSMT"/>
              </a:rPr>
              <a:t>2024</a:t>
            </a:r>
            <a:r>
              <a:rPr lang="zh-CN" altLang="en-US" sz="1800" b="0" i="0" u="none" strike="noStrike" baseline="0" dirty="0">
                <a:latin typeface="FZHTK--GBK1-0"/>
              </a:rPr>
              <a:t>年电子信息制造业投资和全部固定资产投资同比增速</a:t>
            </a:r>
            <a:endParaRPr lang="zh-CN" altLang="en-US" dirty="0"/>
          </a:p>
        </p:txBody>
      </p:sp>
      <p:sp>
        <p:nvSpPr>
          <p:cNvPr id="9" name="文本框 8"/>
          <p:cNvSpPr txBox="1"/>
          <p:nvPr/>
        </p:nvSpPr>
        <p:spPr>
          <a:xfrm>
            <a:off x="9338802" y="6318712"/>
            <a:ext cx="2978034" cy="369332"/>
          </a:xfrm>
          <a:prstGeom prst="rect">
            <a:avLst/>
          </a:prstGeom>
          <a:noFill/>
        </p:spPr>
        <p:txBody>
          <a:bodyPr wrap="square">
            <a:spAutoFit/>
          </a:bodyPr>
          <a:lstStyle/>
          <a:p>
            <a:r>
              <a:rPr lang="zh-CN" altLang="en-US" sz="1800" b="0" i="0" u="none" strike="noStrike" baseline="0" dirty="0">
                <a:latin typeface="FZFSK--GBK1-0"/>
              </a:rPr>
              <a:t>数据来源：国家统计局</a:t>
            </a:r>
            <a:endParaRPr lang="zh-CN" altLang="en-US" dirty="0"/>
          </a:p>
        </p:txBody>
      </p:sp>
      <p:sp>
        <p:nvSpPr>
          <p:cNvPr id="4" name="文本框 3"/>
          <p:cNvSpPr txBox="1"/>
          <p:nvPr/>
        </p:nvSpPr>
        <p:spPr>
          <a:xfrm>
            <a:off x="8537607" y="2238220"/>
            <a:ext cx="3149867" cy="2956963"/>
          </a:xfrm>
          <a:prstGeom prst="rect">
            <a:avLst/>
          </a:prstGeom>
          <a:noFill/>
        </p:spPr>
        <p:txBody>
          <a:bodyPr wrap="square">
            <a:spAutoFit/>
          </a:bodyPr>
          <a:lstStyle/>
          <a:p>
            <a:pPr indent="457200" algn="just">
              <a:lnSpc>
                <a:spcPct val="150000"/>
              </a:lnSpc>
            </a:pPr>
            <a:r>
              <a:rPr lang="en-US" altLang="zh-CN" sz="1800" b="0" i="0" u="none" strike="noStrike" baseline="0" dirty="0">
                <a:latin typeface="TimesNewRomanPSMT"/>
              </a:rPr>
              <a:t>2024</a:t>
            </a:r>
            <a:r>
              <a:rPr lang="zh-CN" altLang="en-US" sz="1800" b="0" i="0" u="none" strike="noStrike" baseline="0" dirty="0">
                <a:latin typeface="FZFSK--GBK1-0"/>
              </a:rPr>
              <a:t>年，电子信息制造业投资同比增长</a:t>
            </a:r>
            <a:r>
              <a:rPr lang="en-US" altLang="zh-CN" sz="1800" b="0" i="0" u="none" strike="noStrike" baseline="0" dirty="0">
                <a:latin typeface="TimesNewRomanPSMT"/>
              </a:rPr>
              <a:t>12.0%</a:t>
            </a:r>
            <a:r>
              <a:rPr lang="zh-CN" altLang="en-US" sz="1800" b="0" i="0" u="none" strike="noStrike" baseline="0" dirty="0">
                <a:latin typeface="FZFSK--GBK1-0"/>
              </a:rPr>
              <a:t>，高出</a:t>
            </a:r>
            <a:r>
              <a:rPr lang="en-US" altLang="zh-CN" sz="1800" b="0" i="0" u="none" strike="noStrike" baseline="0" dirty="0">
                <a:latin typeface="TimesNewRomanPSMT"/>
              </a:rPr>
              <a:t>2024</a:t>
            </a:r>
            <a:r>
              <a:rPr lang="zh-CN" altLang="en-US" sz="1800" b="0" i="0" u="none" strike="noStrike" baseline="0" dirty="0">
                <a:latin typeface="FZFSK--GBK1-0"/>
              </a:rPr>
              <a:t>年全部固定资产投资增速</a:t>
            </a:r>
            <a:r>
              <a:rPr lang="en-US" altLang="zh-CN" sz="1800" b="0" i="0" u="none" strike="noStrike" baseline="0" dirty="0">
                <a:latin typeface="TimesNewRomanPSMT"/>
              </a:rPr>
              <a:t>8.8</a:t>
            </a:r>
            <a:r>
              <a:rPr lang="zh-CN" altLang="en-US" sz="1800" b="0" i="0" u="none" strike="noStrike" baseline="0" dirty="0">
                <a:latin typeface="FZFSK--GBK1-0"/>
              </a:rPr>
              <a:t>个百分点；信息服务业投资同比增长</a:t>
            </a:r>
            <a:r>
              <a:rPr lang="en-US" altLang="zh-CN" sz="1800" b="0" i="0" u="none" strike="noStrike" baseline="0" dirty="0">
                <a:latin typeface="TimesNewRomanPSMT"/>
              </a:rPr>
              <a:t>10.3%</a:t>
            </a:r>
            <a:r>
              <a:rPr lang="zh-CN" altLang="en-US" sz="1800" b="0" i="0" u="none" strike="noStrike" baseline="0" dirty="0">
                <a:latin typeface="FZFSK--GBK1-0"/>
              </a:rPr>
              <a:t>，高出</a:t>
            </a:r>
            <a:r>
              <a:rPr lang="en-US" altLang="zh-CN" sz="1800" b="0" i="0" u="none" strike="noStrike" baseline="0" dirty="0">
                <a:latin typeface="TimesNewRomanPSMT"/>
              </a:rPr>
              <a:t>2024</a:t>
            </a:r>
            <a:r>
              <a:rPr lang="zh-CN" altLang="en-US" sz="1800" b="0" i="0" u="none" strike="noStrike" baseline="0" dirty="0">
                <a:latin typeface="FZFSK--GBK1-0"/>
              </a:rPr>
              <a:t>年全部固定资产投资增速</a:t>
            </a:r>
            <a:r>
              <a:rPr lang="en-US" altLang="zh-CN" sz="1800" b="0" i="0" u="none" strike="noStrike" baseline="0" dirty="0">
                <a:latin typeface="TimesNewRomanPSMT"/>
              </a:rPr>
              <a:t>7.1</a:t>
            </a:r>
            <a:r>
              <a:rPr lang="zh-CN" altLang="en-US" sz="1800" b="0" i="0" u="none" strike="noStrike" baseline="0" dirty="0">
                <a:latin typeface="FZFSK--GBK1-0"/>
              </a:rPr>
              <a:t>个百分点。</a:t>
            </a:r>
            <a:endParaRPr lang="zh-CN" altLang="en-US" dirty="0"/>
          </a:p>
        </p:txBody>
      </p:sp>
      <p:sp>
        <p:nvSpPr>
          <p:cNvPr id="6" name="矩形 5"/>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2"/>
            </p:custDataLst>
          </p:nvPr>
        </p:nvSpPr>
        <p:spPr>
          <a:xfrm>
            <a:off x="177739" y="17659"/>
            <a:ext cx="6444442"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产业数字化转型</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2" name="组合 11"/>
          <p:cNvGrpSpPr/>
          <p:nvPr/>
        </p:nvGrpSpPr>
        <p:grpSpPr>
          <a:xfrm>
            <a:off x="10605916" y="-6858"/>
            <a:ext cx="1586085" cy="528405"/>
            <a:chOff x="10605916" y="5727392"/>
            <a:chExt cx="1586085" cy="528405"/>
          </a:xfrm>
        </p:grpSpPr>
        <p:sp>
          <p:nvSpPr>
            <p:cNvPr id="13" name="矩形 12"/>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4" name="文本框 13"/>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8042236"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产业数字化转型</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江西数字化农业</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3277116"/>
          </a:xfrm>
          <a:prstGeom prst="rect">
            <a:avLst/>
          </a:prstGeom>
          <a:noFill/>
        </p:spPr>
        <p:txBody>
          <a:bodyPr wrap="square">
            <a:spAutoFit/>
          </a:bodyPr>
          <a:lstStyle/>
          <a:p>
            <a:pPr indent="457200" algn="just">
              <a:lnSpc>
                <a:spcPct val="150000"/>
              </a:lnSpc>
            </a:pPr>
            <a:r>
              <a:rPr lang="zh-CN" altLang="en-US" sz="2000" dirty="0"/>
              <a:t>农业农村部门发布的监测数据显示，江西省全省农产品网络零售额从</a:t>
            </a:r>
            <a:r>
              <a:rPr lang="en-US" altLang="zh-CN" sz="2000" dirty="0"/>
              <a:t>2022</a:t>
            </a:r>
            <a:r>
              <a:rPr lang="zh-CN" altLang="en-US" sz="2000" dirty="0"/>
              <a:t>年的</a:t>
            </a:r>
            <a:r>
              <a:rPr lang="en-US" altLang="zh-CN" sz="2000" dirty="0"/>
              <a:t>76</a:t>
            </a:r>
            <a:r>
              <a:rPr lang="zh-CN" altLang="en-US" sz="2000" dirty="0"/>
              <a:t>亿元增长到</a:t>
            </a:r>
            <a:r>
              <a:rPr lang="en-US" altLang="zh-CN" sz="2000" dirty="0"/>
              <a:t>2023</a:t>
            </a:r>
            <a:r>
              <a:rPr lang="zh-CN" altLang="en-US" sz="2000" dirty="0"/>
              <a:t>年的</a:t>
            </a:r>
            <a:r>
              <a:rPr lang="en-US" altLang="zh-CN" sz="2000" dirty="0"/>
              <a:t>200.1</a:t>
            </a:r>
            <a:r>
              <a:rPr lang="zh-CN" altLang="en-US" sz="2000" dirty="0"/>
              <a:t>亿元，再到</a:t>
            </a:r>
            <a:r>
              <a:rPr lang="en-US" altLang="zh-CN" sz="2000" dirty="0"/>
              <a:t>2024</a:t>
            </a:r>
            <a:r>
              <a:rPr lang="zh-CN" altLang="en-US" sz="2000" dirty="0"/>
              <a:t>年突破</a:t>
            </a:r>
            <a:r>
              <a:rPr lang="en-US" altLang="zh-CN" sz="2000" dirty="0"/>
              <a:t>300</a:t>
            </a:r>
            <a:r>
              <a:rPr lang="zh-CN" altLang="en-US" sz="2000" dirty="0"/>
              <a:t>亿元大关，达到</a:t>
            </a:r>
            <a:r>
              <a:rPr lang="en-US" altLang="zh-CN" sz="2000" dirty="0"/>
              <a:t>308.7</a:t>
            </a:r>
            <a:r>
              <a:rPr lang="zh-CN" altLang="en-US" sz="2000" dirty="0"/>
              <a:t>亿元，连续三年实现零售额的快速提升。更值得注意的是，</a:t>
            </a:r>
            <a:r>
              <a:rPr lang="zh-CN" altLang="en-US" sz="2000" dirty="0">
                <a:solidFill>
                  <a:srgbClr val="C00000"/>
                </a:solidFill>
              </a:rPr>
              <a:t>电商成为了江西省脱贫攻坚和乡村振兴的新利器</a:t>
            </a:r>
            <a:r>
              <a:rPr lang="zh-CN" altLang="en-US" sz="2000" dirty="0"/>
              <a:t>。</a:t>
            </a:r>
            <a:endParaRPr lang="zh-CN" altLang="en-US" sz="2000" dirty="0"/>
          </a:p>
          <a:p>
            <a:pPr indent="457200" algn="just">
              <a:lnSpc>
                <a:spcPct val="150000"/>
              </a:lnSpc>
            </a:pPr>
            <a:r>
              <a:rPr lang="zh-CN" altLang="en-US" sz="2000" dirty="0"/>
              <a:t>江西省司法厅</a:t>
            </a:r>
            <a:r>
              <a:rPr lang="en-US" altLang="zh-CN" sz="2000" dirty="0"/>
              <a:t>2023</a:t>
            </a:r>
            <a:r>
              <a:rPr lang="zh-CN" altLang="en-US" sz="2000" dirty="0"/>
              <a:t>年</a:t>
            </a:r>
            <a:r>
              <a:rPr lang="en-US" altLang="zh-CN" sz="2000" dirty="0"/>
              <a:t>6</a:t>
            </a:r>
            <a:r>
              <a:rPr lang="zh-CN" altLang="en-US" sz="2000" dirty="0"/>
              <a:t>月发布的数据显示，江西省先后获批国家电商进农村综合示范县</a:t>
            </a:r>
            <a:r>
              <a:rPr lang="en-US" altLang="zh-CN" sz="2000" dirty="0"/>
              <a:t>52</a:t>
            </a:r>
            <a:r>
              <a:rPr lang="zh-CN" altLang="en-US" sz="2000" dirty="0"/>
              <a:t>个</a:t>
            </a:r>
            <a:r>
              <a:rPr lang="en-US" altLang="zh-CN" sz="2000" dirty="0"/>
              <a:t>58</a:t>
            </a:r>
            <a:r>
              <a:rPr lang="zh-CN" altLang="en-US" sz="2000" dirty="0"/>
              <a:t>批次，省级电商进农村示范县</a:t>
            </a:r>
            <a:r>
              <a:rPr lang="en-US" altLang="zh-CN" sz="2000" dirty="0"/>
              <a:t>10</a:t>
            </a:r>
            <a:r>
              <a:rPr lang="zh-CN" altLang="en-US" sz="2000" dirty="0"/>
              <a:t>个、省级电商扶贫重点县</a:t>
            </a:r>
            <a:r>
              <a:rPr lang="en-US" altLang="zh-CN" sz="2000" dirty="0"/>
              <a:t>12</a:t>
            </a:r>
            <a:r>
              <a:rPr lang="zh-CN" altLang="en-US" sz="2000" dirty="0"/>
              <a:t>个，并涌现淘宝镇</a:t>
            </a:r>
            <a:r>
              <a:rPr lang="en-US" altLang="zh-CN" sz="2000" dirty="0"/>
              <a:t>95</a:t>
            </a:r>
            <a:r>
              <a:rPr lang="zh-CN" altLang="en-US" sz="2000" dirty="0"/>
              <a:t>个、淘宝村</a:t>
            </a:r>
            <a:r>
              <a:rPr lang="en-US" altLang="zh-CN" sz="2000" dirty="0"/>
              <a:t>66</a:t>
            </a:r>
            <a:r>
              <a:rPr lang="zh-CN" altLang="en-US" sz="2000" dirty="0"/>
              <a:t>个。与此同时，农村电商基础设施也得到了极大改善，江西农产品逐步从“卖得掉”走向“卖得好”、“卖得久”。农村电商数量不断增加，支撑体系不断完善，发展规模不断扩大。</a:t>
            </a:r>
            <a:endParaRPr lang="zh-CN" altLang="en-US" sz="2000" dirty="0"/>
          </a:p>
        </p:txBody>
      </p:sp>
      <p:sp>
        <p:nvSpPr>
          <p:cNvPr id="3" name="文本框 2"/>
          <p:cNvSpPr txBox="1"/>
          <p:nvPr/>
        </p:nvSpPr>
        <p:spPr>
          <a:xfrm>
            <a:off x="3031958" y="5192438"/>
            <a:ext cx="8547233" cy="584775"/>
          </a:xfrm>
          <a:prstGeom prst="rect">
            <a:avLst/>
          </a:prstGeom>
          <a:noFill/>
        </p:spPr>
        <p:txBody>
          <a:bodyPr wrap="square">
            <a:spAutoFit/>
          </a:bodyPr>
          <a:lstStyle/>
          <a:p>
            <a:r>
              <a:rPr lang="zh-CN" altLang="en-US" sz="1600" dirty="0"/>
              <a:t>文章引用：吴怡洁</a:t>
            </a:r>
            <a:r>
              <a:rPr lang="en-US" altLang="zh-CN" sz="1600" dirty="0"/>
              <a:t>. </a:t>
            </a:r>
            <a:r>
              <a:rPr lang="zh-CN" altLang="en-US" sz="1600" dirty="0"/>
              <a:t>乡村振兴背景下江西省农村电子商务发展研究</a:t>
            </a:r>
            <a:r>
              <a:rPr lang="en-US" altLang="zh-CN" sz="1600" dirty="0"/>
              <a:t>[J]. </a:t>
            </a:r>
            <a:r>
              <a:rPr lang="zh-CN" altLang="en-US" sz="1600" dirty="0"/>
              <a:t>电子商务评论</a:t>
            </a:r>
            <a:r>
              <a:rPr lang="en-US" altLang="zh-CN" sz="1600" dirty="0"/>
              <a:t>, 2025, 14(6): 993-1000. https://doi.org/10.12677/ecl.2025.1461826</a:t>
            </a:r>
            <a:endParaRPr lang="zh-CN" alt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8042236"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政务服务与社会治理</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4708981"/>
          </a:xfrm>
          <a:prstGeom prst="rect">
            <a:avLst/>
          </a:prstGeom>
          <a:noFill/>
        </p:spPr>
        <p:txBody>
          <a:bodyPr wrap="square">
            <a:spAutoFit/>
          </a:bodyPr>
          <a:lstStyle/>
          <a:p>
            <a:pPr indent="457200" algn="just"/>
            <a:r>
              <a:rPr lang="zh-CN" altLang="en-US" sz="2000" b="1" dirty="0">
                <a:solidFill>
                  <a:srgbClr val="C00000"/>
                </a:solidFill>
              </a:rPr>
              <a:t>优化营商环境</a:t>
            </a:r>
            <a:endParaRPr lang="zh-CN" altLang="en-US" sz="2000" b="1" dirty="0">
              <a:solidFill>
                <a:srgbClr val="C00000"/>
              </a:solidFill>
            </a:endParaRPr>
          </a:p>
          <a:p>
            <a:pPr marL="342900" indent="-342900" algn="just">
              <a:buFont typeface="Arial" panose="020B0604020202020204" pitchFamily="34" charset="0"/>
              <a:buChar char="•"/>
            </a:pPr>
            <a:r>
              <a:rPr lang="zh-CN" altLang="en-US" sz="2000" dirty="0"/>
              <a:t> 简化行政审批流程：</a:t>
            </a:r>
            <a:endParaRPr lang="zh-CN" altLang="en-US" sz="2000" dirty="0"/>
          </a:p>
          <a:p>
            <a:pPr marL="800100" lvl="1" indent="-342900" algn="just">
              <a:buFont typeface="Arial" panose="020B0604020202020204" pitchFamily="34" charset="0"/>
              <a:buChar char="•"/>
            </a:pPr>
            <a:r>
              <a:rPr lang="zh-CN" altLang="en-US" sz="2000" dirty="0"/>
              <a:t>九江市县乡村四级智慧政务一体化项目：九江市通过建设“市县乡村”四级智慧政务一体化项目，整合各类政务资源，推动政务服务流程再造和数字化转型，提升政务服务效率。</a:t>
            </a:r>
            <a:endParaRPr lang="zh-CN" altLang="en-US" sz="2000" dirty="0"/>
          </a:p>
          <a:p>
            <a:pPr marL="342900" indent="-342900" algn="just">
              <a:buFont typeface="Arial" panose="020B0604020202020204" pitchFamily="34" charset="0"/>
              <a:buChar char="•"/>
            </a:pPr>
            <a:r>
              <a:rPr lang="zh-CN" altLang="en-US" sz="2000" dirty="0"/>
              <a:t> 提升政务服务效能：</a:t>
            </a:r>
            <a:endParaRPr lang="zh-CN" altLang="en-US" sz="2000" dirty="0"/>
          </a:p>
          <a:p>
            <a:pPr marL="800100" lvl="1" indent="-342900" algn="just">
              <a:buFont typeface="Arial" panose="020B0604020202020204" pitchFamily="34" charset="0"/>
              <a:buChar char="•"/>
            </a:pPr>
            <a:r>
              <a:rPr lang="zh-CN" altLang="en-US" sz="2000" dirty="0"/>
              <a:t> “赣服通”平台：“赣服通”是江西重点打造的移动政务服务平台，通过提升平台功能，基本实现政务服务高频事项“省内通办”“跨省通办”，推行“不见面”办事，打造全国“一网通办”标杆。</a:t>
            </a:r>
            <a:endParaRPr lang="zh-CN" altLang="en-US" sz="2000" dirty="0"/>
          </a:p>
          <a:p>
            <a:pPr marL="800100" lvl="1" indent="-342900" algn="just">
              <a:buFont typeface="Arial" panose="020B0604020202020204" pitchFamily="34" charset="0"/>
              <a:buChar char="•"/>
            </a:pPr>
            <a:r>
              <a:rPr lang="zh-CN" altLang="en-US" sz="2000" dirty="0"/>
              <a:t> 南昌市智治赋能“昌治久安”：南昌市通过建设市域社会治理综合应用平台，打造了智防风险、智能指挥、智惠服务、智辅决策、智效办公</a:t>
            </a:r>
            <a:r>
              <a:rPr lang="en-US" altLang="zh-CN" sz="2000" dirty="0"/>
              <a:t>5</a:t>
            </a:r>
            <a:r>
              <a:rPr lang="zh-CN" altLang="en-US" sz="2000" dirty="0"/>
              <a:t>大功能板块，提升社会治理精细化水平。</a:t>
            </a:r>
            <a:endParaRPr lang="zh-CN" altLang="en-US" sz="2000" dirty="0"/>
          </a:p>
          <a:p>
            <a:pPr marL="342900" indent="-342900" algn="just">
              <a:buFont typeface="Arial" panose="020B0604020202020204" pitchFamily="34" charset="0"/>
              <a:buChar char="•"/>
            </a:pPr>
            <a:r>
              <a:rPr lang="zh-CN" altLang="en-US" sz="2000" dirty="0"/>
              <a:t> 加强政策精准推送：</a:t>
            </a:r>
            <a:endParaRPr lang="zh-CN" altLang="en-US" sz="2000" dirty="0"/>
          </a:p>
          <a:p>
            <a:pPr marL="800100" lvl="1" indent="-342900" algn="just">
              <a:buFont typeface="Arial" panose="020B0604020202020204" pitchFamily="34" charset="0"/>
              <a:buChar char="•"/>
            </a:pPr>
            <a:r>
              <a:rPr lang="zh-CN" altLang="en-US" sz="2000" dirty="0"/>
              <a:t> 抚州市“两山”转化智能综合服务平台：抚州市引入数字化应用技术，对生态产品相关信息进行整合，实现评估、交易、收储、金融、政策咨询等服务“一窗受理、一键直达、一站办结”，推动生态优势转化为经济优势。</a:t>
            </a:r>
            <a:endParaRPr lang="zh-CN" alt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8042236"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政务服务与社会治理</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3477875"/>
          </a:xfrm>
          <a:prstGeom prst="rect">
            <a:avLst/>
          </a:prstGeom>
          <a:noFill/>
        </p:spPr>
        <p:txBody>
          <a:bodyPr wrap="square">
            <a:spAutoFit/>
          </a:bodyPr>
          <a:lstStyle/>
          <a:p>
            <a:pPr lvl="1" algn="just"/>
            <a:r>
              <a:rPr lang="zh-CN" altLang="en-US" sz="2000" b="1" dirty="0">
                <a:solidFill>
                  <a:srgbClr val="C00000"/>
                </a:solidFill>
              </a:rPr>
              <a:t>提升市场监管效能</a:t>
            </a:r>
            <a:endParaRPr lang="zh-CN" altLang="en-US" sz="2000" b="1" dirty="0">
              <a:solidFill>
                <a:srgbClr val="C00000"/>
              </a:solidFill>
            </a:endParaRPr>
          </a:p>
          <a:p>
            <a:pPr marL="342900" indent="-342900" algn="just">
              <a:buFont typeface="Arial" panose="020B0604020202020204" pitchFamily="34" charset="0"/>
              <a:buChar char="•"/>
            </a:pPr>
            <a:r>
              <a:rPr lang="zh-CN" altLang="en-US" sz="2000" dirty="0"/>
              <a:t> 强化数据共享与协同监管：</a:t>
            </a:r>
            <a:endParaRPr lang="zh-CN" altLang="en-US" sz="2000" dirty="0"/>
          </a:p>
          <a:p>
            <a:pPr marL="800100" lvl="1" indent="-342900" algn="just">
              <a:buFont typeface="Arial" panose="020B0604020202020204" pitchFamily="34" charset="0"/>
              <a:buChar char="•"/>
            </a:pPr>
            <a:r>
              <a:rPr lang="zh-CN" altLang="en-US" sz="2000" dirty="0"/>
              <a:t> 吉安市数据专员制度：吉安市通过数据专员制度改革，重点在普惠金融、教育服务、城市管理等领域强化数据治理，推动形成市县一体化“移动掌上端数据共享应用体系”。</a:t>
            </a:r>
            <a:endParaRPr lang="zh-CN" altLang="en-US" sz="2000" dirty="0"/>
          </a:p>
          <a:p>
            <a:pPr marL="800100" lvl="1" indent="-342900" algn="just">
              <a:buFont typeface="Arial" panose="020B0604020202020204" pitchFamily="34" charset="0"/>
              <a:buChar char="•"/>
            </a:pPr>
            <a:r>
              <a:rPr lang="zh-CN" altLang="en-US" sz="2000" dirty="0"/>
              <a:t> 南昌市市域社会治理综合应用平台：南昌市依托市综治中心，对全市</a:t>
            </a:r>
            <a:r>
              <a:rPr lang="en-US" altLang="zh-CN" sz="2000" dirty="0"/>
              <a:t>12</a:t>
            </a:r>
            <a:r>
              <a:rPr lang="zh-CN" altLang="en-US" sz="2000" dirty="0"/>
              <a:t>个县区、</a:t>
            </a:r>
            <a:r>
              <a:rPr lang="en-US" altLang="zh-CN" sz="2000" dirty="0"/>
              <a:t>25</a:t>
            </a:r>
            <a:r>
              <a:rPr lang="zh-CN" altLang="en-US" sz="2000" dirty="0"/>
              <a:t>个有关职能部门社会治理信息化平台进行功能集成，建成了全市统一使用的市域社会治理综合应用平台。</a:t>
            </a:r>
            <a:endParaRPr lang="zh-CN" altLang="en-US" sz="2000" dirty="0"/>
          </a:p>
          <a:p>
            <a:pPr marL="342900" indent="-342900" algn="just">
              <a:buFont typeface="Arial" panose="020B0604020202020204" pitchFamily="34" charset="0"/>
              <a:buChar char="•"/>
            </a:pPr>
            <a:r>
              <a:rPr lang="zh-CN" altLang="en-US" sz="2000" dirty="0"/>
              <a:t> 利用人工智能技术实现智能监管：</a:t>
            </a:r>
            <a:endParaRPr lang="zh-CN" altLang="en-US" sz="2000" dirty="0"/>
          </a:p>
          <a:p>
            <a:pPr marL="800100" lvl="1" indent="-342900" algn="just">
              <a:buFont typeface="Arial" panose="020B0604020202020204" pitchFamily="34" charset="0"/>
              <a:buChar char="•"/>
            </a:pPr>
            <a:r>
              <a:rPr lang="zh-CN" altLang="en-US" sz="2000" dirty="0"/>
              <a:t> 南昌市“风险画像”功能模块：南昌市研发了具有自主学习能力的“风险画像”功能模块，通过对中国裁判文书网</a:t>
            </a:r>
            <a:r>
              <a:rPr lang="en-US" altLang="zh-CN" sz="2000" dirty="0"/>
              <a:t>4000</a:t>
            </a:r>
            <a:r>
              <a:rPr lang="zh-CN" altLang="en-US" sz="2000" dirty="0"/>
              <a:t>余例“民转刑”命案样本及全市历年</a:t>
            </a:r>
            <a:r>
              <a:rPr lang="en-US" altLang="zh-CN" sz="2000" dirty="0"/>
              <a:t>4900</a:t>
            </a:r>
            <a:r>
              <a:rPr lang="zh-CN" altLang="en-US" sz="2000" dirty="0"/>
              <a:t>余例越级非访案件样本进行智能学习，准确识别隐性风险人员。</a:t>
            </a:r>
            <a:endParaRPr lang="zh-CN" alt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8042236"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政务服务与社会治理</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4093428"/>
          </a:xfrm>
          <a:prstGeom prst="rect">
            <a:avLst/>
          </a:prstGeom>
          <a:noFill/>
        </p:spPr>
        <p:txBody>
          <a:bodyPr wrap="square">
            <a:spAutoFit/>
          </a:bodyPr>
          <a:lstStyle/>
          <a:p>
            <a:pPr indent="457200" algn="just"/>
            <a:r>
              <a:rPr lang="zh-CN" altLang="en-US" sz="2000" b="1" dirty="0">
                <a:solidFill>
                  <a:srgbClr val="C00000"/>
                </a:solidFill>
              </a:rPr>
              <a:t>优化公共服务供给</a:t>
            </a:r>
            <a:endParaRPr lang="zh-CN" altLang="en-US" sz="2000" b="1" dirty="0">
              <a:solidFill>
                <a:srgbClr val="C00000"/>
              </a:solidFill>
            </a:endParaRPr>
          </a:p>
          <a:p>
            <a:pPr marL="342900" indent="-342900" algn="just">
              <a:buFont typeface="Arial" panose="020B0604020202020204" pitchFamily="34" charset="0"/>
              <a:buChar char="•"/>
            </a:pPr>
            <a:r>
              <a:rPr lang="zh-CN" altLang="en-US" sz="2000" dirty="0"/>
              <a:t>提升公共服务的智能化水平：</a:t>
            </a:r>
            <a:endParaRPr lang="zh-CN" altLang="en-US" sz="2000" dirty="0"/>
          </a:p>
          <a:p>
            <a:pPr marL="800100" lvl="1" indent="-342900" algn="just">
              <a:buFont typeface="Arial" panose="020B0604020202020204" pitchFamily="34" charset="0"/>
              <a:buChar char="•"/>
            </a:pPr>
            <a:r>
              <a:rPr lang="zh-CN" altLang="en-US" sz="2000" dirty="0"/>
              <a:t>吉安市“吉数通”平台：吉安市通过“吉数通”平台，推动形成了“上学一件事”“吉惠通”等一批特色应用，提升公共服务的智能化水平。</a:t>
            </a:r>
            <a:endParaRPr lang="zh-CN" altLang="en-US" sz="2000" dirty="0"/>
          </a:p>
          <a:p>
            <a:pPr marL="800100" lvl="1" indent="-342900" algn="just">
              <a:buFont typeface="Arial" panose="020B0604020202020204" pitchFamily="34" charset="0"/>
              <a:buChar char="•"/>
            </a:pPr>
            <a:r>
              <a:rPr lang="zh-CN" altLang="en-US" sz="2000" dirty="0"/>
              <a:t>南昌市“一站式”多元解纷中心：南昌市在全市各县区全覆盖建立了“一站式”多元解纷中心，整合综治中心、公共法律服务中心、诉调对接中心、“昌治久安”</a:t>
            </a:r>
            <a:r>
              <a:rPr lang="en-US" altLang="zh-CN" sz="2000" dirty="0"/>
              <a:t>APP</a:t>
            </a:r>
            <a:r>
              <a:rPr lang="zh-CN" altLang="en-US" sz="2000" dirty="0"/>
              <a:t>等平台搜集的矛盾纠纷数据，打造矛盾纠纷“数据池”。</a:t>
            </a:r>
            <a:endParaRPr lang="zh-CN" altLang="en-US" sz="2000" dirty="0"/>
          </a:p>
          <a:p>
            <a:pPr marL="342900" indent="-342900" algn="just">
              <a:buFont typeface="Arial" panose="020B0604020202020204" pitchFamily="34" charset="0"/>
              <a:buChar char="•"/>
            </a:pPr>
            <a:r>
              <a:rPr lang="zh-CN" altLang="en-US" sz="2000" dirty="0"/>
              <a:t>促进公共服务与数字经济融合发展：</a:t>
            </a:r>
            <a:endParaRPr lang="zh-CN" altLang="en-US" sz="2000" dirty="0"/>
          </a:p>
          <a:p>
            <a:pPr marL="800100" lvl="1" indent="-342900" algn="just">
              <a:buFont typeface="Arial" panose="020B0604020202020204" pitchFamily="34" charset="0"/>
              <a:buChar char="•"/>
            </a:pPr>
            <a:r>
              <a:rPr lang="zh-CN" altLang="en-US" sz="2000" dirty="0"/>
              <a:t>抚州市“两山”转化智能综合服务平台：抚州市通过“两山”转化智能综合服务平台，实现生态优势转化为经济优势，推动数字生态文明建设，促进经济社会可持续发展。</a:t>
            </a:r>
            <a:endParaRPr lang="zh-CN" altLang="en-US" sz="2000" dirty="0"/>
          </a:p>
          <a:p>
            <a:pPr marL="800100" lvl="1" indent="-342900" algn="just">
              <a:buFont typeface="Arial" panose="020B0604020202020204" pitchFamily="34" charset="0"/>
              <a:buChar char="•"/>
            </a:pPr>
            <a:r>
              <a:rPr lang="zh-CN" altLang="en-US" sz="2000" dirty="0"/>
              <a:t>南昌市“智慧视觉”视频云中心：南昌市配套打造了整体存储容量超</a:t>
            </a:r>
            <a:r>
              <a:rPr lang="en-US" altLang="zh-CN" sz="2000" dirty="0"/>
              <a:t>100PB</a:t>
            </a:r>
            <a:r>
              <a:rPr lang="zh-CN" altLang="en-US" sz="2000" dirty="0"/>
              <a:t>、日均分析处理能力超</a:t>
            </a:r>
            <a:r>
              <a:rPr lang="en-US" altLang="zh-CN" sz="2000" dirty="0"/>
              <a:t>3</a:t>
            </a:r>
            <a:r>
              <a:rPr lang="zh-CN" altLang="en-US" sz="2000" dirty="0"/>
              <a:t>亿张图片的“智慧视觉”视频云中心，实现“雪亮工程”视频资源开放共享至市、县、乡、村</a:t>
            </a:r>
            <a:r>
              <a:rPr lang="en-US" altLang="zh-CN" sz="2000" dirty="0"/>
              <a:t>2138</a:t>
            </a:r>
            <a:r>
              <a:rPr lang="zh-CN" altLang="en-US" sz="2000" dirty="0"/>
              <a:t>个四级综治中心及公安、城管、消防等</a:t>
            </a:r>
            <a:r>
              <a:rPr lang="en-US" altLang="zh-CN" sz="2000" dirty="0"/>
              <a:t>26</a:t>
            </a:r>
            <a:r>
              <a:rPr lang="zh-CN" altLang="en-US" sz="2000" dirty="0"/>
              <a:t>个基层一线执法监管单位。</a:t>
            </a:r>
            <a:endParaRPr lang="zh-CN" alt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MG-文本框 11"/>
          <p:cNvSpPr txBox="1"/>
          <p:nvPr>
            <p:custDataLst>
              <p:tags r:id="rId1"/>
            </p:custDataLst>
          </p:nvPr>
        </p:nvSpPr>
        <p:spPr>
          <a:xfrm>
            <a:off x="177739" y="17659"/>
            <a:ext cx="8042236"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政务服务与社会治理</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11" name="组合 10"/>
          <p:cNvGrpSpPr/>
          <p:nvPr/>
        </p:nvGrpSpPr>
        <p:grpSpPr>
          <a:xfrm>
            <a:off x="10605916" y="-6858"/>
            <a:ext cx="1586085" cy="528405"/>
            <a:chOff x="10605916" y="5727392"/>
            <a:chExt cx="1586085" cy="528405"/>
          </a:xfrm>
        </p:grpSpPr>
        <p:sp>
          <p:nvSpPr>
            <p:cNvPr id="12" name="矩形 11"/>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3" name="文本框 12"/>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5" name="MG-Rectangle 7"/>
          <p:cNvSpPr/>
          <p:nvPr>
            <p:custDataLst>
              <p:tags r:id="rId2"/>
            </p:custDataLst>
          </p:nvPr>
        </p:nvSpPr>
        <p:spPr>
          <a:xfrm>
            <a:off x="1" y="6336575"/>
            <a:ext cx="12192000" cy="520700"/>
          </a:xfrm>
          <a:prstGeom prst="rect">
            <a:avLst/>
          </a:prstGeom>
          <a:solidFill>
            <a:srgbClr val="F4F4F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MG-Rectangle 7"/>
          <p:cNvSpPr/>
          <p:nvPr>
            <p:custDataLst>
              <p:tags r:id="rId3"/>
            </p:custDataLst>
          </p:nvPr>
        </p:nvSpPr>
        <p:spPr>
          <a:xfrm>
            <a:off x="-179004" y="509588"/>
            <a:ext cx="12191999" cy="5797369"/>
          </a:xfrm>
          <a:prstGeom prst="rect">
            <a:avLst/>
          </a:prstGeom>
          <a:solidFill>
            <a:srgbClr val="B0C3F2">
              <a:alpha val="29000"/>
            </a:srgbClr>
          </a:solidFill>
          <a:ln w="12700" cap="flat" cmpd="sng" algn="ctr">
            <a:noFill/>
            <a:prstDash val="solid"/>
            <a:miter lim="800000"/>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595696" y="1098367"/>
            <a:ext cx="10642601" cy="4046557"/>
          </a:xfrm>
          <a:prstGeom prst="rect">
            <a:avLst/>
          </a:prstGeom>
          <a:noFill/>
        </p:spPr>
        <p:txBody>
          <a:bodyPr wrap="square">
            <a:spAutoFit/>
          </a:bodyPr>
          <a:lstStyle/>
          <a:p>
            <a:pPr indent="457200" algn="just"/>
            <a:r>
              <a:rPr lang="zh-CN" altLang="en-US" sz="2000" b="1" dirty="0">
                <a:solidFill>
                  <a:srgbClr val="C00000"/>
                </a:solidFill>
              </a:rPr>
              <a:t>推动社会治理创新</a:t>
            </a:r>
            <a:endParaRPr lang="zh-CN" altLang="en-US" sz="2000" b="1" dirty="0">
              <a:solidFill>
                <a:srgbClr val="C00000"/>
              </a:solidFill>
            </a:endParaRPr>
          </a:p>
          <a:p>
            <a:pPr marL="342900" indent="-342900" algn="just">
              <a:lnSpc>
                <a:spcPct val="150000"/>
              </a:lnSpc>
              <a:buFont typeface="Arial" panose="020B0604020202020204" pitchFamily="34" charset="0"/>
              <a:buChar char="•"/>
            </a:pPr>
            <a:r>
              <a:rPr lang="zh-CN" altLang="en-US" sz="2000" dirty="0"/>
              <a:t>构建智能化社会治理平台：</a:t>
            </a:r>
            <a:endParaRPr lang="zh-CN" altLang="en-US" sz="2000" dirty="0"/>
          </a:p>
          <a:p>
            <a:pPr marL="800100" lvl="1" indent="-342900" algn="just">
              <a:lnSpc>
                <a:spcPct val="150000"/>
              </a:lnSpc>
              <a:buFont typeface="Arial" panose="020B0604020202020204" pitchFamily="34" charset="0"/>
              <a:buChar char="•"/>
            </a:pPr>
            <a:r>
              <a:rPr lang="zh-CN" altLang="en-US" sz="2000" dirty="0"/>
              <a:t>吉安市“吉数通”平台：吉安市构建“前店后厂”数据服务新模式，实现掌上看数、查数、申数、审数，推动形成了吉安市数据共享应用生态圈。</a:t>
            </a:r>
            <a:endParaRPr lang="zh-CN" altLang="en-US" sz="2000" dirty="0"/>
          </a:p>
          <a:p>
            <a:pPr marL="800100" lvl="1" indent="-342900" algn="just">
              <a:lnSpc>
                <a:spcPct val="150000"/>
              </a:lnSpc>
              <a:buFont typeface="Arial" panose="020B0604020202020204" pitchFamily="34" charset="0"/>
              <a:buChar char="•"/>
            </a:pPr>
            <a:r>
              <a:rPr lang="zh-CN" altLang="en-US" sz="2000" dirty="0"/>
              <a:t> 南昌市市域社会治理综合应用平台：南昌市建成市域社会治理综合应用平台，打造了智防风险、智能指挥、智惠服务、智辅决策、智效办公</a:t>
            </a:r>
            <a:r>
              <a:rPr lang="en-US" altLang="zh-CN" sz="2000" dirty="0"/>
              <a:t>5</a:t>
            </a:r>
            <a:r>
              <a:rPr lang="zh-CN" altLang="en-US" sz="2000" dirty="0"/>
              <a:t>大功能板块。</a:t>
            </a:r>
            <a:endParaRPr lang="zh-CN" altLang="en-US" sz="2000" dirty="0"/>
          </a:p>
          <a:p>
            <a:pPr marL="342900" indent="-342900" algn="just">
              <a:lnSpc>
                <a:spcPct val="150000"/>
              </a:lnSpc>
              <a:buFont typeface="Arial" panose="020B0604020202020204" pitchFamily="34" charset="0"/>
              <a:buChar char="•"/>
            </a:pPr>
            <a:r>
              <a:rPr lang="zh-CN" altLang="en-US" sz="2000" dirty="0"/>
              <a:t> 促进公众参与社会治理：</a:t>
            </a:r>
            <a:endParaRPr lang="zh-CN" altLang="en-US" sz="2000" dirty="0"/>
          </a:p>
          <a:p>
            <a:pPr marL="800100" lvl="1" indent="-342900" algn="just">
              <a:lnSpc>
                <a:spcPct val="150000"/>
              </a:lnSpc>
              <a:buFont typeface="Arial" panose="020B0604020202020204" pitchFamily="34" charset="0"/>
              <a:buChar char="•"/>
            </a:pPr>
            <a:r>
              <a:rPr lang="zh-CN" altLang="en-US" sz="2000" dirty="0"/>
              <a:t> 南昌市“昌治久安”</a:t>
            </a:r>
            <a:r>
              <a:rPr lang="en-US" altLang="zh-CN" sz="2000" dirty="0"/>
              <a:t>APP</a:t>
            </a:r>
            <a:r>
              <a:rPr lang="zh-CN" altLang="en-US" sz="2000" dirty="0"/>
              <a:t>：南昌市通过“昌治久安”</a:t>
            </a:r>
            <a:r>
              <a:rPr lang="en-US" altLang="zh-CN" sz="2000" dirty="0"/>
              <a:t>APP</a:t>
            </a:r>
            <a:r>
              <a:rPr lang="zh-CN" altLang="en-US" sz="2000" dirty="0"/>
              <a:t>等平台，整合矛盾纠纷数据，打造矛盾纠纷“数据池”，提升公众参与社会治理的便捷性。</a:t>
            </a:r>
            <a:endParaRPr lang="zh-CN" altLang="en-US"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3500" y="1418209"/>
            <a:ext cx="8229286" cy="4324984"/>
          </a:xfrm>
        </p:spPr>
      </p:pic>
      <p:sp>
        <p:nvSpPr>
          <p:cNvPr id="7" name="文本框 6"/>
          <p:cNvSpPr txBox="1"/>
          <p:nvPr/>
        </p:nvSpPr>
        <p:spPr>
          <a:xfrm>
            <a:off x="1762226" y="5832908"/>
            <a:ext cx="5238549" cy="369332"/>
          </a:xfrm>
          <a:prstGeom prst="rect">
            <a:avLst/>
          </a:prstGeom>
          <a:noFill/>
        </p:spPr>
        <p:txBody>
          <a:bodyPr wrap="square">
            <a:spAutoFit/>
          </a:bodyPr>
          <a:lstStyle/>
          <a:p>
            <a:r>
              <a:rPr lang="en-US" altLang="zh-CN" sz="1800" b="0" i="0" u="none" strike="noStrike" baseline="0" dirty="0">
                <a:latin typeface="TimesNewRomanPSMT"/>
              </a:rPr>
              <a:t>2020</a:t>
            </a:r>
            <a:r>
              <a:rPr lang="zh-CN" altLang="en-US" sz="1800" b="0" i="0" u="none" strike="noStrike" baseline="0" dirty="0">
                <a:latin typeface="FZHTK--GBK1-0"/>
              </a:rPr>
              <a:t>年</a:t>
            </a:r>
            <a:r>
              <a:rPr lang="en-US" altLang="zh-CN" sz="1800" b="0" i="0" u="none" strike="noStrike" baseline="0" dirty="0">
                <a:latin typeface="FZHTK--GBK1-0"/>
              </a:rPr>
              <a:t>—</a:t>
            </a:r>
            <a:r>
              <a:rPr lang="en-US" altLang="zh-CN" sz="1800" b="0" i="0" u="none" strike="noStrike" baseline="0" dirty="0">
                <a:latin typeface="TimesNewRomanPSMT"/>
              </a:rPr>
              <a:t>2024</a:t>
            </a:r>
            <a:r>
              <a:rPr lang="zh-CN" altLang="en-US" sz="1800" b="0" i="0" u="none" strike="noStrike" baseline="0" dirty="0">
                <a:latin typeface="FZHTK--GBK1-0"/>
              </a:rPr>
              <a:t>年互联网医疗用户规模及使用率</a:t>
            </a:r>
            <a:endParaRPr lang="zh-CN" altLang="en-US" dirty="0"/>
          </a:p>
        </p:txBody>
      </p:sp>
      <p:sp>
        <p:nvSpPr>
          <p:cNvPr id="9" name="文本框 8"/>
          <p:cNvSpPr txBox="1"/>
          <p:nvPr/>
        </p:nvSpPr>
        <p:spPr>
          <a:xfrm>
            <a:off x="8138159" y="6383168"/>
            <a:ext cx="3992187" cy="369332"/>
          </a:xfrm>
          <a:prstGeom prst="rect">
            <a:avLst/>
          </a:prstGeom>
          <a:noFill/>
        </p:spPr>
        <p:txBody>
          <a:bodyPr wrap="square">
            <a:spAutoFit/>
          </a:bodyPr>
          <a:lstStyle/>
          <a:p>
            <a:r>
              <a:rPr lang="zh-CN" altLang="en-US" dirty="0"/>
              <a:t>数据来源：中国互联网络信息中心</a:t>
            </a:r>
            <a:endParaRPr lang="zh-CN" altLang="en-US" dirty="0"/>
          </a:p>
        </p:txBody>
      </p:sp>
      <p:sp>
        <p:nvSpPr>
          <p:cNvPr id="11" name="文本框 10"/>
          <p:cNvSpPr txBox="1"/>
          <p:nvPr/>
        </p:nvSpPr>
        <p:spPr>
          <a:xfrm>
            <a:off x="6032962" y="244203"/>
            <a:ext cx="6097384" cy="369332"/>
          </a:xfrm>
          <a:prstGeom prst="rect">
            <a:avLst/>
          </a:prstGeom>
          <a:noFill/>
        </p:spPr>
        <p:txBody>
          <a:bodyPr wrap="square">
            <a:spAutoFit/>
          </a:bodyPr>
          <a:lstStyle/>
          <a:p>
            <a:pPr algn="just"/>
            <a:r>
              <a:rPr lang="zh-CN" altLang="en-US" dirty="0"/>
              <a:t>。</a:t>
            </a:r>
            <a:endParaRPr lang="zh-CN" altLang="en-US" dirty="0"/>
          </a:p>
        </p:txBody>
      </p:sp>
      <p:sp>
        <p:nvSpPr>
          <p:cNvPr id="3" name="矩形 2"/>
          <p:cNvSpPr/>
          <p:nvPr/>
        </p:nvSpPr>
        <p:spPr>
          <a:xfrm>
            <a:off x="0" y="0"/>
            <a:ext cx="12192000" cy="520700"/>
          </a:xfrm>
          <a:prstGeom prst="rect">
            <a:avLst/>
          </a:prstGeom>
          <a:solidFill>
            <a:schemeClr val="bg1">
              <a:lumMod val="95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127000" cy="509588"/>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MG-文本框 11"/>
          <p:cNvSpPr txBox="1"/>
          <p:nvPr>
            <p:custDataLst>
              <p:tags r:id="rId2"/>
            </p:custDataLst>
          </p:nvPr>
        </p:nvSpPr>
        <p:spPr>
          <a:xfrm>
            <a:off x="177739" y="17659"/>
            <a:ext cx="8042236" cy="477361"/>
          </a:xfrm>
          <a:prstGeom prst="rect">
            <a:avLst/>
          </a:prstGeom>
          <a:noFill/>
          <a:effectLst/>
        </p:spPr>
        <p:txBody>
          <a:bodyPr wrap="square" lIns="106985" tIns="53492" rIns="106985" bIns="53492" rtlCol="0">
            <a:spAutoFit/>
          </a:bodyPr>
          <a:lstStyle/>
          <a:p>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数字经济发展路径</a:t>
            </a:r>
            <a:r>
              <a:rPr lang="en-US" altLang="zh-CN" sz="2400" dirty="0">
                <a:latin typeface="思源宋体 CN Heavy" panose="02020900000000000000" charset="-122"/>
                <a:ea typeface="思源宋体 CN Heavy" panose="02020900000000000000" charset="-122"/>
                <a:sym typeface="思源黑体 CN Medium" panose="020B0600000000000000" pitchFamily="34" charset="-122"/>
              </a:rPr>
              <a:t>-</a:t>
            </a:r>
            <a:r>
              <a:rPr lang="zh-CN" altLang="en-US" sz="2400" dirty="0">
                <a:latin typeface="思源宋体 CN Heavy" panose="02020900000000000000" charset="-122"/>
                <a:ea typeface="思源宋体 CN Heavy" panose="02020900000000000000" charset="-122"/>
                <a:sym typeface="思源黑体 CN Medium" panose="020B0600000000000000" pitchFamily="34" charset="-122"/>
              </a:rPr>
              <a:t>政务服务与社会治理</a:t>
            </a:r>
            <a:endParaRPr lang="zh-CN" altLang="en-US" sz="2400" dirty="0">
              <a:latin typeface="思源宋体 CN Heavy" panose="02020900000000000000" charset="-122"/>
              <a:ea typeface="思源宋体 CN Heavy" panose="02020900000000000000" charset="-122"/>
              <a:sym typeface="思源黑体 CN Medium" panose="020B0600000000000000" pitchFamily="34" charset="-122"/>
            </a:endParaRPr>
          </a:p>
        </p:txBody>
      </p:sp>
      <p:grpSp>
        <p:nvGrpSpPr>
          <p:cNvPr id="8" name="组合 7"/>
          <p:cNvGrpSpPr/>
          <p:nvPr/>
        </p:nvGrpSpPr>
        <p:grpSpPr>
          <a:xfrm>
            <a:off x="10605916" y="-6858"/>
            <a:ext cx="1586085" cy="528405"/>
            <a:chOff x="10605916" y="5727392"/>
            <a:chExt cx="1586085" cy="528405"/>
          </a:xfrm>
        </p:grpSpPr>
        <p:sp>
          <p:nvSpPr>
            <p:cNvPr id="10" name="矩形 9"/>
            <p:cNvSpPr/>
            <p:nvPr/>
          </p:nvSpPr>
          <p:spPr>
            <a:xfrm>
              <a:off x="10605916" y="5727392"/>
              <a:ext cx="1586084" cy="528405"/>
            </a:xfrm>
            <a:prstGeom prst="rect">
              <a:avLst/>
            </a:prstGeom>
            <a:gradFill>
              <a:gsLst>
                <a:gs pos="44925">
                  <a:srgbClr val="306DDE"/>
                </a:gs>
                <a:gs pos="6000">
                  <a:srgbClr val="3981E2">
                    <a:alpha val="73000"/>
                  </a:srgbClr>
                </a:gs>
                <a:gs pos="81000">
                  <a:srgbClr val="285BDB"/>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思源宋体 CN Heavy" panose="02020900000000000000" charset="-122"/>
                <a:ea typeface="思源宋体 CN Heavy" panose="02020900000000000000" charset="-122"/>
              </a:endParaRPr>
            </a:p>
          </p:txBody>
        </p:sp>
        <p:sp>
          <p:nvSpPr>
            <p:cNvPr id="12" name="文本框 11"/>
            <p:cNvSpPr txBox="1"/>
            <p:nvPr/>
          </p:nvSpPr>
          <p:spPr>
            <a:xfrm>
              <a:off x="10605917" y="5839750"/>
              <a:ext cx="1586084" cy="307777"/>
            </a:xfrm>
            <a:prstGeom prst="rect">
              <a:avLst/>
            </a:prstGeom>
            <a:noFill/>
          </p:spPr>
          <p:txBody>
            <a:bodyPr wrap="square" rtlCol="0">
              <a:spAutoFit/>
            </a:bodyPr>
            <a:lstStyle/>
            <a:p>
              <a:pPr algn="dist"/>
              <a:r>
                <a:rPr lang="en-US" altLang="zh-CN" sz="1400" dirty="0">
                  <a:solidFill>
                    <a:schemeClr val="bg1"/>
                  </a:solidFill>
                  <a:latin typeface="思源宋体 CN Heavy" panose="02020900000000000000" charset="-122"/>
                  <a:ea typeface="思源宋体 CN Heavy" panose="02020900000000000000" charset="-122"/>
                </a:rPr>
                <a:t>Digital Economy</a:t>
              </a:r>
              <a:endParaRPr lang="en-US" altLang="zh-CN" sz="1400" dirty="0">
                <a:solidFill>
                  <a:schemeClr val="bg1"/>
                </a:solidFill>
                <a:latin typeface="思源宋体 CN Heavy" panose="02020900000000000000" charset="-122"/>
                <a:ea typeface="思源宋体 CN Heavy" panose="02020900000000000000" charset="-122"/>
              </a:endParaRPr>
            </a:p>
          </p:txBody>
        </p:sp>
      </p:grpSp>
      <p:sp>
        <p:nvSpPr>
          <p:cNvPr id="14" name="文本框 13"/>
          <p:cNvSpPr txBox="1"/>
          <p:nvPr/>
        </p:nvSpPr>
        <p:spPr>
          <a:xfrm>
            <a:off x="8710862" y="3119036"/>
            <a:ext cx="3157087" cy="1712135"/>
          </a:xfrm>
          <a:prstGeom prst="rect">
            <a:avLst/>
          </a:prstGeom>
          <a:noFill/>
        </p:spPr>
        <p:txBody>
          <a:bodyPr wrap="square">
            <a:spAutoFit/>
          </a:bodyPr>
          <a:lstStyle/>
          <a:p>
            <a:pPr indent="457200" algn="just">
              <a:lnSpc>
                <a:spcPct val="150000"/>
              </a:lnSpc>
            </a:pPr>
            <a:r>
              <a:rPr lang="zh-CN" altLang="en-US" dirty="0"/>
              <a:t>截至</a:t>
            </a:r>
            <a:r>
              <a:rPr lang="en-US" altLang="zh-CN" dirty="0"/>
              <a:t>2024</a:t>
            </a:r>
            <a:r>
              <a:rPr lang="zh-CN" altLang="en-US" dirty="0"/>
              <a:t>年底，互联网医疗用户规模达</a:t>
            </a:r>
            <a:r>
              <a:rPr lang="en-US" altLang="zh-CN" dirty="0"/>
              <a:t>4.18</a:t>
            </a:r>
            <a:r>
              <a:rPr lang="zh-CN" altLang="en-US" dirty="0"/>
              <a:t>亿人，同比增长</a:t>
            </a:r>
            <a:r>
              <a:rPr lang="en-US" altLang="zh-CN" dirty="0"/>
              <a:t>372</a:t>
            </a:r>
            <a:r>
              <a:rPr lang="zh-CN" altLang="en-US" dirty="0"/>
              <a:t>万人，占网民整体的</a:t>
            </a:r>
            <a:r>
              <a:rPr lang="en-US" altLang="zh-CN" dirty="0"/>
              <a:t>37.7%</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我国数字经济对于其他经济体的优势（</a:t>
            </a:r>
            <a:r>
              <a:rPr lang="en-US" altLang="zh-CN" dirty="0"/>
              <a:t>1</a:t>
            </a:r>
            <a:r>
              <a:rPr lang="zh-CN" altLang="en-US" dirty="0"/>
              <a:t>）</a:t>
            </a:r>
            <a:endParaRPr lang="zh-CN" altLang="en-US" dirty="0"/>
          </a:p>
        </p:txBody>
      </p:sp>
      <p:sp>
        <p:nvSpPr>
          <p:cNvPr id="3" name="内容占位符 2"/>
          <p:cNvSpPr>
            <a:spLocks noGrp="1"/>
          </p:cNvSpPr>
          <p:nvPr>
            <p:ph idx="1"/>
          </p:nvPr>
        </p:nvSpPr>
        <p:spPr/>
        <p:txBody>
          <a:bodyPr/>
          <a:lstStyle/>
          <a:p>
            <a:r>
              <a:rPr lang="zh-CN" altLang="en-US" b="1" dirty="0"/>
              <a:t>幻灯片</a:t>
            </a:r>
            <a:r>
              <a:rPr lang="en-US" altLang="zh-CN" b="1" dirty="0"/>
              <a:t>1</a:t>
            </a:r>
            <a:r>
              <a:rPr lang="zh-CN" altLang="en-US" b="1" dirty="0"/>
              <a:t>：超大规模市场与数据要素优势</a:t>
            </a:r>
            <a:endParaRPr lang="zh-CN" altLang="en-US" b="1" dirty="0"/>
          </a:p>
          <a:p>
            <a:pPr latinLnBrk="1"/>
            <a:r>
              <a:rPr lang="zh-CN" altLang="en-US" b="1" dirty="0"/>
              <a:t>全球最大应用场景池</a:t>
            </a:r>
            <a:endParaRPr lang="zh-CN" altLang="en-US" dirty="0"/>
          </a:p>
          <a:p>
            <a:pPr lvl="1" latinLnBrk="1"/>
            <a:r>
              <a:rPr lang="zh-CN" altLang="en-US" dirty="0"/>
              <a:t>网民规模超</a:t>
            </a:r>
            <a:r>
              <a:rPr lang="en-US" altLang="zh-CN" b="1" dirty="0"/>
              <a:t>10.6</a:t>
            </a:r>
            <a:r>
              <a:rPr lang="zh-CN" altLang="en-US" b="1" dirty="0"/>
              <a:t>亿人</a:t>
            </a:r>
            <a:r>
              <a:rPr lang="zh-CN" altLang="en-US" dirty="0"/>
              <a:t>，智能终端用户、电商交易量均居全球首位</a:t>
            </a:r>
            <a:r>
              <a:rPr lang="en-US" altLang="zh-CN" b="1" dirty="0">
                <a:hlinkClick r:id="rId1"/>
              </a:rPr>
              <a:t>4</a:t>
            </a:r>
            <a:r>
              <a:rPr lang="zh-CN" altLang="en-US" dirty="0"/>
              <a:t>。</a:t>
            </a:r>
            <a:endParaRPr lang="zh-CN" altLang="en-US" dirty="0"/>
          </a:p>
          <a:p>
            <a:pPr lvl="1" latinLnBrk="1"/>
            <a:r>
              <a:rPr lang="en-US" altLang="zh-CN" dirty="0"/>
              <a:t>2023</a:t>
            </a:r>
            <a:r>
              <a:rPr lang="zh-CN" altLang="en-US" dirty="0"/>
              <a:t>年数字经济核心产业增加值超</a:t>
            </a:r>
            <a:r>
              <a:rPr lang="en-US" altLang="zh-CN" b="1" dirty="0"/>
              <a:t>12</a:t>
            </a:r>
            <a:r>
              <a:rPr lang="zh-CN" altLang="en-US" b="1" dirty="0"/>
              <a:t>万亿元</a:t>
            </a:r>
            <a:r>
              <a:rPr lang="zh-CN" altLang="en-US" dirty="0"/>
              <a:t>，占</a:t>
            </a:r>
            <a:r>
              <a:rPr lang="en-US" altLang="zh-CN" dirty="0"/>
              <a:t>GDP</a:t>
            </a:r>
            <a:r>
              <a:rPr lang="zh-CN" altLang="en-US" dirty="0"/>
              <a:t>比重</a:t>
            </a:r>
            <a:r>
              <a:rPr lang="en-US" altLang="zh-CN" dirty="0"/>
              <a:t>10%</a:t>
            </a:r>
            <a:r>
              <a:rPr lang="zh-CN" altLang="en-US" dirty="0"/>
              <a:t>，增速领先全球</a:t>
            </a:r>
            <a:r>
              <a:rPr lang="en-US" altLang="zh-CN" b="1" dirty="0">
                <a:hlinkClick r:id="rId1"/>
              </a:rPr>
              <a:t>4</a:t>
            </a:r>
            <a:r>
              <a:rPr lang="en-US" altLang="zh-CN" b="1" dirty="0">
                <a:hlinkClick r:id="rId2"/>
              </a:rPr>
              <a:t>9</a:t>
            </a:r>
            <a:r>
              <a:rPr lang="zh-CN" altLang="en-US" dirty="0"/>
              <a:t>。</a:t>
            </a:r>
            <a:endParaRPr lang="zh-CN" altLang="en-US" dirty="0"/>
          </a:p>
          <a:p>
            <a:pPr latinLnBrk="1"/>
            <a:r>
              <a:rPr lang="zh-CN" altLang="en-US" b="1" dirty="0"/>
              <a:t>数据要素价值释放领先</a:t>
            </a:r>
            <a:endParaRPr lang="zh-CN" altLang="en-US" dirty="0"/>
          </a:p>
          <a:p>
            <a:pPr lvl="1" latinLnBrk="1"/>
            <a:r>
              <a:rPr lang="zh-CN" altLang="en-US" dirty="0"/>
              <a:t>率先建立“数据二十条”制度，推动公共数据授权运营、跨境数据流动试点</a:t>
            </a:r>
            <a:r>
              <a:rPr lang="en-US" altLang="zh-CN" b="1" dirty="0">
                <a:hlinkClick r:id="rId1"/>
              </a:rPr>
              <a:t>4</a:t>
            </a:r>
            <a:r>
              <a:rPr lang="zh-CN" altLang="en-US" dirty="0"/>
              <a:t>。</a:t>
            </a:r>
            <a:endParaRPr lang="zh-CN" altLang="en-US" dirty="0"/>
          </a:p>
          <a:p>
            <a:pPr lvl="1" latinLnBrk="1"/>
            <a:r>
              <a:rPr lang="zh-CN" altLang="en-US" dirty="0"/>
              <a:t>数据交易规模达</a:t>
            </a:r>
            <a:r>
              <a:rPr lang="en-US" altLang="zh-CN" b="1" dirty="0"/>
              <a:t>2000</a:t>
            </a:r>
            <a:r>
              <a:rPr lang="zh-CN" altLang="en-US" b="1" dirty="0"/>
              <a:t>亿元</a:t>
            </a:r>
            <a:r>
              <a:rPr lang="zh-CN" altLang="en-US" dirty="0"/>
              <a:t>（</a:t>
            </a:r>
            <a:r>
              <a:rPr lang="en-US" altLang="zh-CN" dirty="0"/>
              <a:t>2024</a:t>
            </a:r>
            <a:r>
              <a:rPr lang="zh-CN" altLang="en-US" dirty="0"/>
              <a:t>年），占全球市场份额</a:t>
            </a:r>
            <a:r>
              <a:rPr lang="en-US" altLang="zh-CN" dirty="0"/>
              <a:t>30%</a:t>
            </a:r>
            <a:r>
              <a:rPr lang="en-US" altLang="zh-CN" b="1" dirty="0">
                <a:hlinkClick r:id="rId1"/>
              </a:rPr>
              <a:t>4</a:t>
            </a:r>
            <a:r>
              <a:rPr lang="zh-CN" altLang="en-US" dirty="0"/>
              <a:t>。</a:t>
            </a:r>
            <a:endParaRPr lang="zh-CN" altLang="en-US" dirty="0"/>
          </a:p>
          <a:p>
            <a:pPr latinLnBrk="1"/>
            <a:r>
              <a:rPr lang="zh-CN" altLang="en-US" b="1" dirty="0"/>
              <a:t>政策支撑</a:t>
            </a:r>
            <a:r>
              <a:rPr lang="zh-CN" altLang="en-US" dirty="0"/>
              <a:t>：</a:t>
            </a:r>
            <a:r>
              <a:rPr lang="en-US" altLang="zh-CN" dirty="0"/>
              <a:t>《</a:t>
            </a:r>
            <a:r>
              <a:rPr lang="zh-CN" altLang="en-US" dirty="0"/>
              <a:t>数据二十条</a:t>
            </a:r>
            <a:r>
              <a:rPr lang="en-US" altLang="zh-CN" dirty="0"/>
              <a:t>》《“</a:t>
            </a:r>
            <a:r>
              <a:rPr lang="zh-CN" altLang="en-US" dirty="0"/>
              <a:t>十四五”数字经济发展规划</a:t>
            </a:r>
            <a:r>
              <a:rPr lang="en-US" altLang="zh-CN" dirty="0"/>
              <a:t>》</a:t>
            </a:r>
            <a:r>
              <a:rPr lang="en-US" altLang="zh-CN" b="1" dirty="0">
                <a:hlinkClick r:id="rId2"/>
              </a:rPr>
              <a:t>9</a:t>
            </a:r>
            <a:r>
              <a:rPr lang="zh-CN" altLang="en-US" dirty="0"/>
              <a:t>。</a:t>
            </a:r>
            <a:endParaRPr lang="zh-CN" altLang="en-US" dirty="0"/>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我国数字经济对于其他经济体的优势（</a:t>
            </a:r>
            <a:r>
              <a:rPr lang="en-US" altLang="zh-CN" dirty="0"/>
              <a:t>2</a:t>
            </a:r>
            <a:r>
              <a:rPr lang="zh-CN" altLang="en-US" dirty="0"/>
              <a:t>）</a:t>
            </a:r>
            <a:endParaRPr lang="zh-CN" altLang="en-US" dirty="0"/>
          </a:p>
        </p:txBody>
      </p:sp>
      <p:sp>
        <p:nvSpPr>
          <p:cNvPr id="3" name="内容占位符 2"/>
          <p:cNvSpPr>
            <a:spLocks noGrp="1"/>
          </p:cNvSpPr>
          <p:nvPr>
            <p:ph idx="1"/>
          </p:nvPr>
        </p:nvSpPr>
        <p:spPr/>
        <p:txBody>
          <a:bodyPr/>
          <a:lstStyle/>
          <a:p>
            <a:r>
              <a:rPr lang="zh-CN" altLang="en-US" b="1" dirty="0"/>
              <a:t>幻灯片</a:t>
            </a:r>
            <a:r>
              <a:rPr lang="en-US" altLang="zh-CN" b="1" dirty="0"/>
              <a:t>2</a:t>
            </a:r>
            <a:r>
              <a:rPr lang="zh-CN" altLang="en-US" b="1" dirty="0"/>
              <a:t>：数字基建与全产业链协同</a:t>
            </a:r>
            <a:endParaRPr lang="zh-CN" altLang="en-US" b="1" dirty="0"/>
          </a:p>
          <a:p>
            <a:pPr latinLnBrk="1"/>
            <a:r>
              <a:rPr lang="zh-CN" altLang="en-US" b="1" dirty="0"/>
              <a:t>基础设施布局超前</a:t>
            </a:r>
            <a:endParaRPr lang="zh-CN" altLang="en-US" dirty="0"/>
          </a:p>
          <a:p>
            <a:pPr lvl="1" latinLnBrk="1"/>
            <a:r>
              <a:rPr lang="zh-CN" altLang="en-US" dirty="0"/>
              <a:t>建成全球最大</a:t>
            </a:r>
            <a:r>
              <a:rPr lang="en-US" altLang="zh-CN" dirty="0"/>
              <a:t>5G</a:t>
            </a:r>
            <a:r>
              <a:rPr lang="zh-CN" altLang="en-US" dirty="0"/>
              <a:t>网络（</a:t>
            </a:r>
            <a:r>
              <a:rPr lang="en-US" altLang="zh-CN" b="1" dirty="0"/>
              <a:t>328.2</a:t>
            </a:r>
            <a:r>
              <a:rPr lang="zh-CN" altLang="en-US" b="1" dirty="0"/>
              <a:t>万个基站</a:t>
            </a:r>
            <a:r>
              <a:rPr lang="zh-CN" altLang="en-US" dirty="0"/>
              <a:t>），算力规模全球第二，“东数西算”工程优化资源配置</a:t>
            </a:r>
            <a:r>
              <a:rPr lang="en-US" altLang="zh-CN" b="1" dirty="0">
                <a:hlinkClick r:id="rId1"/>
              </a:rPr>
              <a:t>7</a:t>
            </a:r>
            <a:r>
              <a:rPr lang="en-US" altLang="zh-CN" b="1" dirty="0">
                <a:hlinkClick r:id="rId2"/>
              </a:rPr>
              <a:t>4</a:t>
            </a:r>
            <a:r>
              <a:rPr lang="zh-CN" altLang="en-US" dirty="0"/>
              <a:t>。</a:t>
            </a:r>
            <a:endParaRPr lang="zh-CN" altLang="en-US" dirty="0"/>
          </a:p>
          <a:p>
            <a:pPr lvl="1" latinLnBrk="1"/>
            <a:r>
              <a:rPr lang="zh-CN" altLang="en-US" dirty="0"/>
              <a:t>工业互联网覆盖</a:t>
            </a:r>
            <a:r>
              <a:rPr lang="en-US" altLang="zh-CN" b="1" dirty="0"/>
              <a:t>49</a:t>
            </a:r>
            <a:r>
              <a:rPr lang="zh-CN" altLang="en-US" b="1" dirty="0"/>
              <a:t>个国民经济大类</a:t>
            </a:r>
            <a:r>
              <a:rPr lang="zh-CN" altLang="en-US" dirty="0"/>
              <a:t>，智能工厂渗透率超</a:t>
            </a:r>
            <a:r>
              <a:rPr lang="en-US" altLang="zh-CN" dirty="0"/>
              <a:t>20%</a:t>
            </a:r>
            <a:r>
              <a:rPr lang="en-US" altLang="zh-CN" b="1" dirty="0">
                <a:hlinkClick r:id="rId1"/>
              </a:rPr>
              <a:t>7</a:t>
            </a:r>
            <a:r>
              <a:rPr lang="en-US" altLang="zh-CN" b="1" dirty="0">
                <a:hlinkClick r:id="rId2"/>
              </a:rPr>
              <a:t>4</a:t>
            </a:r>
            <a:r>
              <a:rPr lang="zh-CN" altLang="en-US" dirty="0"/>
              <a:t>。</a:t>
            </a:r>
            <a:endParaRPr lang="zh-CN" altLang="en-US" dirty="0"/>
          </a:p>
          <a:p>
            <a:pPr latinLnBrk="1"/>
            <a:r>
              <a:rPr lang="zh-CN" altLang="en-US" b="1" dirty="0"/>
              <a:t>全产业链自主可控</a:t>
            </a:r>
            <a:endParaRPr lang="zh-CN" altLang="en-US" dirty="0"/>
          </a:p>
          <a:p>
            <a:pPr lvl="1" latinLnBrk="1"/>
            <a:r>
              <a:rPr lang="zh-CN" altLang="en-US" dirty="0"/>
              <a:t>电子信息制造业营收突破</a:t>
            </a:r>
            <a:r>
              <a:rPr lang="en-US" altLang="zh-CN" b="1" dirty="0"/>
              <a:t>15.4</a:t>
            </a:r>
            <a:r>
              <a:rPr lang="zh-CN" altLang="en-US" b="1" dirty="0"/>
              <a:t>万亿元</a:t>
            </a:r>
            <a:r>
              <a:rPr lang="zh-CN" altLang="en-US" dirty="0"/>
              <a:t>（</a:t>
            </a:r>
            <a:r>
              <a:rPr lang="en-US" altLang="zh-CN" dirty="0"/>
              <a:t>2022</a:t>
            </a:r>
            <a:r>
              <a:rPr lang="zh-CN" altLang="en-US" dirty="0"/>
              <a:t>年），工业机器人装机量占全球</a:t>
            </a:r>
            <a:r>
              <a:rPr lang="en-US" altLang="zh-CN" dirty="0"/>
              <a:t>50%</a:t>
            </a:r>
            <a:r>
              <a:rPr lang="zh-CN" altLang="en-US" dirty="0"/>
              <a:t>以上</a:t>
            </a:r>
            <a:r>
              <a:rPr lang="en-US" altLang="zh-CN" b="1" dirty="0">
                <a:hlinkClick r:id="rId2"/>
              </a:rPr>
              <a:t>4</a:t>
            </a:r>
            <a:r>
              <a:rPr lang="zh-CN" altLang="en-US" dirty="0"/>
              <a:t>。</a:t>
            </a:r>
            <a:endParaRPr lang="zh-CN" altLang="en-US" dirty="0"/>
          </a:p>
          <a:p>
            <a:pPr lvl="1" latinLnBrk="1"/>
            <a:r>
              <a:rPr lang="zh-CN" altLang="en-US" dirty="0"/>
              <a:t>企业数字化转型周期较欧美缩短</a:t>
            </a:r>
            <a:r>
              <a:rPr lang="en-US" altLang="zh-CN" dirty="0"/>
              <a:t>30%</a:t>
            </a:r>
            <a:r>
              <a:rPr lang="zh-CN" altLang="en-US" dirty="0"/>
              <a:t>，成本降低</a:t>
            </a:r>
            <a:r>
              <a:rPr lang="en-US" altLang="zh-CN" dirty="0"/>
              <a:t>40%</a:t>
            </a:r>
            <a:r>
              <a:rPr lang="en-US" altLang="zh-CN" b="1" dirty="0">
                <a:hlinkClick r:id="rId2"/>
              </a:rPr>
              <a:t>4</a:t>
            </a:r>
            <a:r>
              <a:rPr lang="zh-CN" altLang="en-US" dirty="0"/>
              <a:t>。</a:t>
            </a:r>
            <a:endParaRPr lang="zh-CN" altLang="en-US" dirty="0"/>
          </a:p>
          <a:p>
            <a:pPr latinLnBrk="1"/>
            <a:r>
              <a:rPr lang="zh-CN" altLang="en-US" b="1" dirty="0"/>
              <a:t>政策支撑</a:t>
            </a:r>
            <a:r>
              <a:rPr lang="zh-CN" altLang="en-US" dirty="0"/>
              <a:t>：习近平总书记强调“数字技术与实体经济深度融合”</a:t>
            </a:r>
            <a:r>
              <a:rPr lang="en-US" altLang="zh-CN" b="1" dirty="0">
                <a:hlinkClick r:id="rId1"/>
              </a:rPr>
              <a:t>7</a:t>
            </a:r>
            <a:r>
              <a:rPr lang="en-US" altLang="zh-CN" b="1" dirty="0">
                <a:hlinkClick r:id="rId3"/>
              </a:rPr>
              <a:t>9</a:t>
            </a:r>
            <a:r>
              <a:rPr lang="zh-CN" altLang="en-US" dirty="0"/>
              <a:t>。</a:t>
            </a:r>
            <a:endParaRPr lang="zh-CN" altLang="en-US" dirty="0"/>
          </a:p>
          <a:p>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我国数字经济对于其他经济体的优势（</a:t>
            </a:r>
            <a:r>
              <a:rPr lang="en-US" altLang="zh-CN" dirty="0"/>
              <a:t>3</a:t>
            </a:r>
            <a:r>
              <a:rPr lang="zh-CN" altLang="en-US" dirty="0"/>
              <a:t>）</a:t>
            </a:r>
            <a:endParaRPr lang="zh-CN" altLang="en-US" dirty="0"/>
          </a:p>
        </p:txBody>
      </p:sp>
      <p:sp>
        <p:nvSpPr>
          <p:cNvPr id="3" name="内容占位符 2"/>
          <p:cNvSpPr>
            <a:spLocks noGrp="1"/>
          </p:cNvSpPr>
          <p:nvPr>
            <p:ph idx="1"/>
          </p:nvPr>
        </p:nvSpPr>
        <p:spPr/>
        <p:txBody>
          <a:bodyPr>
            <a:normAutofit fontScale="47500" lnSpcReduction="20000"/>
          </a:bodyPr>
          <a:lstStyle/>
          <a:p>
            <a:r>
              <a:rPr lang="zh-CN" altLang="en-US" sz="5100" dirty="0"/>
              <a:t>幻灯片</a:t>
            </a:r>
            <a:r>
              <a:rPr lang="en-US" altLang="zh-CN" sz="5100" dirty="0"/>
              <a:t>3</a:t>
            </a:r>
            <a:r>
              <a:rPr lang="zh-CN" altLang="en-US" sz="5100" dirty="0"/>
              <a:t>：制度型开放与技术普惠应用</a:t>
            </a:r>
            <a:endParaRPr lang="zh-CN" altLang="en-US" sz="5100" dirty="0"/>
          </a:p>
          <a:p>
            <a:r>
              <a:rPr lang="zh-CN" altLang="en-US" sz="5100" dirty="0"/>
              <a:t>治理规则与全球合作</a:t>
            </a:r>
            <a:endParaRPr lang="zh-CN" altLang="en-US" sz="5100" dirty="0"/>
          </a:p>
          <a:p>
            <a:r>
              <a:rPr lang="zh-CN" altLang="en-US" sz="5100" dirty="0"/>
              <a:t>构建“数据安全法</a:t>
            </a:r>
            <a:r>
              <a:rPr lang="en-US" altLang="zh-CN" sz="5100" dirty="0"/>
              <a:t>+</a:t>
            </a:r>
            <a:r>
              <a:rPr lang="zh-CN" altLang="en-US" sz="5100" dirty="0"/>
              <a:t>个人信息保护法</a:t>
            </a:r>
            <a:r>
              <a:rPr lang="en-US" altLang="zh-CN" sz="5100" dirty="0"/>
              <a:t>+</a:t>
            </a:r>
            <a:r>
              <a:rPr lang="zh-CN" altLang="en-US" sz="5100" dirty="0"/>
              <a:t>数据要素制度”三位一体治理框架，平衡安全与发展</a:t>
            </a:r>
            <a:r>
              <a:rPr lang="en-US" altLang="zh-CN" sz="5100" dirty="0"/>
              <a:t>49</a:t>
            </a:r>
            <a:r>
              <a:rPr lang="zh-CN" altLang="en-US" sz="5100" dirty="0"/>
              <a:t>。</a:t>
            </a:r>
            <a:endParaRPr lang="zh-CN" altLang="en-US" sz="5100" dirty="0"/>
          </a:p>
          <a:p>
            <a:r>
              <a:rPr lang="zh-CN" altLang="en-US" sz="5100" dirty="0"/>
              <a:t>参与</a:t>
            </a:r>
            <a:r>
              <a:rPr lang="en-US" altLang="zh-CN" sz="5100" dirty="0"/>
              <a:t>DEPA</a:t>
            </a:r>
            <a:r>
              <a:rPr lang="zh-CN" altLang="en-US" sz="5100" dirty="0"/>
              <a:t>规则制定，与</a:t>
            </a:r>
            <a:r>
              <a:rPr lang="en-US" altLang="zh-CN" sz="5100" dirty="0"/>
              <a:t>30</a:t>
            </a:r>
            <a:r>
              <a:rPr lang="zh-CN" altLang="en-US" sz="5100" dirty="0"/>
              <a:t>国建立双边电商合作机制，输出</a:t>
            </a:r>
            <a:r>
              <a:rPr lang="en-US" altLang="zh-CN" sz="5100" dirty="0"/>
              <a:t>5G</a:t>
            </a:r>
            <a:r>
              <a:rPr lang="zh-CN" altLang="en-US" sz="5100" dirty="0"/>
              <a:t>方案至“一带一路”国家</a:t>
            </a:r>
            <a:r>
              <a:rPr lang="en-US" altLang="zh-CN" sz="5100" dirty="0"/>
              <a:t>4</a:t>
            </a:r>
            <a:r>
              <a:rPr lang="zh-CN" altLang="en-US" sz="5100" dirty="0"/>
              <a:t>。</a:t>
            </a:r>
            <a:endParaRPr lang="zh-CN" altLang="en-US" sz="5100" dirty="0"/>
          </a:p>
          <a:p>
            <a:r>
              <a:rPr lang="zh-CN" altLang="en-US" sz="5100" dirty="0"/>
              <a:t>普惠发展模式创新</a:t>
            </a:r>
            <a:endParaRPr lang="zh-CN" altLang="en-US" sz="5100" dirty="0"/>
          </a:p>
          <a:p>
            <a:r>
              <a:rPr lang="zh-CN" altLang="en-US" sz="5100" dirty="0"/>
              <a:t>数字乡村覆盖超</a:t>
            </a:r>
            <a:r>
              <a:rPr lang="en-US" altLang="zh-CN" sz="5100" dirty="0"/>
              <a:t>90%</a:t>
            </a:r>
            <a:r>
              <a:rPr lang="zh-CN" altLang="en-US" sz="5100" dirty="0"/>
              <a:t>行政村，城乡数字鸿沟指数较</a:t>
            </a:r>
            <a:r>
              <a:rPr lang="en-US" altLang="zh-CN" sz="5100" dirty="0"/>
              <a:t>2018</a:t>
            </a:r>
            <a:r>
              <a:rPr lang="zh-CN" altLang="en-US" sz="5100" dirty="0"/>
              <a:t>年缩小</a:t>
            </a:r>
            <a:r>
              <a:rPr lang="en-US" altLang="zh-CN" sz="5100" dirty="0"/>
              <a:t>25%4</a:t>
            </a:r>
            <a:r>
              <a:rPr lang="zh-CN" altLang="en-US" sz="5100" dirty="0"/>
              <a:t>。</a:t>
            </a:r>
            <a:endParaRPr lang="zh-CN" altLang="en-US" sz="5100" dirty="0"/>
          </a:p>
          <a:p>
            <a:r>
              <a:rPr lang="zh-CN" altLang="en-US" sz="5100" dirty="0"/>
              <a:t>电商创业、直播经济带动</a:t>
            </a:r>
            <a:r>
              <a:rPr lang="en-US" altLang="zh-CN" sz="5100" dirty="0"/>
              <a:t>6000</a:t>
            </a:r>
            <a:r>
              <a:rPr lang="zh-CN" altLang="en-US" sz="5100" dirty="0"/>
              <a:t>万人就业，形成“普通人参与数字经济”生态</a:t>
            </a:r>
            <a:r>
              <a:rPr lang="en-US" altLang="zh-CN" sz="5100" dirty="0"/>
              <a:t>4</a:t>
            </a:r>
            <a:r>
              <a:rPr lang="zh-CN" altLang="en-US" sz="5100" dirty="0"/>
              <a:t>。</a:t>
            </a:r>
            <a:endParaRPr lang="zh-CN" altLang="en-US" sz="5100" dirty="0"/>
          </a:p>
          <a:p>
            <a:r>
              <a:rPr lang="zh-CN" altLang="en-US" sz="5100" dirty="0"/>
              <a:t>政策支撑：</a:t>
            </a:r>
            <a:r>
              <a:rPr lang="en-US" altLang="zh-CN" sz="5100" dirty="0"/>
              <a:t>《</a:t>
            </a:r>
            <a:r>
              <a:rPr lang="zh-CN" altLang="en-US" sz="5100" dirty="0"/>
              <a:t>关于数字贸易改革创新发展的意见</a:t>
            </a:r>
            <a:r>
              <a:rPr lang="en-US" altLang="zh-CN" sz="5100" dirty="0"/>
              <a:t>》4</a:t>
            </a:r>
            <a:r>
              <a:rPr lang="zh-CN" altLang="en-US" sz="5100" dirty="0"/>
              <a:t>，党的二十大报告</a:t>
            </a:r>
            <a:r>
              <a:rPr lang="en-US" altLang="zh-CN" sz="5100" dirty="0"/>
              <a:t>9]</a:t>
            </a:r>
            <a:r>
              <a:rPr lang="zh-CN" altLang="en-US" sz="5100" dirty="0"/>
              <a:t>。</a:t>
            </a:r>
            <a:endParaRPr lang="zh-CN" altLang="en-US" sz="5100" dirty="0"/>
          </a:p>
          <a:p>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设计建议：</a:t>
            </a:r>
            <a:endParaRPr lang="zh-CN" altLang="en-US" dirty="0"/>
          </a:p>
          <a:p>
            <a:r>
              <a:rPr lang="zh-CN" altLang="en-US" dirty="0"/>
              <a:t>数据可视化：每页搭配核心数据图表（如全球占比图、增长曲线）；</a:t>
            </a:r>
            <a:endParaRPr lang="zh-CN" altLang="en-US" dirty="0"/>
          </a:p>
          <a:p>
            <a:r>
              <a:rPr lang="zh-CN" altLang="en-US" dirty="0"/>
              <a:t>关键词突出：标粗关键数字（如“全球第二”“</a:t>
            </a:r>
            <a:r>
              <a:rPr lang="en-US" altLang="zh-CN" dirty="0"/>
              <a:t>6000</a:t>
            </a:r>
            <a:r>
              <a:rPr lang="zh-CN" altLang="en-US" dirty="0"/>
              <a:t>万人就业”）；</a:t>
            </a:r>
            <a:endParaRPr lang="zh-CN" altLang="en-US" dirty="0"/>
          </a:p>
          <a:p>
            <a:r>
              <a:rPr lang="zh-CN" altLang="en-US" dirty="0"/>
              <a:t>政策引用：使用规范简称（如“数据二十条”），标注来源提升权威性。</a:t>
            </a:r>
            <a:endParaRPr lang="zh-CN" altLang="en-US" dirty="0"/>
          </a:p>
          <a:p>
            <a:r>
              <a:rPr lang="zh-CN" altLang="en-US" dirty="0"/>
              <a:t>完整政策依据可参考国务院、工信部官网</a:t>
            </a:r>
            <a:r>
              <a:rPr lang="en-US" altLang="zh-CN" dirty="0"/>
              <a:t>479]</a:t>
            </a:r>
            <a:r>
              <a:rPr lang="zh-CN" altLang="en-US" dirty="0"/>
              <a:t>。</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我国数字经济相对于传统产业的新优势</a:t>
            </a:r>
            <a:r>
              <a:rPr lang="en-US" altLang="zh-CN" dirty="0"/>
              <a:t>(1)</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b="1" dirty="0"/>
              <a:t>幻灯片</a:t>
            </a:r>
            <a:r>
              <a:rPr lang="en-US" altLang="zh-CN" b="1" dirty="0"/>
              <a:t>1</a:t>
            </a:r>
            <a:r>
              <a:rPr lang="zh-CN" altLang="en-US" b="1" dirty="0"/>
              <a:t>：效率突破与创新动能</a:t>
            </a:r>
            <a:endParaRPr lang="zh-CN" altLang="en-US" b="1" dirty="0"/>
          </a:p>
          <a:p>
            <a:pPr latinLnBrk="1"/>
            <a:r>
              <a:rPr lang="zh-CN" altLang="en-US" b="1" dirty="0"/>
              <a:t>全要素生产率跃升</a:t>
            </a:r>
            <a:endParaRPr lang="zh-CN" altLang="en-US" dirty="0"/>
          </a:p>
          <a:p>
            <a:pPr lvl="1" latinLnBrk="1"/>
            <a:r>
              <a:rPr lang="zh-CN" altLang="en-US" dirty="0"/>
              <a:t>数字技术赋能传统产业，制造业数字化转型企业生产效率提升</a:t>
            </a:r>
            <a:r>
              <a:rPr lang="en-US" altLang="zh-CN" b="1" dirty="0"/>
              <a:t>30%-50%</a:t>
            </a:r>
            <a:r>
              <a:rPr lang="zh-CN" altLang="en-US" dirty="0"/>
              <a:t>，研发周期缩短</a:t>
            </a:r>
            <a:r>
              <a:rPr lang="en-US" altLang="zh-CN" b="1" dirty="0"/>
              <a:t>40%</a:t>
            </a:r>
            <a:r>
              <a:rPr lang="zh-CN" altLang="en-US" dirty="0"/>
              <a:t> </a:t>
            </a:r>
            <a:r>
              <a:rPr lang="en-US" altLang="zh-CN" b="1" dirty="0">
                <a:hlinkClick r:id="rId1"/>
              </a:rPr>
              <a:t>1</a:t>
            </a:r>
            <a:r>
              <a:rPr lang="en-US" altLang="zh-CN" b="1" dirty="0">
                <a:hlinkClick r:id="rId2"/>
              </a:rPr>
              <a:t>4</a:t>
            </a:r>
            <a:r>
              <a:rPr lang="zh-CN" altLang="en-US" dirty="0"/>
              <a:t>。</a:t>
            </a:r>
            <a:endParaRPr lang="zh-CN" altLang="en-US" dirty="0"/>
          </a:p>
          <a:p>
            <a:pPr lvl="1" latinLnBrk="1"/>
            <a:r>
              <a:rPr lang="zh-CN" altLang="en-US" dirty="0"/>
              <a:t>工业互联网覆盖</a:t>
            </a:r>
            <a:r>
              <a:rPr lang="en-US" altLang="zh-CN" b="1" dirty="0"/>
              <a:t>49</a:t>
            </a:r>
            <a:r>
              <a:rPr lang="zh-CN" altLang="en-US" b="1" dirty="0"/>
              <a:t>个国民经济大类</a:t>
            </a:r>
            <a:r>
              <a:rPr lang="zh-CN" altLang="en-US" dirty="0"/>
              <a:t>，智能工厂产品不良率降低</a:t>
            </a:r>
            <a:r>
              <a:rPr lang="en-US" altLang="zh-CN" b="1" dirty="0"/>
              <a:t>20%</a:t>
            </a:r>
            <a:r>
              <a:rPr lang="zh-CN" altLang="en-US" dirty="0"/>
              <a:t>，能耗下降</a:t>
            </a:r>
            <a:r>
              <a:rPr lang="en-US" altLang="zh-CN" b="1" dirty="0"/>
              <a:t>15%</a:t>
            </a:r>
            <a:r>
              <a:rPr lang="zh-CN" altLang="en-US" dirty="0"/>
              <a:t> </a:t>
            </a:r>
            <a:r>
              <a:rPr lang="en-US" altLang="zh-CN" b="1" dirty="0">
                <a:hlinkClick r:id="rId1"/>
              </a:rPr>
              <a:t>1</a:t>
            </a:r>
            <a:r>
              <a:rPr lang="en-US" altLang="zh-CN" b="1" dirty="0">
                <a:hlinkClick r:id="rId3"/>
              </a:rPr>
              <a:t>5</a:t>
            </a:r>
            <a:r>
              <a:rPr lang="zh-CN" altLang="en-US" dirty="0"/>
              <a:t>。</a:t>
            </a:r>
            <a:endParaRPr lang="zh-CN" altLang="en-US" dirty="0"/>
          </a:p>
          <a:p>
            <a:pPr latinLnBrk="1"/>
            <a:r>
              <a:rPr lang="zh-CN" altLang="en-US" b="1" dirty="0"/>
              <a:t>新业态驱动增长</a:t>
            </a:r>
            <a:endParaRPr lang="zh-CN" altLang="en-US" dirty="0"/>
          </a:p>
          <a:p>
            <a:pPr lvl="1" latinLnBrk="1"/>
            <a:r>
              <a:rPr lang="zh-CN" altLang="en-US" dirty="0"/>
              <a:t>催生</a:t>
            </a:r>
            <a:r>
              <a:rPr lang="zh-CN" altLang="en-US" b="1" dirty="0"/>
              <a:t>个性化定制、服务化延伸</a:t>
            </a:r>
            <a:r>
              <a:rPr lang="zh-CN" altLang="en-US" dirty="0"/>
              <a:t>等新模式，</a:t>
            </a:r>
            <a:r>
              <a:rPr lang="en-US" altLang="zh-CN" dirty="0"/>
              <a:t>2023</a:t>
            </a:r>
            <a:r>
              <a:rPr lang="zh-CN" altLang="en-US" dirty="0"/>
              <a:t>年平台经济规模超</a:t>
            </a:r>
            <a:r>
              <a:rPr lang="en-US" altLang="zh-CN" b="1" dirty="0"/>
              <a:t>9.2</a:t>
            </a:r>
            <a:r>
              <a:rPr lang="zh-CN" altLang="en-US" b="1" dirty="0"/>
              <a:t>万亿元</a:t>
            </a:r>
            <a:r>
              <a:rPr lang="zh-CN" altLang="en-US" dirty="0"/>
              <a:t>，占数字经济</a:t>
            </a:r>
            <a:r>
              <a:rPr lang="en-US" altLang="zh-CN" dirty="0"/>
              <a:t>18.3% </a:t>
            </a:r>
            <a:r>
              <a:rPr lang="en-US" altLang="zh-CN" b="1" dirty="0">
                <a:hlinkClick r:id="rId1"/>
              </a:rPr>
              <a:t>1</a:t>
            </a:r>
            <a:r>
              <a:rPr lang="zh-CN" altLang="en-US" dirty="0"/>
              <a:t>。</a:t>
            </a:r>
            <a:endParaRPr lang="zh-CN" altLang="en-US" dirty="0"/>
          </a:p>
          <a:p>
            <a:pPr lvl="1" latinLnBrk="1"/>
            <a:r>
              <a:rPr lang="zh-CN" altLang="en-US" dirty="0"/>
              <a:t>数据要素流通推动传统产业附加值提升，企业数据资产化率年增</a:t>
            </a:r>
            <a:r>
              <a:rPr lang="en-US" altLang="zh-CN" b="1" dirty="0"/>
              <a:t>25%</a:t>
            </a:r>
            <a:r>
              <a:rPr lang="zh-CN" altLang="en-US" dirty="0"/>
              <a:t> </a:t>
            </a:r>
            <a:r>
              <a:rPr lang="en-US" altLang="zh-CN" b="1" dirty="0">
                <a:hlinkClick r:id="rId4"/>
              </a:rPr>
              <a:t>6</a:t>
            </a:r>
            <a:r>
              <a:rPr lang="en-US" altLang="zh-CN" dirty="0"/>
              <a:t>]</a:t>
            </a:r>
            <a:r>
              <a:rPr lang="zh-CN" altLang="en-US" dirty="0"/>
              <a:t>。</a:t>
            </a:r>
            <a:endParaRPr lang="zh-CN" altLang="en-US" dirty="0"/>
          </a:p>
          <a:p>
            <a:pPr latinLnBrk="1"/>
            <a:r>
              <a:rPr lang="zh-CN" altLang="en-US" b="1" dirty="0"/>
              <a:t>政策支撑</a:t>
            </a:r>
            <a:r>
              <a:rPr lang="zh-CN" altLang="en-US" dirty="0"/>
              <a:t>：</a:t>
            </a:r>
            <a:r>
              <a:rPr lang="en-US" altLang="zh-CN" dirty="0"/>
              <a:t>"</a:t>
            </a:r>
            <a:r>
              <a:rPr lang="zh-CN" altLang="en-US" dirty="0"/>
              <a:t>数据二十条</a:t>
            </a:r>
            <a:r>
              <a:rPr lang="en-US" altLang="zh-CN" dirty="0"/>
              <a:t>"</a:t>
            </a:r>
            <a:r>
              <a:rPr lang="zh-CN" altLang="en-US" dirty="0"/>
              <a:t>激活数据价值，</a:t>
            </a:r>
            <a:r>
              <a:rPr lang="en-US" altLang="zh-CN" dirty="0"/>
              <a:t>《"</a:t>
            </a:r>
            <a:r>
              <a:rPr lang="zh-CN" altLang="en-US" dirty="0"/>
              <a:t>十四五</a:t>
            </a:r>
            <a:r>
              <a:rPr lang="en-US" altLang="zh-CN" dirty="0"/>
              <a:t>"</a:t>
            </a:r>
            <a:r>
              <a:rPr lang="zh-CN" altLang="en-US" dirty="0"/>
              <a:t>数字经济发展规划</a:t>
            </a:r>
            <a:r>
              <a:rPr lang="en-US" altLang="zh-CN" dirty="0"/>
              <a:t>》</a:t>
            </a:r>
            <a:r>
              <a:rPr lang="zh-CN" altLang="en-US" dirty="0"/>
              <a:t>推动数实融合。</a:t>
            </a:r>
            <a:endParaRPr lang="zh-CN" altLang="en-US" dirty="0"/>
          </a:p>
          <a:p>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我国数字经济相对于传统产业的新优势</a:t>
            </a:r>
            <a:r>
              <a:rPr lang="en-US" altLang="zh-CN" dirty="0"/>
              <a:t>(2)</a:t>
            </a:r>
            <a:endParaRPr lang="zh-CN" altLang="en-US" dirty="0"/>
          </a:p>
        </p:txBody>
      </p:sp>
      <p:sp>
        <p:nvSpPr>
          <p:cNvPr id="3" name="内容占位符 2"/>
          <p:cNvSpPr>
            <a:spLocks noGrp="1"/>
          </p:cNvSpPr>
          <p:nvPr>
            <p:ph idx="1"/>
          </p:nvPr>
        </p:nvSpPr>
        <p:spPr/>
        <p:txBody>
          <a:bodyPr/>
          <a:lstStyle/>
          <a:p>
            <a:r>
              <a:rPr lang="zh-CN" altLang="en-US" b="1" dirty="0"/>
              <a:t>幻灯片</a:t>
            </a:r>
            <a:r>
              <a:rPr lang="en-US" altLang="zh-CN" b="1" dirty="0"/>
              <a:t>2</a:t>
            </a:r>
            <a:r>
              <a:rPr lang="zh-CN" altLang="en-US" b="1" dirty="0"/>
              <a:t>：成本优化与绿色发展</a:t>
            </a:r>
            <a:endParaRPr lang="zh-CN" altLang="en-US" b="1" dirty="0"/>
          </a:p>
          <a:p>
            <a:pPr latinLnBrk="1"/>
            <a:r>
              <a:rPr lang="zh-CN" altLang="en-US" b="1" dirty="0"/>
              <a:t>边际成本显著降低</a:t>
            </a:r>
            <a:endParaRPr lang="zh-CN" altLang="en-US" dirty="0"/>
          </a:p>
          <a:p>
            <a:pPr lvl="1" latinLnBrk="1"/>
            <a:r>
              <a:rPr lang="zh-CN" altLang="en-US" dirty="0"/>
              <a:t>智能供应链管理降低物流成本</a:t>
            </a:r>
            <a:r>
              <a:rPr lang="en-US" altLang="zh-CN" b="1" dirty="0"/>
              <a:t>18%</a:t>
            </a:r>
            <a:r>
              <a:rPr lang="zh-CN" altLang="en-US" dirty="0"/>
              <a:t>，库存周转效率提升</a:t>
            </a:r>
            <a:r>
              <a:rPr lang="en-US" altLang="zh-CN" b="1" dirty="0"/>
              <a:t>35%</a:t>
            </a:r>
            <a:r>
              <a:rPr lang="zh-CN" altLang="en-US" dirty="0"/>
              <a:t> </a:t>
            </a:r>
            <a:r>
              <a:rPr lang="en-US" altLang="zh-CN" b="1" dirty="0">
                <a:hlinkClick r:id="rId1"/>
              </a:rPr>
              <a:t>4</a:t>
            </a:r>
            <a:r>
              <a:rPr lang="en-US" altLang="zh-CN" dirty="0"/>
              <a:t>]</a:t>
            </a:r>
            <a:r>
              <a:rPr lang="zh-CN" altLang="en-US" dirty="0"/>
              <a:t>。</a:t>
            </a:r>
            <a:endParaRPr lang="zh-CN" altLang="en-US" dirty="0"/>
          </a:p>
          <a:p>
            <a:pPr lvl="1" latinLnBrk="1"/>
            <a:r>
              <a:rPr lang="en-US" altLang="zh-CN" dirty="0"/>
              <a:t>"</a:t>
            </a:r>
            <a:r>
              <a:rPr lang="zh-CN" altLang="en-US" dirty="0"/>
              <a:t>东数西算</a:t>
            </a:r>
            <a:r>
              <a:rPr lang="en-US" altLang="zh-CN" dirty="0"/>
              <a:t>"</a:t>
            </a:r>
            <a:r>
              <a:rPr lang="zh-CN" altLang="en-US" dirty="0"/>
              <a:t>工程优化算力资源配置，企业用数成本下降</a:t>
            </a:r>
            <a:r>
              <a:rPr lang="en-US" altLang="zh-CN" b="1" dirty="0"/>
              <a:t>30%</a:t>
            </a:r>
            <a:r>
              <a:rPr lang="zh-CN" altLang="en-US" dirty="0"/>
              <a:t> </a:t>
            </a:r>
            <a:r>
              <a:rPr lang="en-US" altLang="zh-CN" b="1" dirty="0">
                <a:hlinkClick r:id="rId2"/>
              </a:rPr>
              <a:t>2</a:t>
            </a:r>
            <a:r>
              <a:rPr lang="en-US" altLang="zh-CN" b="1" dirty="0">
                <a:hlinkClick r:id="rId3"/>
              </a:rPr>
              <a:t>5</a:t>
            </a:r>
            <a:r>
              <a:rPr lang="zh-CN" altLang="en-US" dirty="0"/>
              <a:t>。</a:t>
            </a:r>
            <a:endParaRPr lang="zh-CN" altLang="en-US" dirty="0"/>
          </a:p>
          <a:p>
            <a:pPr latinLnBrk="1"/>
            <a:r>
              <a:rPr lang="zh-CN" altLang="en-US" b="1" dirty="0"/>
              <a:t>绿色低碳转型加速</a:t>
            </a:r>
            <a:endParaRPr lang="zh-CN" altLang="en-US" dirty="0"/>
          </a:p>
          <a:p>
            <a:pPr lvl="1" latinLnBrk="1"/>
            <a:r>
              <a:rPr lang="zh-CN" altLang="en-US" dirty="0"/>
              <a:t>数字技术赋能高耗能产业，单位</a:t>
            </a:r>
            <a:r>
              <a:rPr lang="en-US" altLang="zh-CN" dirty="0"/>
              <a:t>GDP</a:t>
            </a:r>
            <a:r>
              <a:rPr lang="zh-CN" altLang="en-US" dirty="0"/>
              <a:t>能耗较传统模式降低</a:t>
            </a:r>
            <a:r>
              <a:rPr lang="en-US" altLang="zh-CN" b="1" dirty="0"/>
              <a:t>22%</a:t>
            </a:r>
            <a:r>
              <a:rPr lang="zh-CN" altLang="en-US" dirty="0"/>
              <a:t> </a:t>
            </a:r>
            <a:r>
              <a:rPr lang="en-US" altLang="zh-CN" b="1" dirty="0">
                <a:hlinkClick r:id="rId3"/>
              </a:rPr>
              <a:t>5</a:t>
            </a:r>
            <a:r>
              <a:rPr lang="en-US" altLang="zh-CN" dirty="0"/>
              <a:t>]</a:t>
            </a:r>
            <a:r>
              <a:rPr lang="zh-CN" altLang="en-US" dirty="0"/>
              <a:t>。</a:t>
            </a:r>
            <a:endParaRPr lang="zh-CN" altLang="en-US" dirty="0"/>
          </a:p>
          <a:p>
            <a:pPr lvl="1" latinLnBrk="1"/>
            <a:r>
              <a:rPr lang="zh-CN" altLang="en-US" dirty="0"/>
              <a:t>山西零碳智算中心等项目实现</a:t>
            </a:r>
            <a:r>
              <a:rPr lang="en-US" altLang="zh-CN" b="1" dirty="0"/>
              <a:t>100%</a:t>
            </a:r>
            <a:r>
              <a:rPr lang="zh-CN" altLang="en-US" b="1" dirty="0"/>
              <a:t>可再生能源供电</a:t>
            </a:r>
            <a:r>
              <a:rPr lang="zh-CN" altLang="en-US" dirty="0"/>
              <a:t>，减少碳排放超</a:t>
            </a:r>
            <a:r>
              <a:rPr lang="en-US" altLang="zh-CN" b="1" dirty="0"/>
              <a:t>50</a:t>
            </a:r>
            <a:r>
              <a:rPr lang="zh-CN" altLang="en-US" b="1" dirty="0"/>
              <a:t>万吨</a:t>
            </a:r>
            <a:r>
              <a:rPr lang="en-US" altLang="zh-CN" b="1" dirty="0"/>
              <a:t>/</a:t>
            </a:r>
            <a:r>
              <a:rPr lang="zh-CN" altLang="en-US" b="1" dirty="0"/>
              <a:t>年</a:t>
            </a:r>
            <a:r>
              <a:rPr lang="zh-CN" altLang="en-US" dirty="0"/>
              <a:t> </a:t>
            </a:r>
            <a:r>
              <a:rPr lang="en-US" altLang="zh-CN" b="1" dirty="0">
                <a:hlinkClick r:id="rId3"/>
              </a:rPr>
              <a:t>5</a:t>
            </a:r>
            <a:r>
              <a:rPr lang="en-US" altLang="zh-CN" dirty="0"/>
              <a:t>]</a:t>
            </a:r>
            <a:r>
              <a:rPr lang="zh-CN" altLang="en-US" dirty="0"/>
              <a:t>。</a:t>
            </a:r>
            <a:endParaRPr lang="zh-CN" altLang="en-US" dirty="0"/>
          </a:p>
          <a:p>
            <a:pPr latinLnBrk="1"/>
            <a:r>
              <a:rPr lang="zh-CN" altLang="en-US" b="1" dirty="0"/>
              <a:t>政策支撑</a:t>
            </a:r>
            <a:r>
              <a:rPr lang="zh-CN" altLang="en-US" dirty="0"/>
              <a:t>：碳中和目标驱动数字化绿色化协同，</a:t>
            </a:r>
            <a:r>
              <a:rPr lang="en-US" altLang="zh-CN" dirty="0"/>
              <a:t>《</a:t>
            </a:r>
            <a:r>
              <a:rPr lang="zh-CN" altLang="en-US" dirty="0"/>
              <a:t>新型数据中心发展三年行动计划</a:t>
            </a:r>
            <a:r>
              <a:rPr lang="en-US" altLang="zh-CN" dirty="0"/>
              <a:t>》</a:t>
            </a:r>
            <a:r>
              <a:rPr lang="zh-CN" altLang="en-US" dirty="0"/>
              <a:t>。</a:t>
            </a:r>
            <a:endParaRPr lang="zh-CN" altLang="en-US" dirty="0"/>
          </a:p>
          <a:p>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我国数字经济相对于传统产业的新优势</a:t>
            </a:r>
            <a:r>
              <a:rPr lang="en-US" altLang="zh-CN" dirty="0"/>
              <a:t>(3)</a:t>
            </a:r>
            <a:endParaRPr lang="zh-CN" altLang="en-US" dirty="0"/>
          </a:p>
        </p:txBody>
      </p:sp>
      <p:sp>
        <p:nvSpPr>
          <p:cNvPr id="3" name="内容占位符 2"/>
          <p:cNvSpPr>
            <a:spLocks noGrp="1"/>
          </p:cNvSpPr>
          <p:nvPr>
            <p:ph idx="1"/>
          </p:nvPr>
        </p:nvSpPr>
        <p:spPr/>
        <p:txBody>
          <a:bodyPr/>
          <a:lstStyle/>
          <a:p>
            <a:r>
              <a:rPr lang="zh-CN" altLang="en-US" b="1" dirty="0"/>
              <a:t>幻灯片</a:t>
            </a:r>
            <a:r>
              <a:rPr lang="en-US" altLang="zh-CN" b="1" dirty="0"/>
              <a:t>3</a:t>
            </a:r>
            <a:r>
              <a:rPr lang="zh-CN" altLang="en-US" b="1" dirty="0"/>
              <a:t>：市场响应与普惠赋能</a:t>
            </a:r>
            <a:endParaRPr lang="zh-CN" altLang="en-US" b="1" dirty="0"/>
          </a:p>
          <a:p>
            <a:pPr latinLnBrk="1"/>
            <a:r>
              <a:rPr lang="zh-CN" altLang="en-US" b="1" dirty="0"/>
              <a:t>敏捷化市场适配</a:t>
            </a:r>
            <a:endParaRPr lang="zh-CN" altLang="en-US" dirty="0"/>
          </a:p>
          <a:p>
            <a:pPr lvl="1" latinLnBrk="1"/>
            <a:r>
              <a:rPr lang="zh-CN" altLang="en-US" dirty="0"/>
              <a:t>用户需求直达生产端，定制化产品开发周期从</a:t>
            </a:r>
            <a:r>
              <a:rPr lang="en-US" altLang="zh-CN" b="1" dirty="0"/>
              <a:t>6</a:t>
            </a:r>
            <a:r>
              <a:rPr lang="zh-CN" altLang="en-US" b="1" dirty="0"/>
              <a:t>个月压缩至</a:t>
            </a:r>
            <a:r>
              <a:rPr lang="en-US" altLang="zh-CN" b="1" dirty="0"/>
              <a:t>15</a:t>
            </a:r>
            <a:r>
              <a:rPr lang="zh-CN" altLang="en-US" b="1" dirty="0"/>
              <a:t>天</a:t>
            </a:r>
            <a:r>
              <a:rPr lang="zh-CN" altLang="en-US" dirty="0"/>
              <a:t> </a:t>
            </a:r>
            <a:r>
              <a:rPr lang="en-US" altLang="zh-CN" b="1" dirty="0">
                <a:hlinkClick r:id="rId1"/>
              </a:rPr>
              <a:t>1</a:t>
            </a:r>
            <a:r>
              <a:rPr lang="en-US" altLang="zh-CN" dirty="0"/>
              <a:t>]</a:t>
            </a:r>
            <a:r>
              <a:rPr lang="zh-CN" altLang="en-US" dirty="0"/>
              <a:t>。</a:t>
            </a:r>
            <a:endParaRPr lang="zh-CN" altLang="en-US" dirty="0"/>
          </a:p>
          <a:p>
            <a:pPr lvl="1" latinLnBrk="1"/>
            <a:r>
              <a:rPr lang="zh-CN" altLang="en-US" dirty="0"/>
              <a:t>跨境电商链接全球市场，</a:t>
            </a:r>
            <a:r>
              <a:rPr lang="en-US" altLang="zh-CN" dirty="0"/>
              <a:t>2023</a:t>
            </a:r>
            <a:r>
              <a:rPr lang="zh-CN" altLang="en-US" dirty="0"/>
              <a:t>年数字贸易规模</a:t>
            </a:r>
            <a:r>
              <a:rPr lang="en-US" altLang="zh-CN" b="1" dirty="0"/>
              <a:t>2.38</a:t>
            </a:r>
            <a:r>
              <a:rPr lang="zh-CN" altLang="en-US" b="1" dirty="0"/>
              <a:t>万亿元</a:t>
            </a:r>
            <a:r>
              <a:rPr lang="zh-CN" altLang="en-US" dirty="0"/>
              <a:t>，增速达传统贸易</a:t>
            </a:r>
            <a:r>
              <a:rPr lang="en-US" altLang="zh-CN" dirty="0"/>
              <a:t>3</a:t>
            </a:r>
            <a:r>
              <a:rPr lang="zh-CN" altLang="en-US" dirty="0"/>
              <a:t>倍 </a:t>
            </a:r>
            <a:r>
              <a:rPr lang="en-US" altLang="zh-CN" b="1" dirty="0">
                <a:hlinkClick r:id="rId2"/>
              </a:rPr>
              <a:t>6</a:t>
            </a:r>
            <a:r>
              <a:rPr lang="en-US" altLang="zh-CN" dirty="0"/>
              <a:t>]</a:t>
            </a:r>
            <a:r>
              <a:rPr lang="zh-CN" altLang="en-US" dirty="0"/>
              <a:t>。</a:t>
            </a:r>
            <a:endParaRPr lang="zh-CN" altLang="en-US" dirty="0"/>
          </a:p>
          <a:p>
            <a:pPr latinLnBrk="1"/>
            <a:r>
              <a:rPr lang="zh-CN" altLang="en-US" b="1" dirty="0"/>
              <a:t>中小企业普惠突围</a:t>
            </a:r>
            <a:endParaRPr lang="zh-CN" altLang="en-US" dirty="0"/>
          </a:p>
          <a:p>
            <a:pPr lvl="1" latinLnBrk="1"/>
            <a:r>
              <a:rPr lang="zh-CN" altLang="en-US" dirty="0"/>
              <a:t>云服务降低</a:t>
            </a:r>
            <a:r>
              <a:rPr lang="en-US" altLang="zh-CN" dirty="0"/>
              <a:t>IT</a:t>
            </a:r>
            <a:r>
              <a:rPr lang="zh-CN" altLang="en-US" dirty="0"/>
              <a:t>投入门槛，中小企业上云率超</a:t>
            </a:r>
            <a:r>
              <a:rPr lang="en-US" altLang="zh-CN" b="1" dirty="0"/>
              <a:t>40%</a:t>
            </a:r>
            <a:r>
              <a:rPr lang="zh-CN" altLang="en-US" dirty="0"/>
              <a:t> </a:t>
            </a:r>
            <a:r>
              <a:rPr lang="en-US" altLang="zh-CN" b="1" dirty="0">
                <a:hlinkClick r:id="rId3"/>
              </a:rPr>
              <a:t>4</a:t>
            </a:r>
            <a:r>
              <a:rPr lang="en-US" altLang="zh-CN" dirty="0"/>
              <a:t>]</a:t>
            </a:r>
            <a:r>
              <a:rPr lang="zh-CN" altLang="en-US" dirty="0"/>
              <a:t>。</a:t>
            </a:r>
            <a:endParaRPr lang="zh-CN" altLang="en-US" dirty="0"/>
          </a:p>
          <a:p>
            <a:pPr lvl="1" latinLnBrk="1"/>
            <a:r>
              <a:rPr lang="zh-CN" altLang="en-US" dirty="0"/>
              <a:t>直播电商带动县域农产品销售增长</a:t>
            </a:r>
            <a:r>
              <a:rPr lang="en-US" altLang="zh-CN" b="1" dirty="0"/>
              <a:t>65%</a:t>
            </a:r>
            <a:r>
              <a:rPr lang="zh-CN" altLang="en-US" dirty="0"/>
              <a:t>，激活乡村产业链 </a:t>
            </a:r>
            <a:r>
              <a:rPr lang="en-US" altLang="zh-CN" b="1" dirty="0">
                <a:hlinkClick r:id="rId1"/>
              </a:rPr>
              <a:t>1</a:t>
            </a:r>
            <a:r>
              <a:rPr lang="en-US" altLang="zh-CN" dirty="0"/>
              <a:t>]</a:t>
            </a:r>
            <a:endParaRPr lang="en-US" altLang="zh-CN" dirty="0"/>
          </a:p>
          <a:p>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我国发展数字经济的关键路径与政策支撑</a:t>
            </a:r>
            <a:br>
              <a:rPr lang="zh-CN" altLang="zh-CN" dirty="0"/>
            </a:br>
            <a:endParaRPr lang="zh-CN" altLang="en-US" dirty="0"/>
          </a:p>
        </p:txBody>
      </p:sp>
      <p:graphicFrame>
        <p:nvGraphicFramePr>
          <p:cNvPr id="6" name="表格 5"/>
          <p:cNvGraphicFramePr>
            <a:graphicFrameLocks noGrp="1"/>
          </p:cNvGraphicFramePr>
          <p:nvPr/>
        </p:nvGraphicFramePr>
        <p:xfrm>
          <a:off x="202131" y="1982803"/>
          <a:ext cx="11425187" cy="3907860"/>
        </p:xfrm>
        <a:graphic>
          <a:graphicData uri="http://schemas.openxmlformats.org/drawingml/2006/table">
            <a:tbl>
              <a:tblPr>
                <a:tableStyleId>{5C22544A-7EE6-4342-B048-85BDC9FD1C3A}</a:tableStyleId>
              </a:tblPr>
              <a:tblGrid>
                <a:gridCol w="1868059"/>
                <a:gridCol w="9557128"/>
              </a:tblGrid>
              <a:tr h="443787">
                <a:tc>
                  <a:txBody>
                    <a:bodyPr/>
                    <a:lstStyle/>
                    <a:p>
                      <a:pPr algn="l" fontAlgn="b"/>
                      <a:r>
                        <a:rPr lang="zh-CN" altLang="en-US" sz="1600" u="none" strike="noStrike">
                          <a:effectLst/>
                        </a:rPr>
                        <a:t>关键路径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1600" u="none" strike="noStrike">
                          <a:effectLst/>
                        </a:rPr>
                        <a:t>政策支持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r>
              <a:tr h="503381">
                <a:tc>
                  <a:txBody>
                    <a:bodyPr/>
                    <a:lstStyle/>
                    <a:p>
                      <a:pPr algn="l" fontAlgn="b"/>
                      <a:r>
                        <a:rPr lang="zh-CN" altLang="en-US" sz="1600" u="none" strike="noStrike">
                          <a:effectLst/>
                        </a:rPr>
                        <a:t>加强数字基础设施建设</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1600" u="none" strike="noStrike">
                          <a:effectLst/>
                        </a:rPr>
                        <a:t> </a:t>
                      </a:r>
                      <a:r>
                        <a:rPr lang="en-US" altLang="zh-CN" sz="1600" u="none" strike="noStrike">
                          <a:effectLst/>
                        </a:rPr>
                        <a:t>《“</a:t>
                      </a:r>
                      <a:r>
                        <a:rPr lang="zh-CN" altLang="en-US" sz="1600" u="none" strike="noStrike">
                          <a:effectLst/>
                        </a:rPr>
                        <a:t>十四五”数字经济发展规划</a:t>
                      </a:r>
                      <a:r>
                        <a:rPr lang="en-US" altLang="zh-CN" sz="1600" u="none" strike="noStrike">
                          <a:effectLst/>
                        </a:rPr>
                        <a:t>》</a:t>
                      </a:r>
                      <a:r>
                        <a:rPr lang="zh-CN" altLang="en-US" sz="1600" u="none" strike="noStrike">
                          <a:effectLst/>
                        </a:rPr>
                        <a:t>提出加快信息网络基础设施建设，推进云网协同和算网融合发展。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r>
              <a:tr h="503381">
                <a:tc>
                  <a:txBody>
                    <a:bodyPr/>
                    <a:lstStyle/>
                    <a:p>
                      <a:pPr algn="l" fontAlgn="b"/>
                      <a:r>
                        <a:rPr lang="zh-CN" altLang="en-US" sz="1600" u="none" strike="noStrike">
                          <a:effectLst/>
                        </a:rPr>
                        <a:t>推动数字产业化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1600" u="none" strike="noStrike">
                          <a:effectLst/>
                        </a:rPr>
                        <a:t> </a:t>
                      </a:r>
                      <a:r>
                        <a:rPr lang="en-US" altLang="zh-CN" sz="1600" u="none" strike="noStrike">
                          <a:effectLst/>
                        </a:rPr>
                        <a:t>《“</a:t>
                      </a:r>
                      <a:r>
                        <a:rPr lang="zh-CN" altLang="en-US" sz="1600" u="none" strike="noStrike">
                          <a:effectLst/>
                        </a:rPr>
                        <a:t>十四五”数字经济发展规划</a:t>
                      </a:r>
                      <a:r>
                        <a:rPr lang="en-US" altLang="zh-CN" sz="1600" u="none" strike="noStrike">
                          <a:effectLst/>
                        </a:rPr>
                        <a:t>》</a:t>
                      </a:r>
                      <a:r>
                        <a:rPr lang="zh-CN" altLang="en-US" sz="1600" u="none" strike="noStrike">
                          <a:effectLst/>
                        </a:rPr>
                        <a:t>强调提升核心产业竞争力，培育壮大人工智能、大数据、区块链等新兴产业。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r>
              <a:tr h="503381">
                <a:tc>
                  <a:txBody>
                    <a:bodyPr/>
                    <a:lstStyle/>
                    <a:p>
                      <a:pPr algn="l" fontAlgn="b"/>
                      <a:r>
                        <a:rPr lang="zh-CN" altLang="en-US" sz="1600" u="none" strike="noStrike">
                          <a:effectLst/>
                        </a:rPr>
                        <a:t>推进产业数字化转型</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1600" u="none" strike="noStrike">
                          <a:effectLst/>
                        </a:rPr>
                        <a:t> </a:t>
                      </a:r>
                      <a:r>
                        <a:rPr lang="en-US" altLang="zh-CN" sz="1600" u="none" strike="noStrike">
                          <a:effectLst/>
                        </a:rPr>
                        <a:t>《</a:t>
                      </a:r>
                      <a:r>
                        <a:rPr lang="zh-CN" altLang="en-US" sz="1600" u="none" strike="noStrike">
                          <a:effectLst/>
                        </a:rPr>
                        <a:t>关于深化新一代信息技术与制造业融合发展的指导意见</a:t>
                      </a:r>
                      <a:r>
                        <a:rPr lang="en-US" altLang="zh-CN" sz="1600" u="none" strike="noStrike">
                          <a:effectLst/>
                        </a:rPr>
                        <a:t>》</a:t>
                      </a:r>
                      <a:r>
                        <a:rPr lang="zh-CN" altLang="en-US" sz="1600" u="none" strike="noStrike">
                          <a:effectLst/>
                        </a:rPr>
                        <a:t>提出加快制造业数字化转型。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r>
              <a:tr h="503381">
                <a:tc>
                  <a:txBody>
                    <a:bodyPr/>
                    <a:lstStyle/>
                    <a:p>
                      <a:pPr algn="l" fontAlgn="b"/>
                      <a:r>
                        <a:rPr lang="zh-CN" altLang="en-US" sz="1600" u="none" strike="noStrike">
                          <a:effectLst/>
                        </a:rPr>
                        <a:t>促进数据要素市场化</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1600" u="none" strike="noStrike">
                          <a:effectLst/>
                        </a:rPr>
                        <a:t> </a:t>
                      </a:r>
                      <a:r>
                        <a:rPr lang="en-US" altLang="zh-CN" sz="1600" u="none" strike="noStrike">
                          <a:effectLst/>
                        </a:rPr>
                        <a:t>《</a:t>
                      </a:r>
                      <a:r>
                        <a:rPr lang="zh-CN" altLang="en-US" sz="1600" u="none" strike="noStrike">
                          <a:effectLst/>
                        </a:rPr>
                        <a:t>关于构建更加完善的要素市场化配置体制机制的意见</a:t>
                      </a:r>
                      <a:r>
                        <a:rPr lang="en-US" altLang="zh-CN" sz="1600" u="none" strike="noStrike">
                          <a:effectLst/>
                        </a:rPr>
                        <a:t>》</a:t>
                      </a:r>
                      <a:r>
                        <a:rPr lang="zh-CN" altLang="en-US" sz="1600" u="none" strike="noStrike">
                          <a:effectLst/>
                        </a:rPr>
                        <a:t>提出加快培育数据要素市场。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r>
              <a:tr h="443787">
                <a:tc>
                  <a:txBody>
                    <a:bodyPr/>
                    <a:lstStyle/>
                    <a:p>
                      <a:pPr algn="l" fontAlgn="b"/>
                      <a:r>
                        <a:rPr lang="zh-CN" altLang="en-US" sz="1600" u="none" strike="noStrike">
                          <a:effectLst/>
                        </a:rPr>
                        <a:t>加强数字技术创新</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en-US" altLang="zh-CN" sz="1600" u="none" strike="noStrike">
                          <a:effectLst/>
                        </a:rPr>
                        <a:t>《 “</a:t>
                      </a:r>
                      <a:r>
                        <a:rPr lang="zh-CN" altLang="en-US" sz="1600" u="none" strike="noStrike">
                          <a:effectLst/>
                        </a:rPr>
                        <a:t>十四五”国家科技创新规划</a:t>
                      </a:r>
                      <a:r>
                        <a:rPr lang="en-US" altLang="zh-CN" sz="1600" u="none" strike="noStrike">
                          <a:effectLst/>
                        </a:rPr>
                        <a:t>》</a:t>
                      </a:r>
                      <a:r>
                        <a:rPr lang="zh-CN" altLang="en-US" sz="1600" u="none" strike="noStrike">
                          <a:effectLst/>
                        </a:rPr>
                        <a:t>提出加强数字技术领域关键核心技术攻关。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r>
              <a:tr h="503381">
                <a:tc>
                  <a:txBody>
                    <a:bodyPr/>
                    <a:lstStyle/>
                    <a:p>
                      <a:pPr algn="l" fontAlgn="b"/>
                      <a:r>
                        <a:rPr lang="zh-CN" altLang="en-US" sz="1600" u="none" strike="noStrike">
                          <a:effectLst/>
                        </a:rPr>
                        <a:t>提升数字公共服务水平</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1600" u="none" strike="noStrike">
                          <a:effectLst/>
                        </a:rPr>
                        <a:t> </a:t>
                      </a:r>
                      <a:r>
                        <a:rPr lang="en-US" altLang="zh-CN" sz="1600" u="none" strike="noStrike">
                          <a:effectLst/>
                        </a:rPr>
                        <a:t>《</a:t>
                      </a:r>
                      <a:r>
                        <a:rPr lang="zh-CN" altLang="en-US" sz="1600" u="none" strike="noStrike">
                          <a:effectLst/>
                        </a:rPr>
                        <a:t>数字中国建设发展报告</a:t>
                      </a:r>
                      <a:r>
                        <a:rPr lang="en-US" altLang="zh-CN" sz="1600" u="none" strike="noStrike">
                          <a:effectLst/>
                        </a:rPr>
                        <a:t>》</a:t>
                      </a:r>
                      <a:r>
                        <a:rPr lang="zh-CN" altLang="en-US" sz="1600" u="none" strike="noStrike">
                          <a:effectLst/>
                        </a:rPr>
                        <a:t>提出提升数字政府和数字社会建设水平。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r>
              <a:tr h="503381">
                <a:tc>
                  <a:txBody>
                    <a:bodyPr/>
                    <a:lstStyle/>
                    <a:p>
                      <a:pPr algn="l" fontAlgn="b"/>
                      <a:r>
                        <a:rPr lang="zh-CN" altLang="en-US" sz="1600" u="none" strike="noStrike">
                          <a:effectLst/>
                        </a:rPr>
                        <a:t>强化数字经济安全保障</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1600" u="none" strike="noStrike" dirty="0">
                          <a:effectLst/>
                        </a:rPr>
                        <a:t> </a:t>
                      </a:r>
                      <a:r>
                        <a:rPr lang="en-US" altLang="zh-CN" sz="1600" u="none" strike="noStrike" dirty="0">
                          <a:effectLst/>
                        </a:rPr>
                        <a:t>《</a:t>
                      </a:r>
                      <a:r>
                        <a:rPr lang="zh-CN" altLang="en-US" sz="1600" u="none" strike="noStrike" dirty="0">
                          <a:effectLst/>
                        </a:rPr>
                        <a:t>网络安全法</a:t>
                      </a:r>
                      <a:r>
                        <a:rPr lang="en-US" altLang="zh-CN" sz="1600" u="none" strike="noStrike" dirty="0">
                          <a:effectLst/>
                        </a:rPr>
                        <a:t>》《</a:t>
                      </a:r>
                      <a:r>
                        <a:rPr lang="zh-CN" altLang="en-US" sz="1600" u="none" strike="noStrike" dirty="0">
                          <a:effectLst/>
                        </a:rPr>
                        <a:t>数据安全法</a:t>
                      </a:r>
                      <a:r>
                        <a:rPr lang="en-US" altLang="zh-CN" sz="1600" u="none" strike="noStrike" dirty="0">
                          <a:effectLst/>
                        </a:rPr>
                        <a:t>》《</a:t>
                      </a:r>
                      <a:r>
                        <a:rPr lang="zh-CN" altLang="en-US" sz="1600" u="none" strike="noStrike" dirty="0">
                          <a:effectLst/>
                        </a:rPr>
                        <a:t>个人信息保护法</a:t>
                      </a:r>
                      <a:r>
                        <a:rPr lang="en-US" altLang="zh-CN" sz="1600" u="none" strike="noStrike" dirty="0">
                          <a:effectLst/>
                        </a:rPr>
                        <a:t>》</a:t>
                      </a:r>
                      <a:r>
                        <a:rPr lang="zh-CN" altLang="en-US" sz="1600" u="none" strike="noStrike" dirty="0">
                          <a:effectLst/>
                        </a:rPr>
                        <a:t>等法律法规为数字经济安全提供保障。 </a:t>
                      </a:r>
                      <a:endParaRPr lang="zh-CN" altLang="en-US" sz="16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总结：数字经济发展的关键路径与政策</a:t>
            </a:r>
            <a:endParaRPr lang="zh-CN" altLang="en-US" dirty="0"/>
          </a:p>
        </p:txBody>
      </p:sp>
      <p:sp>
        <p:nvSpPr>
          <p:cNvPr id="3" name="内容占位符 2"/>
          <p:cNvSpPr>
            <a:spLocks noGrp="1"/>
          </p:cNvSpPr>
          <p:nvPr>
            <p:ph idx="1"/>
          </p:nvPr>
        </p:nvSpPr>
        <p:spPr/>
        <p:txBody>
          <a:bodyPr/>
          <a:lstStyle/>
          <a:p>
            <a:r>
              <a:rPr lang="zh-CN" altLang="en-US" b="1"/>
              <a:t>一、制度体系创新：构建数字经济治理框架</a:t>
            </a:r>
            <a:endParaRPr lang="zh-CN" altLang="en-US" b="1"/>
          </a:p>
          <a:p>
            <a:pPr latinLnBrk="1"/>
            <a:r>
              <a:rPr lang="zh-CN" altLang="en-US" b="1"/>
              <a:t>数据基础制度完善</a:t>
            </a:r>
            <a:endParaRPr lang="zh-CN" altLang="en-US"/>
          </a:p>
          <a:p>
            <a:pPr lvl="1" latinLnBrk="1"/>
            <a:r>
              <a:rPr lang="zh-CN" altLang="en-US"/>
              <a:t>实施“数据二十条”，建立数据产权、流通交易、收益分配、安全治理等制度</a:t>
            </a:r>
            <a:r>
              <a:rPr lang="en-US" altLang="zh-CN"/>
              <a:t>[[4]</a:t>
            </a:r>
            <a:r>
              <a:rPr lang="en-US" altLang="zh-CN" b="1">
                <a:hlinkClick r:id="rId1"/>
              </a:rPr>
              <a:t>5</a:t>
            </a:r>
            <a:r>
              <a:rPr lang="zh-CN" altLang="en-US"/>
              <a:t>。</a:t>
            </a:r>
            <a:endParaRPr lang="zh-CN" altLang="en-US"/>
          </a:p>
          <a:p>
            <a:pPr lvl="1" latinLnBrk="1"/>
            <a:r>
              <a:rPr lang="en-US" altLang="zh-CN"/>
              <a:t>2025</a:t>
            </a:r>
            <a:r>
              <a:rPr lang="zh-CN" altLang="en-US"/>
              <a:t>年国家数据局将推出</a:t>
            </a:r>
            <a:r>
              <a:rPr lang="en-US" altLang="zh-CN"/>
              <a:t>8</a:t>
            </a:r>
            <a:r>
              <a:rPr lang="zh-CN" altLang="en-US"/>
              <a:t>项核心制度，涵盖公共数据开发、企业数据应用等</a:t>
            </a:r>
            <a:r>
              <a:rPr lang="en-US" altLang="zh-CN"/>
              <a:t>[[4]</a:t>
            </a:r>
            <a:r>
              <a:rPr lang="en-US" altLang="zh-CN" b="1">
                <a:hlinkClick r:id="rId2"/>
              </a:rPr>
              <a:t>7</a:t>
            </a:r>
            <a:r>
              <a:rPr lang="zh-CN" altLang="en-US"/>
              <a:t>。</a:t>
            </a:r>
            <a:endParaRPr lang="zh-CN" altLang="en-US"/>
          </a:p>
          <a:p>
            <a:pPr latinLnBrk="1"/>
            <a:r>
              <a:rPr lang="zh-CN" altLang="en-US" b="1"/>
              <a:t>法律法规与标准建设</a:t>
            </a:r>
            <a:endParaRPr lang="zh-CN" altLang="en-US"/>
          </a:p>
          <a:p>
            <a:pPr lvl="1" latinLnBrk="1"/>
            <a:r>
              <a:rPr lang="zh-CN" altLang="en-US"/>
              <a:t>制定</a:t>
            </a:r>
            <a:r>
              <a:rPr lang="en-US" altLang="zh-CN"/>
              <a:t>《</a:t>
            </a:r>
            <a:r>
              <a:rPr lang="zh-CN" altLang="en-US"/>
              <a:t>数据安全法</a:t>
            </a:r>
            <a:r>
              <a:rPr lang="en-US" altLang="zh-CN"/>
              <a:t>》《</a:t>
            </a:r>
            <a:r>
              <a:rPr lang="zh-CN" altLang="en-US"/>
              <a:t>个人信息保护法</a:t>
            </a:r>
            <a:r>
              <a:rPr lang="en-US" altLang="zh-CN"/>
              <a:t>》</a:t>
            </a:r>
            <a:r>
              <a:rPr lang="zh-CN" altLang="en-US"/>
              <a:t>，强化数据合规</a:t>
            </a:r>
            <a:r>
              <a:rPr lang="en-US" altLang="zh-CN"/>
              <a:t>[[2]</a:t>
            </a:r>
            <a:r>
              <a:rPr lang="en-US" altLang="zh-CN" b="1">
                <a:hlinkClick r:id="rId3"/>
              </a:rPr>
              <a:t>9</a:t>
            </a:r>
            <a:r>
              <a:rPr lang="zh-CN" altLang="en-US"/>
              <a:t>。</a:t>
            </a:r>
            <a:endParaRPr lang="zh-CN" altLang="en-US"/>
          </a:p>
          <a:p>
            <a:pPr lvl="1" latinLnBrk="1"/>
            <a:r>
              <a:rPr lang="zh-CN" altLang="en-US"/>
              <a:t>建立统一数字市场规则，打击虚假宣传、价格欺诈等行为</a:t>
            </a:r>
            <a:r>
              <a:rPr lang="en-US" altLang="zh-CN" b="1">
                <a:hlinkClick r:id="rId4"/>
              </a:rPr>
              <a:t>2</a:t>
            </a:r>
            <a:r>
              <a:rPr lang="zh-CN" altLang="en-US"/>
              <a:t>。</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总结：数字经济发展的关键路径与政策</a:t>
            </a:r>
            <a:r>
              <a:rPr lang="en-US" altLang="zh-CN" dirty="0"/>
              <a:t>(2)</a:t>
            </a:r>
            <a:endParaRPr lang="zh-CN" altLang="en-US" dirty="0"/>
          </a:p>
        </p:txBody>
      </p:sp>
      <p:sp>
        <p:nvSpPr>
          <p:cNvPr id="3" name="内容占位符 2"/>
          <p:cNvSpPr>
            <a:spLocks noGrp="1"/>
          </p:cNvSpPr>
          <p:nvPr>
            <p:ph idx="1"/>
          </p:nvPr>
        </p:nvSpPr>
        <p:spPr/>
        <p:txBody>
          <a:bodyPr/>
          <a:lstStyle/>
          <a:p>
            <a:r>
              <a:rPr lang="zh-CN" altLang="en-US" b="1" dirty="0"/>
              <a:t>二、数字基建升级：夯实发展底座</a:t>
            </a:r>
            <a:endParaRPr lang="zh-CN" altLang="en-US" b="1" dirty="0"/>
          </a:p>
          <a:p>
            <a:pPr latinLnBrk="1"/>
            <a:r>
              <a:rPr lang="zh-CN" altLang="en-US" b="1" dirty="0"/>
              <a:t>新型基础设施布局</a:t>
            </a:r>
            <a:endParaRPr lang="zh-CN" altLang="en-US" dirty="0"/>
          </a:p>
          <a:p>
            <a:pPr lvl="1" latinLnBrk="1"/>
            <a:r>
              <a:rPr lang="zh-CN" altLang="en-US" dirty="0"/>
              <a:t>推进“东数西算”工程，建设全国一体化算力网络</a:t>
            </a:r>
            <a:r>
              <a:rPr lang="en-US" altLang="zh-CN" dirty="0"/>
              <a:t>[[4]</a:t>
            </a:r>
            <a:r>
              <a:rPr lang="en-US" altLang="zh-CN" b="1" dirty="0">
                <a:hlinkClick r:id="rId1"/>
              </a:rPr>
              <a:t>7</a:t>
            </a:r>
            <a:r>
              <a:rPr lang="zh-CN" altLang="en-US" dirty="0"/>
              <a:t>。</a:t>
            </a:r>
            <a:endParaRPr lang="zh-CN" altLang="en-US" dirty="0"/>
          </a:p>
          <a:p>
            <a:pPr lvl="1" latinLnBrk="1"/>
            <a:r>
              <a:rPr lang="zh-CN" altLang="en-US" dirty="0"/>
              <a:t>加速</a:t>
            </a:r>
            <a:r>
              <a:rPr lang="en-US" altLang="zh-CN" dirty="0"/>
              <a:t>5G</a:t>
            </a:r>
            <a:r>
              <a:rPr lang="zh-CN" altLang="en-US" dirty="0"/>
              <a:t>、工业互联网、数据中心规模化部署，</a:t>
            </a:r>
            <a:r>
              <a:rPr lang="en-US" altLang="zh-CN" dirty="0"/>
              <a:t>2025</a:t>
            </a:r>
            <a:r>
              <a:rPr lang="zh-CN" altLang="en-US" dirty="0"/>
              <a:t>年实现高速泛在互联</a:t>
            </a:r>
            <a:r>
              <a:rPr lang="en-US" altLang="zh-CN" dirty="0"/>
              <a:t>[[4]</a:t>
            </a:r>
            <a:r>
              <a:rPr lang="en-US" altLang="zh-CN" b="1" dirty="0">
                <a:hlinkClick r:id="rId2"/>
              </a:rPr>
              <a:t>6</a:t>
            </a:r>
            <a:r>
              <a:rPr lang="zh-CN" altLang="en-US" dirty="0"/>
              <a:t>。</a:t>
            </a:r>
            <a:endParaRPr lang="zh-CN" altLang="en-US" dirty="0"/>
          </a:p>
          <a:p>
            <a:pPr latinLnBrk="1"/>
            <a:r>
              <a:rPr lang="zh-CN" altLang="en-US" b="1" dirty="0"/>
              <a:t>技术研发突破</a:t>
            </a:r>
            <a:endParaRPr lang="zh-CN" altLang="en-US" dirty="0"/>
          </a:p>
          <a:p>
            <a:pPr lvl="1" latinLnBrk="1"/>
            <a:r>
              <a:rPr lang="zh-CN" altLang="en-US" dirty="0"/>
              <a:t>加大人工智能、区块链、数字孪生等前沿技术投入</a:t>
            </a:r>
            <a:r>
              <a:rPr lang="en-US" altLang="zh-CN" dirty="0"/>
              <a:t>[[4]</a:t>
            </a:r>
            <a:r>
              <a:rPr lang="en-US" altLang="zh-CN" b="1" dirty="0">
                <a:hlinkClick r:id="rId1"/>
              </a:rPr>
              <a:t>7</a:t>
            </a:r>
            <a:r>
              <a:rPr lang="zh-CN" altLang="en-US" dirty="0"/>
              <a:t>。</a:t>
            </a:r>
            <a:endParaRPr lang="zh-CN" altLang="en-US" dirty="0"/>
          </a:p>
          <a:p>
            <a:pPr lvl="1" latinLnBrk="1"/>
            <a:r>
              <a:rPr lang="zh-CN" altLang="en-US" dirty="0"/>
              <a:t>设立国家级数字创新平台（如通用电气数字创新坊模式）</a:t>
            </a:r>
            <a:endParaRPr lang="zh-CN" altLang="en-US" dirty="0"/>
          </a:p>
          <a:p>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总结：数字经济发展的关键路径与政策</a:t>
            </a:r>
            <a:r>
              <a:rPr lang="en-US" altLang="zh-CN" dirty="0"/>
              <a:t>(3)</a:t>
            </a:r>
            <a:endParaRPr lang="zh-CN" altLang="en-US" dirty="0"/>
          </a:p>
        </p:txBody>
      </p:sp>
      <p:sp>
        <p:nvSpPr>
          <p:cNvPr id="3" name="内容占位符 2"/>
          <p:cNvSpPr>
            <a:spLocks noGrp="1"/>
          </p:cNvSpPr>
          <p:nvPr>
            <p:ph idx="1"/>
          </p:nvPr>
        </p:nvSpPr>
        <p:spPr/>
        <p:txBody>
          <a:bodyPr/>
          <a:lstStyle/>
          <a:p>
            <a:r>
              <a:rPr lang="zh-CN" altLang="en-US" b="1" dirty="0"/>
              <a:t>三、产业深度融合：数实协同发展</a:t>
            </a:r>
            <a:endParaRPr lang="zh-CN" altLang="en-US" b="1" dirty="0"/>
          </a:p>
          <a:p>
            <a:pPr latinLnBrk="1"/>
            <a:r>
              <a:rPr lang="zh-CN" altLang="en-US" b="1" dirty="0"/>
              <a:t>产业数字化转型</a:t>
            </a:r>
            <a:endParaRPr lang="zh-CN" altLang="en-US" dirty="0"/>
          </a:p>
          <a:p>
            <a:pPr lvl="1" latinLnBrk="1"/>
            <a:r>
              <a:rPr lang="zh-CN" altLang="en-US" dirty="0"/>
              <a:t>实施“上云用数赋智”行动，推动中小企业智能化改造</a:t>
            </a:r>
            <a:r>
              <a:rPr lang="en-US" altLang="zh-CN" dirty="0"/>
              <a:t>[[7]</a:t>
            </a:r>
            <a:r>
              <a:rPr lang="en-US" altLang="zh-CN" b="1" dirty="0">
                <a:hlinkClick r:id="rId1"/>
              </a:rPr>
              <a:t>9</a:t>
            </a:r>
            <a:r>
              <a:rPr lang="zh-CN" altLang="en-US" dirty="0"/>
              <a:t>。</a:t>
            </a:r>
            <a:endParaRPr lang="zh-CN" altLang="en-US" dirty="0"/>
          </a:p>
          <a:p>
            <a:pPr lvl="1" latinLnBrk="1"/>
            <a:r>
              <a:rPr lang="zh-CN" altLang="en-US" dirty="0"/>
              <a:t>打造“</a:t>
            </a:r>
            <a:r>
              <a:rPr lang="en-US" altLang="zh-CN" dirty="0"/>
              <a:t>5G+</a:t>
            </a:r>
            <a:r>
              <a:rPr lang="zh-CN" altLang="en-US" dirty="0"/>
              <a:t>工业互联网”示范标杆，建设智能工厂</a:t>
            </a:r>
            <a:r>
              <a:rPr lang="en-US" altLang="zh-CN" dirty="0"/>
              <a:t>[[4]</a:t>
            </a:r>
            <a:r>
              <a:rPr lang="en-US" altLang="zh-CN" b="1" dirty="0">
                <a:hlinkClick r:id="rId2"/>
              </a:rPr>
              <a:t>6</a:t>
            </a:r>
            <a:r>
              <a:rPr lang="zh-CN" altLang="en-US" dirty="0"/>
              <a:t>。</a:t>
            </a:r>
            <a:endParaRPr lang="zh-CN" altLang="en-US" dirty="0"/>
          </a:p>
          <a:p>
            <a:pPr latinLnBrk="1"/>
            <a:r>
              <a:rPr lang="zh-CN" altLang="en-US" b="1" dirty="0"/>
              <a:t>新兴业态培育</a:t>
            </a:r>
            <a:endParaRPr lang="zh-CN" altLang="en-US" dirty="0"/>
          </a:p>
          <a:p>
            <a:pPr lvl="1" latinLnBrk="1"/>
            <a:r>
              <a:rPr lang="zh-CN" altLang="en-US" dirty="0"/>
              <a:t>发展平台经济、共享经济，支持元宇宙、</a:t>
            </a:r>
            <a:r>
              <a:rPr lang="en-US" altLang="zh-CN" dirty="0"/>
              <a:t>Web3</a:t>
            </a:r>
            <a:r>
              <a:rPr lang="zh-CN" altLang="en-US" dirty="0"/>
              <a:t>等创新场景</a:t>
            </a:r>
            <a:r>
              <a:rPr lang="en-US" altLang="zh-CN" dirty="0"/>
              <a:t>[[5]</a:t>
            </a:r>
            <a:r>
              <a:rPr lang="en-US" altLang="zh-CN" b="1" dirty="0">
                <a:hlinkClick r:id="rId3"/>
              </a:rPr>
              <a:t>8</a:t>
            </a:r>
            <a:r>
              <a:rPr lang="zh-CN" altLang="en-US" dirty="0"/>
              <a:t>。</a:t>
            </a:r>
            <a:endParaRPr lang="zh-CN" altLang="en-US" dirty="0"/>
          </a:p>
          <a:p>
            <a:pPr lvl="1" latinLnBrk="1"/>
            <a:r>
              <a:rPr lang="zh-CN" altLang="en-US" dirty="0"/>
              <a:t>推动数据要素市场化配置，激活数据资产价值</a:t>
            </a:r>
            <a:r>
              <a:rPr lang="en-US" altLang="zh-CN" dirty="0"/>
              <a:t>[[5]</a:t>
            </a:r>
            <a:r>
              <a:rPr lang="en-US" altLang="zh-CN" b="1" dirty="0">
                <a:hlinkClick r:id="rId4"/>
              </a:rPr>
              <a:t>7</a:t>
            </a:r>
            <a:r>
              <a:rPr lang="zh-CN" altLang="en-US" dirty="0"/>
              <a:t>。</a:t>
            </a:r>
            <a:endParaRPr lang="zh-CN" altLang="en-US" dirty="0"/>
          </a:p>
          <a:p>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总结：数字经济发展的关键路径与政策</a:t>
            </a:r>
            <a:r>
              <a:rPr lang="en-US" altLang="zh-CN" dirty="0"/>
              <a:t>(4)</a:t>
            </a:r>
            <a:endParaRPr lang="zh-CN" altLang="en-US" dirty="0"/>
          </a:p>
        </p:txBody>
      </p:sp>
      <p:sp>
        <p:nvSpPr>
          <p:cNvPr id="3" name="内容占位符 2"/>
          <p:cNvSpPr>
            <a:spLocks noGrp="1"/>
          </p:cNvSpPr>
          <p:nvPr>
            <p:ph idx="1"/>
          </p:nvPr>
        </p:nvSpPr>
        <p:spPr/>
        <p:txBody>
          <a:bodyPr/>
          <a:lstStyle/>
          <a:p>
            <a:r>
              <a:rPr lang="zh-CN" altLang="en-US" b="1" dirty="0"/>
              <a:t>四、要素市场改革：释放数据价值</a:t>
            </a:r>
            <a:endParaRPr lang="zh-CN" altLang="en-US" b="1" dirty="0"/>
          </a:p>
          <a:p>
            <a:pPr latinLnBrk="1"/>
            <a:r>
              <a:rPr lang="zh-CN" altLang="en-US" b="1" dirty="0"/>
              <a:t>公共数据授权运营</a:t>
            </a:r>
            <a:endParaRPr lang="zh-CN" altLang="en-US" dirty="0"/>
          </a:p>
          <a:p>
            <a:pPr lvl="1" latinLnBrk="1"/>
            <a:r>
              <a:rPr lang="zh-CN" altLang="en-US" dirty="0"/>
              <a:t>推行“政所直连”模式，开放政府数据资源</a:t>
            </a:r>
            <a:r>
              <a:rPr lang="en-US" altLang="zh-CN" b="1" dirty="0">
                <a:hlinkClick r:id="rId1"/>
              </a:rPr>
              <a:t>5</a:t>
            </a:r>
            <a:r>
              <a:rPr lang="zh-CN" altLang="en-US" dirty="0"/>
              <a:t>。</a:t>
            </a:r>
            <a:endParaRPr lang="zh-CN" altLang="en-US" dirty="0"/>
          </a:p>
          <a:p>
            <a:pPr lvl="1" latinLnBrk="1"/>
            <a:r>
              <a:rPr lang="zh-CN" altLang="en-US" dirty="0"/>
              <a:t>粤港澳大湾区试点跨区域数据融合，优化财政结构</a:t>
            </a:r>
            <a:r>
              <a:rPr lang="en-US" altLang="zh-CN" b="1" dirty="0">
                <a:hlinkClick r:id="rId1"/>
              </a:rPr>
              <a:t>5</a:t>
            </a:r>
            <a:r>
              <a:rPr lang="zh-CN" altLang="en-US" dirty="0"/>
              <a:t>。</a:t>
            </a:r>
            <a:endParaRPr lang="zh-CN" altLang="en-US" dirty="0"/>
          </a:p>
          <a:p>
            <a:pPr latinLnBrk="1"/>
            <a:r>
              <a:rPr lang="zh-CN" altLang="en-US" b="1" dirty="0"/>
              <a:t>数据交易生态构建</a:t>
            </a:r>
            <a:endParaRPr lang="zh-CN" altLang="en-US" dirty="0"/>
          </a:p>
          <a:p>
            <a:pPr lvl="1" latinLnBrk="1"/>
            <a:r>
              <a:rPr lang="zh-CN" altLang="en-US" dirty="0"/>
              <a:t>建立数据交易所，探索数字人民币支付闭环</a:t>
            </a:r>
            <a:r>
              <a:rPr lang="en-US" altLang="zh-CN" b="1" dirty="0">
                <a:hlinkClick r:id="rId1"/>
              </a:rPr>
              <a:t>5</a:t>
            </a:r>
            <a:r>
              <a:rPr lang="zh-CN" altLang="en-US" dirty="0"/>
              <a:t>。</a:t>
            </a:r>
            <a:endParaRPr lang="zh-CN" altLang="en-US" dirty="0"/>
          </a:p>
          <a:p>
            <a:pPr lvl="1" latinLnBrk="1"/>
            <a:r>
              <a:rPr lang="zh-CN" altLang="en-US" dirty="0"/>
              <a:t>制定数据资产评估、交易规则，促进要素流通</a:t>
            </a:r>
            <a:r>
              <a:rPr lang="en-US" altLang="zh-CN" b="1" dirty="0">
                <a:hlinkClick r:id="rId2"/>
              </a:rPr>
              <a:t>7</a:t>
            </a:r>
            <a:endParaRPr lang="zh-CN" altLang="en-US" dirty="0"/>
          </a:p>
          <a:p>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总结：数字经济发展的关键路径与政策</a:t>
            </a:r>
            <a:r>
              <a:rPr lang="en-US" altLang="zh-CN" dirty="0"/>
              <a:t>(5)</a:t>
            </a:r>
            <a:endParaRPr lang="zh-CN" altLang="en-US" dirty="0"/>
          </a:p>
        </p:txBody>
      </p:sp>
      <p:sp>
        <p:nvSpPr>
          <p:cNvPr id="3" name="内容占位符 2"/>
          <p:cNvSpPr>
            <a:spLocks noGrp="1"/>
          </p:cNvSpPr>
          <p:nvPr>
            <p:ph idx="1"/>
          </p:nvPr>
        </p:nvSpPr>
        <p:spPr/>
        <p:txBody>
          <a:bodyPr/>
          <a:lstStyle/>
          <a:p>
            <a:r>
              <a:rPr lang="zh-CN" altLang="en-US" b="1" dirty="0"/>
              <a:t>五、区域协同与开放：构建发展新格局</a:t>
            </a:r>
            <a:endParaRPr lang="zh-CN" altLang="en-US" b="1" dirty="0"/>
          </a:p>
          <a:p>
            <a:pPr latinLnBrk="1"/>
            <a:r>
              <a:rPr lang="zh-CN" altLang="en-US" b="1" dirty="0"/>
              <a:t>区域一体化发展</a:t>
            </a:r>
            <a:endParaRPr lang="zh-CN" altLang="en-US" dirty="0"/>
          </a:p>
          <a:p>
            <a:pPr lvl="1" latinLnBrk="1"/>
            <a:r>
              <a:rPr lang="zh-CN" altLang="en-US" dirty="0"/>
              <a:t>建设国家数字经济创新发展试验区（如海南自贸港）</a:t>
            </a:r>
            <a:r>
              <a:rPr lang="en-US" altLang="zh-CN" dirty="0"/>
              <a:t>[[1]</a:t>
            </a:r>
            <a:r>
              <a:rPr lang="en-US" altLang="zh-CN" b="1" dirty="0">
                <a:hlinkClick r:id="rId1"/>
              </a:rPr>
              <a:t>7</a:t>
            </a:r>
            <a:r>
              <a:rPr lang="zh-CN" altLang="en-US" dirty="0"/>
              <a:t>。</a:t>
            </a:r>
            <a:endParaRPr lang="zh-CN" altLang="en-US" dirty="0"/>
          </a:p>
          <a:p>
            <a:pPr lvl="1" latinLnBrk="1"/>
            <a:r>
              <a:rPr lang="zh-CN" altLang="en-US" dirty="0"/>
              <a:t>推动东部技术赋能中西部产业，破解数字鸿沟</a:t>
            </a:r>
            <a:r>
              <a:rPr lang="en-US" altLang="zh-CN" dirty="0"/>
              <a:t>[[6]</a:t>
            </a:r>
            <a:r>
              <a:rPr lang="en-US" altLang="zh-CN" b="1" dirty="0">
                <a:hlinkClick r:id="rId2"/>
              </a:rPr>
              <a:t>9</a:t>
            </a:r>
            <a:r>
              <a:rPr lang="zh-CN" altLang="en-US" dirty="0"/>
              <a:t>。</a:t>
            </a:r>
            <a:endParaRPr lang="zh-CN" altLang="en-US" dirty="0"/>
          </a:p>
          <a:p>
            <a:pPr latinLnBrk="1"/>
            <a:r>
              <a:rPr lang="zh-CN" altLang="en-US" b="1" dirty="0"/>
              <a:t>国际合作深化</a:t>
            </a:r>
            <a:endParaRPr lang="zh-CN" altLang="en-US" dirty="0"/>
          </a:p>
          <a:p>
            <a:pPr lvl="1" latinLnBrk="1"/>
            <a:r>
              <a:rPr lang="zh-CN" altLang="en-US" dirty="0"/>
              <a:t>参与全球数字治理规则制定，分享“数字中国”经验</a:t>
            </a:r>
            <a:r>
              <a:rPr lang="en-US" altLang="zh-CN" dirty="0"/>
              <a:t>[[2]</a:t>
            </a:r>
            <a:r>
              <a:rPr lang="en-US" altLang="zh-CN" b="1" dirty="0">
                <a:hlinkClick r:id="rId1"/>
              </a:rPr>
              <a:t>7</a:t>
            </a:r>
            <a:r>
              <a:rPr lang="zh-CN" altLang="en-US" dirty="0"/>
              <a:t>。</a:t>
            </a:r>
            <a:endParaRPr lang="zh-CN" altLang="en-US" dirty="0"/>
          </a:p>
          <a:p>
            <a:pPr lvl="1" latinLnBrk="1"/>
            <a:r>
              <a:rPr lang="zh-CN" altLang="en-US" dirty="0"/>
              <a:t>支持跨境数据流动试点，对接国际标准</a:t>
            </a:r>
            <a:r>
              <a:rPr lang="en-US" altLang="zh-CN" b="1" dirty="0">
                <a:hlinkClick r:id="rId2"/>
              </a:rPr>
              <a:t>9</a:t>
            </a:r>
            <a:r>
              <a:rPr lang="zh-CN" altLang="en-US" dirty="0"/>
              <a:t>。</a:t>
            </a:r>
            <a:endParaRPr lang="zh-CN" altLang="en-US" dirty="0"/>
          </a:p>
          <a:p>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政策来源全称列表</a:t>
            </a:r>
            <a:endParaRPr lang="zh-CN" altLang="en-US" dirty="0"/>
          </a:p>
        </p:txBody>
      </p:sp>
      <p:sp>
        <p:nvSpPr>
          <p:cNvPr id="3" name="内容占位符 2"/>
          <p:cNvSpPr>
            <a:spLocks noGrp="1"/>
          </p:cNvSpPr>
          <p:nvPr>
            <p:ph idx="1"/>
          </p:nvPr>
        </p:nvSpPr>
        <p:spPr/>
        <p:txBody>
          <a:bodyPr>
            <a:normAutofit fontScale="55000" lnSpcReduction="20000"/>
          </a:bodyPr>
          <a:lstStyle/>
          <a:p>
            <a:pPr latinLnBrk="1"/>
            <a:r>
              <a:rPr lang="en-US" altLang="zh-CN" b="1" dirty="0"/>
              <a:t>《</a:t>
            </a:r>
            <a:r>
              <a:rPr lang="zh-CN" altLang="en-US" b="1" dirty="0"/>
              <a:t>中共中央国务院关于构建数据基础制度更好发挥数据要素作用的意见</a:t>
            </a:r>
            <a:r>
              <a:rPr lang="en-US" altLang="zh-CN" b="1" dirty="0"/>
              <a:t>》</a:t>
            </a:r>
            <a:r>
              <a:rPr lang="zh-CN" altLang="en-US" b="1" dirty="0"/>
              <a:t>（“数据二十条”）</a:t>
            </a:r>
            <a:endParaRPr lang="zh-CN" altLang="en-US" dirty="0"/>
          </a:p>
          <a:p>
            <a:pPr lvl="1" latinLnBrk="1"/>
            <a:r>
              <a:rPr lang="zh-CN" altLang="en-US" dirty="0"/>
              <a:t>发布机构：中共中央、国务院</a:t>
            </a:r>
            <a:endParaRPr lang="zh-CN" altLang="en-US" dirty="0"/>
          </a:p>
          <a:p>
            <a:pPr lvl="1" latinLnBrk="1"/>
            <a:r>
              <a:rPr lang="zh-CN" altLang="en-US" dirty="0"/>
              <a:t>文号：</a:t>
            </a:r>
            <a:r>
              <a:rPr lang="en-US" altLang="zh-CN" dirty="0"/>
              <a:t>2022</a:t>
            </a:r>
            <a:r>
              <a:rPr lang="zh-CN" altLang="en-US" dirty="0"/>
              <a:t>年</a:t>
            </a:r>
            <a:r>
              <a:rPr lang="en-US" altLang="zh-CN" dirty="0"/>
              <a:t>12</a:t>
            </a:r>
            <a:r>
              <a:rPr lang="zh-CN" altLang="en-US" dirty="0"/>
              <a:t>月发布</a:t>
            </a:r>
            <a:endParaRPr lang="zh-CN" altLang="en-US" dirty="0"/>
          </a:p>
          <a:p>
            <a:pPr lvl="1" latinLnBrk="1"/>
            <a:r>
              <a:rPr lang="zh-CN" altLang="en-US" dirty="0"/>
              <a:t>来源：国务院官网</a:t>
            </a:r>
            <a:r>
              <a:rPr lang="en-US" altLang="zh-CN" b="1" dirty="0">
                <a:hlinkClick r:id="rId1"/>
              </a:rPr>
              <a:t>5</a:t>
            </a:r>
            <a:r>
              <a:rPr lang="en-US" altLang="zh-CN" b="1" dirty="0">
                <a:hlinkClick r:id="rId2"/>
              </a:rPr>
              <a:t>6</a:t>
            </a:r>
            <a:endParaRPr lang="zh-CN" altLang="en-US" dirty="0"/>
          </a:p>
          <a:p>
            <a:pPr latinLnBrk="1"/>
            <a:r>
              <a:rPr lang="en-US" altLang="zh-CN" b="1" dirty="0"/>
              <a:t>《</a:t>
            </a:r>
            <a:r>
              <a:rPr lang="zh-CN" altLang="en-US" b="1" dirty="0"/>
              <a:t>数据安全法</a:t>
            </a:r>
            <a:r>
              <a:rPr lang="en-US" altLang="zh-CN" b="1" dirty="0"/>
              <a:t>》</a:t>
            </a:r>
            <a:endParaRPr lang="zh-CN" altLang="en-US" dirty="0"/>
          </a:p>
          <a:p>
            <a:pPr lvl="1" latinLnBrk="1"/>
            <a:r>
              <a:rPr lang="zh-CN" altLang="en-US" dirty="0"/>
              <a:t>发布机构：全国人大常委会</a:t>
            </a:r>
            <a:endParaRPr lang="zh-CN" altLang="en-US" dirty="0"/>
          </a:p>
          <a:p>
            <a:pPr lvl="1" latinLnBrk="1"/>
            <a:r>
              <a:rPr lang="zh-CN" altLang="en-US" dirty="0"/>
              <a:t>文号：主席令第</a:t>
            </a:r>
            <a:r>
              <a:rPr lang="en-US" altLang="zh-CN" dirty="0"/>
              <a:t>84</a:t>
            </a:r>
            <a:r>
              <a:rPr lang="zh-CN" altLang="en-US" dirty="0"/>
              <a:t>号</a:t>
            </a:r>
            <a:endParaRPr lang="zh-CN" altLang="en-US" dirty="0"/>
          </a:p>
          <a:p>
            <a:pPr lvl="1" latinLnBrk="1"/>
            <a:r>
              <a:rPr lang="zh-CN" altLang="en-US" dirty="0"/>
              <a:t>发布日期：</a:t>
            </a:r>
            <a:r>
              <a:rPr lang="en-US" altLang="zh-CN" dirty="0"/>
              <a:t>2021</a:t>
            </a:r>
            <a:r>
              <a:rPr lang="zh-CN" altLang="en-US" dirty="0"/>
              <a:t>年</a:t>
            </a:r>
            <a:r>
              <a:rPr lang="en-US" altLang="zh-CN" dirty="0"/>
              <a:t>9</a:t>
            </a:r>
            <a:r>
              <a:rPr lang="zh-CN" altLang="en-US" dirty="0"/>
              <a:t>月</a:t>
            </a:r>
            <a:r>
              <a:rPr lang="en-US" altLang="zh-CN" dirty="0"/>
              <a:t>1</a:t>
            </a:r>
            <a:r>
              <a:rPr lang="zh-CN" altLang="en-US" dirty="0"/>
              <a:t>日</a:t>
            </a:r>
            <a:endParaRPr lang="zh-CN" altLang="en-US" dirty="0"/>
          </a:p>
          <a:p>
            <a:pPr lvl="1" latinLnBrk="1"/>
            <a:r>
              <a:rPr lang="zh-CN" altLang="en-US" dirty="0"/>
              <a:t>来源：全国人大网</a:t>
            </a:r>
            <a:r>
              <a:rPr lang="en-US" altLang="zh-CN" b="1" dirty="0">
                <a:hlinkClick r:id="rId3"/>
              </a:rPr>
              <a:t>3</a:t>
            </a:r>
            <a:r>
              <a:rPr lang="en-US" altLang="zh-CN" b="1" dirty="0">
                <a:hlinkClick r:id="rId1"/>
              </a:rPr>
              <a:t>5</a:t>
            </a:r>
            <a:endParaRPr lang="zh-CN" altLang="en-US" dirty="0"/>
          </a:p>
          <a:p>
            <a:pPr latinLnBrk="1"/>
            <a:r>
              <a:rPr lang="en-US" altLang="zh-CN" b="1" dirty="0"/>
              <a:t>《</a:t>
            </a:r>
            <a:r>
              <a:rPr lang="zh-CN" altLang="en-US" b="1" dirty="0"/>
              <a:t>个人信息保护法</a:t>
            </a:r>
            <a:r>
              <a:rPr lang="en-US" altLang="zh-CN" b="1" dirty="0"/>
              <a:t>》</a:t>
            </a:r>
            <a:endParaRPr lang="zh-CN" altLang="en-US" dirty="0"/>
          </a:p>
          <a:p>
            <a:pPr lvl="1" latinLnBrk="1"/>
            <a:r>
              <a:rPr lang="zh-CN" altLang="en-US" dirty="0"/>
              <a:t>发布机构：全国人大常委会</a:t>
            </a:r>
            <a:endParaRPr lang="zh-CN" altLang="en-US" dirty="0"/>
          </a:p>
          <a:p>
            <a:pPr lvl="1" latinLnBrk="1"/>
            <a:r>
              <a:rPr lang="zh-CN" altLang="en-US" dirty="0"/>
              <a:t>文号：主席令第</a:t>
            </a:r>
            <a:r>
              <a:rPr lang="en-US" altLang="zh-CN" dirty="0"/>
              <a:t>91</a:t>
            </a:r>
            <a:r>
              <a:rPr lang="zh-CN" altLang="en-US" dirty="0"/>
              <a:t>号</a:t>
            </a:r>
            <a:endParaRPr lang="zh-CN" altLang="en-US" dirty="0"/>
          </a:p>
          <a:p>
            <a:pPr lvl="1" latinLnBrk="1"/>
            <a:r>
              <a:rPr lang="zh-CN" altLang="en-US" dirty="0"/>
              <a:t>发布日期：</a:t>
            </a:r>
            <a:r>
              <a:rPr lang="en-US" altLang="zh-CN" dirty="0"/>
              <a:t>2021</a:t>
            </a:r>
            <a:r>
              <a:rPr lang="zh-CN" altLang="en-US" dirty="0"/>
              <a:t>年</a:t>
            </a:r>
            <a:r>
              <a:rPr lang="en-US" altLang="zh-CN" dirty="0"/>
              <a:t>11</a:t>
            </a:r>
            <a:r>
              <a:rPr lang="zh-CN" altLang="en-US" dirty="0"/>
              <a:t>月</a:t>
            </a:r>
            <a:r>
              <a:rPr lang="en-US" altLang="zh-CN" dirty="0"/>
              <a:t>1</a:t>
            </a:r>
            <a:r>
              <a:rPr lang="zh-CN" altLang="en-US" dirty="0"/>
              <a:t>日</a:t>
            </a:r>
            <a:endParaRPr lang="zh-CN" altLang="en-US" dirty="0"/>
          </a:p>
          <a:p>
            <a:pPr lvl="1" latinLnBrk="1"/>
            <a:r>
              <a:rPr lang="zh-CN" altLang="en-US" dirty="0"/>
              <a:t>来源：全国人大网</a:t>
            </a:r>
            <a:r>
              <a:rPr lang="en-US" altLang="zh-CN" b="1" dirty="0">
                <a:hlinkClick r:id="rId3"/>
              </a:rPr>
              <a:t>3</a:t>
            </a:r>
            <a:r>
              <a:rPr lang="en-US" altLang="zh-CN" b="1" dirty="0">
                <a:hlinkClick r:id="rId1"/>
              </a:rPr>
              <a:t>5</a:t>
            </a:r>
            <a:endParaRPr lang="zh-CN" altLang="en-US" dirty="0"/>
          </a:p>
          <a:p>
            <a:pPr latinLnBrk="1"/>
            <a:r>
              <a:rPr lang="en-US" altLang="zh-CN" b="1" dirty="0"/>
              <a:t>《</a:t>
            </a:r>
            <a:r>
              <a:rPr lang="zh-CN" altLang="en-US" b="1" dirty="0"/>
              <a:t>数字中国建设整体布局规划</a:t>
            </a:r>
            <a:r>
              <a:rPr lang="en-US" altLang="zh-CN" b="1" dirty="0"/>
              <a:t>》</a:t>
            </a:r>
            <a:endParaRPr lang="zh-CN" altLang="en-US" dirty="0"/>
          </a:p>
          <a:p>
            <a:pPr lvl="1" latinLnBrk="1"/>
            <a:r>
              <a:rPr lang="zh-CN" altLang="en-US" dirty="0"/>
              <a:t>发布机构：中共中央、国务院</a:t>
            </a:r>
            <a:endParaRPr lang="zh-CN" altLang="en-US" dirty="0"/>
          </a:p>
          <a:p>
            <a:pPr lvl="1" latinLnBrk="1"/>
            <a:r>
              <a:rPr lang="zh-CN" altLang="en-US" dirty="0"/>
              <a:t>发布日期：</a:t>
            </a:r>
            <a:r>
              <a:rPr lang="en-US" altLang="zh-CN" dirty="0"/>
              <a:t>2023</a:t>
            </a:r>
            <a:r>
              <a:rPr lang="zh-CN" altLang="en-US" dirty="0"/>
              <a:t>年</a:t>
            </a:r>
            <a:r>
              <a:rPr lang="en-US" altLang="zh-CN" dirty="0"/>
              <a:t>2</a:t>
            </a:r>
            <a:r>
              <a:rPr lang="zh-CN" altLang="en-US" dirty="0"/>
              <a:t>月</a:t>
            </a:r>
            <a:endParaRPr lang="zh-CN" altLang="en-US" dirty="0"/>
          </a:p>
          <a:p>
            <a:pPr lvl="1" latinLnBrk="1"/>
            <a:r>
              <a:rPr lang="zh-CN" altLang="en-US" dirty="0"/>
              <a:t>来源：国家发展改革委官网</a:t>
            </a:r>
            <a:r>
              <a:rPr lang="en-US" altLang="zh-CN" b="1" dirty="0">
                <a:hlinkClick r:id="rId1"/>
              </a:rPr>
              <a:t>5</a:t>
            </a:r>
            <a:r>
              <a:rPr lang="en-US" altLang="zh-CN" b="1" dirty="0">
                <a:hlinkClick r:id="rId4"/>
              </a:rPr>
              <a:t>8</a:t>
            </a:r>
            <a:endParaRPr lang="zh-CN" altLang="en-US" dirty="0"/>
          </a:p>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政策来源全称列表</a:t>
            </a:r>
            <a:endParaRPr lang="zh-CN" altLang="en-US" dirty="0"/>
          </a:p>
        </p:txBody>
      </p:sp>
      <p:sp>
        <p:nvSpPr>
          <p:cNvPr id="3" name="内容占位符 2"/>
          <p:cNvSpPr>
            <a:spLocks noGrp="1"/>
          </p:cNvSpPr>
          <p:nvPr>
            <p:ph idx="1"/>
          </p:nvPr>
        </p:nvSpPr>
        <p:spPr/>
        <p:txBody>
          <a:bodyPr>
            <a:normAutofit fontScale="55000" lnSpcReduction="20000"/>
          </a:bodyPr>
          <a:lstStyle/>
          <a:p>
            <a:pPr latinLnBrk="1"/>
            <a:br>
              <a:rPr lang="zh-CN" altLang="en-US" b="1" dirty="0"/>
            </a:br>
            <a:r>
              <a:rPr lang="en-US" altLang="zh-CN" b="1" dirty="0"/>
              <a:t>5.《“</a:t>
            </a:r>
            <a:r>
              <a:rPr lang="zh-CN" altLang="en-US" b="1" dirty="0"/>
              <a:t>十四五”数字经济发展规划</a:t>
            </a:r>
            <a:r>
              <a:rPr lang="en-US" altLang="zh-CN" b="1" dirty="0"/>
              <a:t>》</a:t>
            </a:r>
            <a:endParaRPr lang="zh-CN" altLang="en-US" dirty="0"/>
          </a:p>
          <a:p>
            <a:pPr lvl="1" latinLnBrk="1"/>
            <a:r>
              <a:rPr lang="zh-CN" altLang="en-US" dirty="0"/>
              <a:t>发布机构：国务院</a:t>
            </a:r>
            <a:endParaRPr lang="zh-CN" altLang="en-US" dirty="0"/>
          </a:p>
          <a:p>
            <a:pPr lvl="1" latinLnBrk="1"/>
            <a:r>
              <a:rPr lang="zh-CN" altLang="en-US" dirty="0"/>
              <a:t>文号：国发</a:t>
            </a:r>
            <a:r>
              <a:rPr lang="en-US" altLang="zh-CN" dirty="0"/>
              <a:t>〔2021〕29</a:t>
            </a:r>
            <a:r>
              <a:rPr lang="zh-CN" altLang="en-US" dirty="0"/>
              <a:t>号</a:t>
            </a:r>
            <a:endParaRPr lang="zh-CN" altLang="en-US" dirty="0"/>
          </a:p>
          <a:p>
            <a:pPr lvl="1" latinLnBrk="1"/>
            <a:r>
              <a:rPr lang="zh-CN" altLang="en-US" dirty="0"/>
              <a:t>发布日期：</a:t>
            </a:r>
            <a:r>
              <a:rPr lang="en-US" altLang="zh-CN" dirty="0"/>
              <a:t>2021</a:t>
            </a:r>
            <a:r>
              <a:rPr lang="zh-CN" altLang="en-US" dirty="0"/>
              <a:t>年</a:t>
            </a:r>
            <a:r>
              <a:rPr lang="en-US" altLang="zh-CN" dirty="0"/>
              <a:t>12</a:t>
            </a:r>
            <a:r>
              <a:rPr lang="zh-CN" altLang="en-US" dirty="0"/>
              <a:t>月</a:t>
            </a:r>
            <a:endParaRPr lang="zh-CN" altLang="en-US" dirty="0"/>
          </a:p>
          <a:p>
            <a:pPr lvl="1" latinLnBrk="1"/>
            <a:r>
              <a:rPr lang="zh-CN" altLang="en-US" dirty="0"/>
              <a:t>来源：国务院官网</a:t>
            </a:r>
            <a:r>
              <a:rPr lang="en-US" altLang="zh-CN" b="1" dirty="0">
                <a:hlinkClick r:id="rId1"/>
              </a:rPr>
              <a:t>5</a:t>
            </a:r>
            <a:r>
              <a:rPr lang="en-US" altLang="zh-CN" b="1" dirty="0">
                <a:hlinkClick r:id="rId2"/>
              </a:rPr>
              <a:t>6</a:t>
            </a:r>
            <a:endParaRPr lang="zh-CN" altLang="en-US" dirty="0"/>
          </a:p>
          <a:p>
            <a:pPr latinLnBrk="1"/>
            <a:r>
              <a:rPr lang="en-US" altLang="zh-CN" b="1" dirty="0"/>
              <a:t>6.《</a:t>
            </a:r>
            <a:r>
              <a:rPr lang="zh-CN" altLang="en-US" b="1" dirty="0"/>
              <a:t>海南自由贸易港建设总体方案</a:t>
            </a:r>
            <a:r>
              <a:rPr lang="en-US" altLang="zh-CN" b="1" dirty="0"/>
              <a:t>》</a:t>
            </a:r>
            <a:endParaRPr lang="zh-CN" altLang="en-US" dirty="0"/>
          </a:p>
          <a:p>
            <a:pPr lvl="1" latinLnBrk="1"/>
            <a:r>
              <a:rPr lang="zh-CN" altLang="en-US" dirty="0"/>
              <a:t>发布机构：中共中央、国务院</a:t>
            </a:r>
            <a:endParaRPr lang="zh-CN" altLang="en-US" dirty="0"/>
          </a:p>
          <a:p>
            <a:pPr lvl="1" latinLnBrk="1"/>
            <a:r>
              <a:rPr lang="zh-CN" altLang="en-US" dirty="0"/>
              <a:t>文号：国发</a:t>
            </a:r>
            <a:r>
              <a:rPr lang="en-US" altLang="zh-CN" dirty="0"/>
              <a:t>〔2020〕33</a:t>
            </a:r>
            <a:r>
              <a:rPr lang="zh-CN" altLang="en-US" dirty="0"/>
              <a:t>号</a:t>
            </a:r>
            <a:endParaRPr lang="zh-CN" altLang="en-US" dirty="0"/>
          </a:p>
          <a:p>
            <a:pPr lvl="1" latinLnBrk="1"/>
            <a:r>
              <a:rPr lang="zh-CN" altLang="en-US" dirty="0"/>
              <a:t>发布日期：</a:t>
            </a:r>
            <a:r>
              <a:rPr lang="en-US" altLang="zh-CN" dirty="0"/>
              <a:t>2020</a:t>
            </a:r>
            <a:r>
              <a:rPr lang="zh-CN" altLang="en-US" dirty="0"/>
              <a:t>年</a:t>
            </a:r>
            <a:r>
              <a:rPr lang="en-US" altLang="zh-CN" dirty="0"/>
              <a:t>6</a:t>
            </a:r>
            <a:r>
              <a:rPr lang="zh-CN" altLang="en-US" dirty="0"/>
              <a:t>月</a:t>
            </a:r>
            <a:endParaRPr lang="zh-CN" altLang="en-US" dirty="0"/>
          </a:p>
          <a:p>
            <a:pPr lvl="1" latinLnBrk="1"/>
            <a:r>
              <a:rPr lang="zh-CN" altLang="en-US" dirty="0"/>
              <a:t>来源：海南省人民政府官网</a:t>
            </a:r>
            <a:r>
              <a:rPr lang="en-US" altLang="zh-CN" b="1" dirty="0">
                <a:hlinkClick r:id="rId1"/>
              </a:rPr>
              <a:t>5</a:t>
            </a:r>
            <a:r>
              <a:rPr lang="en-US" altLang="zh-CN" b="1" dirty="0">
                <a:hlinkClick r:id="rId3"/>
              </a:rPr>
              <a:t>8</a:t>
            </a:r>
            <a:endParaRPr lang="zh-CN" altLang="en-US" dirty="0"/>
          </a:p>
          <a:p>
            <a:pPr latinLnBrk="1"/>
            <a:r>
              <a:rPr lang="en-US" altLang="zh-CN" b="1" dirty="0"/>
              <a:t>7.《</a:t>
            </a:r>
            <a:r>
              <a:rPr lang="zh-CN" altLang="en-US" b="1" dirty="0"/>
              <a:t>数字经济促进共同富裕实施方案</a:t>
            </a:r>
            <a:r>
              <a:rPr lang="en-US" altLang="zh-CN" b="1" dirty="0"/>
              <a:t>》</a:t>
            </a:r>
            <a:endParaRPr lang="zh-CN" altLang="en-US" dirty="0"/>
          </a:p>
          <a:p>
            <a:pPr lvl="1" latinLnBrk="1"/>
            <a:r>
              <a:rPr lang="zh-CN" altLang="en-US" dirty="0"/>
              <a:t>发布机构：国家发展改革委、中央网信办等</a:t>
            </a:r>
            <a:endParaRPr lang="zh-CN" altLang="en-US" dirty="0"/>
          </a:p>
          <a:p>
            <a:pPr lvl="1" latinLnBrk="1"/>
            <a:r>
              <a:rPr lang="zh-CN" altLang="en-US" dirty="0"/>
              <a:t>发布日期：</a:t>
            </a:r>
            <a:r>
              <a:rPr lang="en-US" altLang="zh-CN" dirty="0"/>
              <a:t>2023</a:t>
            </a:r>
            <a:r>
              <a:rPr lang="zh-CN" altLang="en-US" dirty="0"/>
              <a:t>年</a:t>
            </a:r>
            <a:r>
              <a:rPr lang="en-US" altLang="zh-CN" dirty="0"/>
              <a:t>1</a:t>
            </a:r>
            <a:r>
              <a:rPr lang="zh-CN" altLang="en-US" dirty="0"/>
              <a:t>月</a:t>
            </a:r>
            <a:endParaRPr lang="zh-CN" altLang="en-US" dirty="0"/>
          </a:p>
          <a:p>
            <a:pPr lvl="1" latinLnBrk="1"/>
            <a:r>
              <a:rPr lang="zh-CN" altLang="en-US" dirty="0"/>
              <a:t>来源：国家发展改革委官网</a:t>
            </a:r>
            <a:r>
              <a:rPr lang="en-US" altLang="zh-CN" b="1" dirty="0">
                <a:hlinkClick r:id="rId1"/>
              </a:rPr>
              <a:t>5</a:t>
            </a:r>
            <a:r>
              <a:rPr lang="en-US" altLang="zh-CN" b="1" dirty="0">
                <a:hlinkClick r:id="rId2"/>
              </a:rPr>
              <a:t>6</a:t>
            </a:r>
            <a:endParaRPr lang="zh-CN" altLang="en-US" dirty="0"/>
          </a:p>
          <a:p>
            <a:pPr latinLnBrk="1"/>
            <a:r>
              <a:rPr lang="en-US" altLang="zh-CN" b="1" dirty="0"/>
              <a:t>8.《</a:t>
            </a:r>
            <a:r>
              <a:rPr lang="zh-CN" altLang="en-US" b="1" dirty="0"/>
              <a:t>粤港澳大湾区发展规划纲要</a:t>
            </a:r>
            <a:r>
              <a:rPr lang="en-US" altLang="zh-CN" b="1" dirty="0"/>
              <a:t>》</a:t>
            </a:r>
            <a:r>
              <a:rPr lang="zh-CN" altLang="en-US" b="1" dirty="0"/>
              <a:t>数据融合试点政策</a:t>
            </a:r>
            <a:endParaRPr lang="zh-CN" altLang="en-US" dirty="0"/>
          </a:p>
          <a:p>
            <a:pPr lvl="1" latinLnBrk="1"/>
            <a:r>
              <a:rPr lang="zh-CN" altLang="en-US" dirty="0"/>
              <a:t>发布机构：国务院</a:t>
            </a:r>
            <a:endParaRPr lang="zh-CN" altLang="en-US" dirty="0"/>
          </a:p>
          <a:p>
            <a:pPr lvl="1" latinLnBrk="1"/>
            <a:r>
              <a:rPr lang="zh-CN" altLang="en-US" dirty="0"/>
              <a:t>发布日期：</a:t>
            </a:r>
            <a:r>
              <a:rPr lang="en-US" altLang="zh-CN" dirty="0"/>
              <a:t>2021</a:t>
            </a:r>
            <a:r>
              <a:rPr lang="zh-CN" altLang="en-US" dirty="0"/>
              <a:t>年</a:t>
            </a:r>
            <a:r>
              <a:rPr lang="en-US" altLang="zh-CN" dirty="0"/>
              <a:t>9</a:t>
            </a:r>
            <a:r>
              <a:rPr lang="zh-CN" altLang="en-US" dirty="0"/>
              <a:t>月</a:t>
            </a:r>
            <a:endParaRPr lang="zh-CN" altLang="en-US" dirty="0"/>
          </a:p>
          <a:p>
            <a:pPr lvl="1" latinLnBrk="1"/>
            <a:r>
              <a:rPr lang="zh-CN" altLang="en-US" dirty="0"/>
              <a:t>来源：广东省人民政府官网</a:t>
            </a:r>
            <a:r>
              <a:rPr lang="en-US" altLang="zh-CN" b="1" dirty="0">
                <a:hlinkClick r:id="rId1"/>
              </a:rPr>
              <a:t>5</a:t>
            </a:r>
            <a:r>
              <a:rPr lang="en-US" altLang="zh-CN" b="1" dirty="0">
                <a:hlinkClick r:id="rId2"/>
              </a:rPr>
              <a:t>6</a:t>
            </a:r>
            <a:endParaRPr lang="zh-CN" altLang="en-US" dirty="0"/>
          </a:p>
          <a:p>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总结：数字经济发展的关键路径与政策</a:t>
            </a:r>
            <a:r>
              <a:rPr lang="en-US" altLang="zh-CN" dirty="0"/>
              <a:t>(6)</a:t>
            </a:r>
            <a:endParaRPr lang="zh-CN" altLang="en-US" dirty="0"/>
          </a:p>
        </p:txBody>
      </p:sp>
      <p:sp>
        <p:nvSpPr>
          <p:cNvPr id="3" name="内容占位符 2"/>
          <p:cNvSpPr>
            <a:spLocks noGrp="1"/>
          </p:cNvSpPr>
          <p:nvPr>
            <p:ph idx="1"/>
          </p:nvPr>
        </p:nvSpPr>
        <p:spPr/>
        <p:txBody>
          <a:bodyPr/>
          <a:lstStyle/>
          <a:p>
            <a:r>
              <a:rPr lang="zh-CN" altLang="en-US" b="1" dirty="0"/>
              <a:t>六、人才与普惠保障：筑牢社会基础</a:t>
            </a:r>
            <a:endParaRPr lang="zh-CN" altLang="en-US" b="1" dirty="0"/>
          </a:p>
          <a:p>
            <a:pPr latinLnBrk="1"/>
            <a:r>
              <a:rPr lang="zh-CN" altLang="en-US" b="1" dirty="0"/>
              <a:t>数字技能提升</a:t>
            </a:r>
            <a:endParaRPr lang="zh-CN" altLang="en-US" dirty="0"/>
          </a:p>
          <a:p>
            <a:pPr lvl="1" latinLnBrk="1"/>
            <a:r>
              <a:rPr lang="zh-CN" altLang="en-US" dirty="0"/>
              <a:t>实施全民数字素养工程，培养复合型人才</a:t>
            </a:r>
            <a:r>
              <a:rPr lang="en-US" altLang="zh-CN" dirty="0"/>
              <a:t>[[2]</a:t>
            </a:r>
            <a:r>
              <a:rPr lang="en-US" altLang="zh-CN" b="1" dirty="0">
                <a:hlinkClick r:id="rId1"/>
              </a:rPr>
              <a:t>6</a:t>
            </a:r>
            <a:r>
              <a:rPr lang="zh-CN" altLang="en-US" dirty="0"/>
              <a:t>。</a:t>
            </a:r>
            <a:endParaRPr lang="zh-CN" altLang="en-US" dirty="0"/>
          </a:p>
          <a:p>
            <a:pPr lvl="1" latinLnBrk="1"/>
            <a:r>
              <a:rPr lang="zh-CN" altLang="en-US" dirty="0"/>
              <a:t>高校增设大数据、人工智能专业，定向输送人才</a:t>
            </a:r>
            <a:r>
              <a:rPr lang="en-US" altLang="zh-CN" b="1" dirty="0">
                <a:hlinkClick r:id="rId1"/>
              </a:rPr>
              <a:t>6</a:t>
            </a:r>
            <a:r>
              <a:rPr lang="zh-CN" altLang="en-US" dirty="0"/>
              <a:t>。</a:t>
            </a:r>
            <a:endParaRPr lang="zh-CN" altLang="en-US" dirty="0"/>
          </a:p>
          <a:p>
            <a:pPr latinLnBrk="1"/>
            <a:r>
              <a:rPr lang="zh-CN" altLang="en-US" b="1" dirty="0"/>
              <a:t>包容性发展</a:t>
            </a:r>
            <a:endParaRPr lang="zh-CN" altLang="en-US" dirty="0"/>
          </a:p>
          <a:p>
            <a:pPr lvl="1" latinLnBrk="1"/>
            <a:r>
              <a:rPr lang="zh-CN" altLang="en-US" dirty="0"/>
              <a:t>落实</a:t>
            </a:r>
            <a:r>
              <a:rPr lang="en-US" altLang="zh-CN" dirty="0"/>
              <a:t>《</a:t>
            </a:r>
            <a:r>
              <a:rPr lang="zh-CN" altLang="en-US" dirty="0"/>
              <a:t>数字经济促进共同富裕实施方案</a:t>
            </a:r>
            <a:r>
              <a:rPr lang="en-US" altLang="zh-CN" dirty="0"/>
              <a:t>》</a:t>
            </a:r>
            <a:r>
              <a:rPr lang="zh-CN" altLang="en-US" dirty="0"/>
              <a:t>，缩小城乡数字差距</a:t>
            </a:r>
            <a:r>
              <a:rPr lang="en-US" altLang="zh-CN" b="1" dirty="0">
                <a:hlinkClick r:id="rId2"/>
              </a:rPr>
              <a:t>7</a:t>
            </a:r>
            <a:r>
              <a:rPr lang="zh-CN" altLang="en-US" dirty="0"/>
              <a:t>。</a:t>
            </a:r>
            <a:endParaRPr lang="zh-CN" altLang="en-US" dirty="0"/>
          </a:p>
          <a:p>
            <a:pPr lvl="1" latinLnBrk="1"/>
            <a:r>
              <a:rPr lang="zh-CN" altLang="en-US" dirty="0"/>
              <a:t>鼓励“普通人参与数字经济”（如电商创业、数字内容创作）</a:t>
            </a:r>
            <a:r>
              <a:rPr lang="en-US" altLang="zh-CN" b="1" dirty="0">
                <a:hlinkClick r:id="rId3"/>
              </a:rPr>
              <a:t>8</a:t>
            </a:r>
            <a:endParaRPr lang="zh-CN" altLang="en-US" dirty="0"/>
          </a:p>
          <a:p>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p:cNvSpPr/>
          <p:nvPr/>
        </p:nvSpPr>
        <p:spPr>
          <a:xfrm rot="16200000">
            <a:off x="2466975" y="-2714624"/>
            <a:ext cx="7258056" cy="12191999"/>
          </a:xfrm>
          <a:custGeom>
            <a:avLst/>
            <a:gdLst>
              <a:gd name="connsiteX0" fmla="*/ 0 w 7207250"/>
              <a:gd name="connsiteY0" fmla="*/ 0 h 6858000"/>
              <a:gd name="connsiteX1" fmla="*/ 7207250 w 7207250"/>
              <a:gd name="connsiteY1" fmla="*/ 0 h 6858000"/>
              <a:gd name="connsiteX2" fmla="*/ 7155651 w 7207250"/>
              <a:gd name="connsiteY2" fmla="*/ 133246 h 6858000"/>
              <a:gd name="connsiteX3" fmla="*/ 6651625 w 7207250"/>
              <a:gd name="connsiteY3" fmla="*/ 3429000 h 6858000"/>
              <a:gd name="connsiteX4" fmla="*/ 7155651 w 7207250"/>
              <a:gd name="connsiteY4" fmla="*/ 6724754 h 6858000"/>
              <a:gd name="connsiteX5" fmla="*/ 7207250 w 7207250"/>
              <a:gd name="connsiteY5" fmla="*/ 6858000 h 6858000"/>
              <a:gd name="connsiteX6" fmla="*/ 0 w 7207250"/>
              <a:gd name="connsiteY6" fmla="*/ 6858000 h 6858000"/>
              <a:gd name="connsiteX7" fmla="*/ 51600 w 7207250"/>
              <a:gd name="connsiteY7" fmla="*/ 6724754 h 6858000"/>
              <a:gd name="connsiteX8" fmla="*/ 555625 w 7207250"/>
              <a:gd name="connsiteY8" fmla="*/ 3429000 h 6858000"/>
              <a:gd name="connsiteX9" fmla="*/ 51600 w 7207250"/>
              <a:gd name="connsiteY9" fmla="*/ 133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07250" h="6858000">
                <a:moveTo>
                  <a:pt x="0" y="0"/>
                </a:moveTo>
                <a:lnTo>
                  <a:pt x="7207250" y="0"/>
                </a:lnTo>
                <a:lnTo>
                  <a:pt x="7155651" y="133246"/>
                </a:lnTo>
                <a:cubicBezTo>
                  <a:pt x="6844238" y="976703"/>
                  <a:pt x="6651625" y="2141928"/>
                  <a:pt x="6651625" y="3429000"/>
                </a:cubicBezTo>
                <a:cubicBezTo>
                  <a:pt x="6651625" y="4716072"/>
                  <a:pt x="6844238" y="5881297"/>
                  <a:pt x="7155651" y="6724754"/>
                </a:cubicBezTo>
                <a:lnTo>
                  <a:pt x="7207250" y="6858000"/>
                </a:lnTo>
                <a:lnTo>
                  <a:pt x="0" y="6858000"/>
                </a:lnTo>
                <a:lnTo>
                  <a:pt x="51600" y="6724754"/>
                </a:lnTo>
                <a:cubicBezTo>
                  <a:pt x="363013" y="5881297"/>
                  <a:pt x="555625" y="4716072"/>
                  <a:pt x="555625" y="3429000"/>
                </a:cubicBezTo>
                <a:cubicBezTo>
                  <a:pt x="555625" y="2141928"/>
                  <a:pt x="363013" y="976703"/>
                  <a:pt x="51600" y="133246"/>
                </a:cubicBezTo>
                <a:close/>
              </a:path>
            </a:pathLst>
          </a:custGeom>
          <a:solidFill>
            <a:srgbClr val="293C43">
              <a:alpha val="12000"/>
            </a:srgb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34" name="图片 33"/>
          <p:cNvPicPr>
            <a:picLocks noChangeAspect="1"/>
          </p:cNvPicPr>
          <p:nvPr/>
        </p:nvPicPr>
        <p:blipFill>
          <a:blip r:embed="rId1">
            <a:extLst>
              <a:ext uri="{28A0092B-C50C-407E-A947-70E740481C1C}">
                <a14:useLocalDpi xmlns:a14="http://schemas.microsoft.com/office/drawing/2010/main" val="0"/>
              </a:ext>
            </a:extLst>
          </a:blip>
          <a:srcRect t="6095" b="6095"/>
          <a:stretch>
            <a:fillRect/>
          </a:stretch>
        </p:blipFill>
        <p:spPr>
          <a:xfrm>
            <a:off x="2" y="241302"/>
            <a:ext cx="12191999" cy="6375396"/>
          </a:xfrm>
          <a:custGeom>
            <a:avLst/>
            <a:gdLst>
              <a:gd name="connsiteX0" fmla="*/ 12191999 w 12191999"/>
              <a:gd name="connsiteY0" fmla="*/ 0 h 6375396"/>
              <a:gd name="connsiteX1" fmla="*/ 11955117 w 12191999"/>
              <a:gd name="connsiteY1" fmla="*/ 45643 h 6375396"/>
              <a:gd name="connsiteX2" fmla="*/ 6096000 w 12191999"/>
              <a:gd name="connsiteY2" fmla="*/ 491495 h 6375396"/>
              <a:gd name="connsiteX3" fmla="*/ 236882 w 12191999"/>
              <a:gd name="connsiteY3" fmla="*/ 45643 h 6375396"/>
              <a:gd name="connsiteX4" fmla="*/ 0 w 12191999"/>
              <a:gd name="connsiteY4" fmla="*/ 0 h 6375396"/>
              <a:gd name="connsiteX5" fmla="*/ 0 w 12191999"/>
              <a:gd name="connsiteY5" fmla="*/ 6375396 h 6375396"/>
              <a:gd name="connsiteX6" fmla="*/ 8 w 12191999"/>
              <a:gd name="connsiteY6" fmla="*/ 6375396 h 6375396"/>
              <a:gd name="connsiteX7" fmla="*/ 236882 w 12191999"/>
              <a:gd name="connsiteY7" fmla="*/ 6329753 h 6375396"/>
              <a:gd name="connsiteX8" fmla="*/ 6096000 w 12191999"/>
              <a:gd name="connsiteY8" fmla="*/ 5883902 h 6375396"/>
              <a:gd name="connsiteX9" fmla="*/ 11955117 w 12191999"/>
              <a:gd name="connsiteY9" fmla="*/ 6329753 h 6375396"/>
              <a:gd name="connsiteX10" fmla="*/ 12191991 w 12191999"/>
              <a:gd name="connsiteY10" fmla="*/ 6375396 h 6375396"/>
              <a:gd name="connsiteX11" fmla="*/ 12191999 w 12191999"/>
              <a:gd name="connsiteY11" fmla="*/ 6375396 h 637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1999" h="6375396">
                <a:moveTo>
                  <a:pt x="12191999" y="0"/>
                </a:moveTo>
                <a:lnTo>
                  <a:pt x="11955117" y="45643"/>
                </a:lnTo>
                <a:cubicBezTo>
                  <a:pt x="10455639" y="321113"/>
                  <a:pt x="8384128" y="491495"/>
                  <a:pt x="6096000" y="491495"/>
                </a:cubicBezTo>
                <a:cubicBezTo>
                  <a:pt x="3807872" y="491495"/>
                  <a:pt x="1736362" y="321113"/>
                  <a:pt x="236882" y="45643"/>
                </a:cubicBezTo>
                <a:lnTo>
                  <a:pt x="0" y="0"/>
                </a:lnTo>
                <a:lnTo>
                  <a:pt x="0" y="6375396"/>
                </a:lnTo>
                <a:lnTo>
                  <a:pt x="8" y="6375396"/>
                </a:lnTo>
                <a:lnTo>
                  <a:pt x="236882" y="6329753"/>
                </a:lnTo>
                <a:cubicBezTo>
                  <a:pt x="1736362" y="6054283"/>
                  <a:pt x="3807872" y="5883902"/>
                  <a:pt x="6096000" y="5883902"/>
                </a:cubicBezTo>
                <a:cubicBezTo>
                  <a:pt x="8384128" y="5883902"/>
                  <a:pt x="10455639" y="6054283"/>
                  <a:pt x="11955117" y="6329753"/>
                </a:cubicBezTo>
                <a:lnTo>
                  <a:pt x="12191991" y="6375396"/>
                </a:lnTo>
                <a:lnTo>
                  <a:pt x="12191999" y="6375396"/>
                </a:lnTo>
                <a:close/>
              </a:path>
            </a:pathLst>
          </a:custGeom>
        </p:spPr>
      </p:pic>
      <p:sp>
        <p:nvSpPr>
          <p:cNvPr id="20" name="任意多边形: 形状 19"/>
          <p:cNvSpPr/>
          <p:nvPr/>
        </p:nvSpPr>
        <p:spPr>
          <a:xfrm rot="16200000">
            <a:off x="2908302" y="-2666998"/>
            <a:ext cx="6375398" cy="12191998"/>
          </a:xfrm>
          <a:custGeom>
            <a:avLst/>
            <a:gdLst>
              <a:gd name="connsiteX0" fmla="*/ 0 w 7207250"/>
              <a:gd name="connsiteY0" fmla="*/ 0 h 6858000"/>
              <a:gd name="connsiteX1" fmla="*/ 7207250 w 7207250"/>
              <a:gd name="connsiteY1" fmla="*/ 0 h 6858000"/>
              <a:gd name="connsiteX2" fmla="*/ 7155651 w 7207250"/>
              <a:gd name="connsiteY2" fmla="*/ 133246 h 6858000"/>
              <a:gd name="connsiteX3" fmla="*/ 6651625 w 7207250"/>
              <a:gd name="connsiteY3" fmla="*/ 3429000 h 6858000"/>
              <a:gd name="connsiteX4" fmla="*/ 7155651 w 7207250"/>
              <a:gd name="connsiteY4" fmla="*/ 6724754 h 6858000"/>
              <a:gd name="connsiteX5" fmla="*/ 7207250 w 7207250"/>
              <a:gd name="connsiteY5" fmla="*/ 6858000 h 6858000"/>
              <a:gd name="connsiteX6" fmla="*/ 0 w 7207250"/>
              <a:gd name="connsiteY6" fmla="*/ 6858000 h 6858000"/>
              <a:gd name="connsiteX7" fmla="*/ 51600 w 7207250"/>
              <a:gd name="connsiteY7" fmla="*/ 6724754 h 6858000"/>
              <a:gd name="connsiteX8" fmla="*/ 555625 w 7207250"/>
              <a:gd name="connsiteY8" fmla="*/ 3429000 h 6858000"/>
              <a:gd name="connsiteX9" fmla="*/ 51600 w 7207250"/>
              <a:gd name="connsiteY9" fmla="*/ 1332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07250" h="6858000">
                <a:moveTo>
                  <a:pt x="0" y="0"/>
                </a:moveTo>
                <a:lnTo>
                  <a:pt x="7207250" y="0"/>
                </a:lnTo>
                <a:lnTo>
                  <a:pt x="7155651" y="133246"/>
                </a:lnTo>
                <a:cubicBezTo>
                  <a:pt x="6844238" y="976703"/>
                  <a:pt x="6651625" y="2141928"/>
                  <a:pt x="6651625" y="3429000"/>
                </a:cubicBezTo>
                <a:cubicBezTo>
                  <a:pt x="6651625" y="4716072"/>
                  <a:pt x="6844238" y="5881297"/>
                  <a:pt x="7155651" y="6724754"/>
                </a:cubicBezTo>
                <a:lnTo>
                  <a:pt x="7207250" y="6858000"/>
                </a:lnTo>
                <a:lnTo>
                  <a:pt x="0" y="6858000"/>
                </a:lnTo>
                <a:lnTo>
                  <a:pt x="51600" y="6724754"/>
                </a:lnTo>
                <a:cubicBezTo>
                  <a:pt x="363013" y="5881297"/>
                  <a:pt x="555625" y="4716072"/>
                  <a:pt x="555625" y="3429000"/>
                </a:cubicBezTo>
                <a:cubicBezTo>
                  <a:pt x="555625" y="2141928"/>
                  <a:pt x="363013" y="976703"/>
                  <a:pt x="51600" y="133246"/>
                </a:cubicBezTo>
                <a:close/>
              </a:path>
            </a:pathLst>
          </a:custGeom>
          <a:gradFill flip="none" rotWithShape="1">
            <a:gsLst>
              <a:gs pos="21000">
                <a:srgbClr val="285BDB"/>
              </a:gs>
              <a:gs pos="77000">
                <a:srgbClr val="285BDB">
                  <a:alpha val="0"/>
                </a:srgbClr>
              </a:gs>
              <a:gs pos="59000">
                <a:srgbClr val="285BDB">
                  <a:alpha val="66000"/>
                </a:srgbClr>
              </a:gs>
            </a:gsLst>
            <a:lin ang="54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7" name="TextBox-37" hidden="1"/>
          <p:cNvSpPr txBox="1"/>
          <p:nvPr/>
        </p:nvSpPr>
        <p:spPr>
          <a:xfrm>
            <a:off x="5753503" y="-816942"/>
            <a:ext cx="1321066" cy="1107996"/>
          </a:xfrm>
          <a:prstGeom prst="rect">
            <a:avLst/>
          </a:prstGeom>
          <a:noFill/>
        </p:spPr>
        <p:txBody>
          <a:bodyPr wrap="square" lIns="0" tIns="0" rIns="0" bIns="0" rtlCol="0">
            <a:spAutoFit/>
          </a:bodyPr>
          <a:lstStyle/>
          <a:p>
            <a:pPr algn="ctr"/>
            <a:r>
              <a:rPr lang="zh-CN" altLang="en-US" sz="7200" dirty="0">
                <a:solidFill>
                  <a:schemeClr val="bg1"/>
                </a:solidFill>
                <a:latin typeface="思源黑体 CN Medium" panose="020B0600000000000000" pitchFamily="34" charset="-122"/>
                <a:ea typeface="思源黑体 CN Medium" panose="020B0600000000000000" pitchFamily="34" charset="-122"/>
                <a:cs typeface="阿里巴巴普惠体 H" panose="00020600040101010101" pitchFamily="18" charset="-122"/>
                <a:sym typeface="思源黑体 CN Medium" panose="020B0600000000000000" pitchFamily="34" charset="-122"/>
              </a:rPr>
              <a:t>“</a:t>
            </a:r>
            <a:endParaRPr lang="zh-CN" altLang="en-US" sz="7200" dirty="0">
              <a:solidFill>
                <a:schemeClr val="bg1"/>
              </a:solidFill>
              <a:latin typeface="思源黑体 CN Medium" panose="020B0600000000000000" pitchFamily="34" charset="-122"/>
              <a:ea typeface="思源黑体 CN Medium" panose="020B0600000000000000" pitchFamily="34" charset="-122"/>
              <a:cs typeface="阿里巴巴普惠体 H" panose="00020600040101010101" pitchFamily="18" charset="-122"/>
              <a:sym typeface="思源黑体 CN Medium" panose="020B0600000000000000" pitchFamily="34" charset="-122"/>
            </a:endParaRPr>
          </a:p>
        </p:txBody>
      </p:sp>
      <p:sp>
        <p:nvSpPr>
          <p:cNvPr id="53" name="任意多边形: 形状 52"/>
          <p:cNvSpPr/>
          <p:nvPr/>
        </p:nvSpPr>
        <p:spPr>
          <a:xfrm rot="16200000">
            <a:off x="7216938" y="2066441"/>
            <a:ext cx="351178" cy="72293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5" name="任意多边形: 形状 54"/>
          <p:cNvSpPr/>
          <p:nvPr/>
        </p:nvSpPr>
        <p:spPr>
          <a:xfrm rot="16200000">
            <a:off x="676438" y="4718731"/>
            <a:ext cx="351178" cy="722938"/>
          </a:xfrm>
          <a:custGeom>
            <a:avLst/>
            <a:gdLst>
              <a:gd name="connsiteX0" fmla="*/ 452944 w 477264"/>
              <a:gd name="connsiteY0" fmla="*/ 933858 h 982498"/>
              <a:gd name="connsiteX1" fmla="*/ 477264 w 477264"/>
              <a:gd name="connsiteY1" fmla="*/ 958178 h 982498"/>
              <a:gd name="connsiteX2" fmla="*/ 452944 w 477264"/>
              <a:gd name="connsiteY2" fmla="*/ 982498 h 982498"/>
              <a:gd name="connsiteX3" fmla="*/ 428624 w 477264"/>
              <a:gd name="connsiteY3" fmla="*/ 958178 h 982498"/>
              <a:gd name="connsiteX4" fmla="*/ 452944 w 477264"/>
              <a:gd name="connsiteY4" fmla="*/ 933858 h 982498"/>
              <a:gd name="connsiteX5" fmla="*/ 345788 w 477264"/>
              <a:gd name="connsiteY5" fmla="*/ 933858 h 982498"/>
              <a:gd name="connsiteX6" fmla="*/ 370108 w 477264"/>
              <a:gd name="connsiteY6" fmla="*/ 958178 h 982498"/>
              <a:gd name="connsiteX7" fmla="*/ 345788 w 477264"/>
              <a:gd name="connsiteY7" fmla="*/ 982498 h 982498"/>
              <a:gd name="connsiteX8" fmla="*/ 321468 w 477264"/>
              <a:gd name="connsiteY8" fmla="*/ 958178 h 982498"/>
              <a:gd name="connsiteX9" fmla="*/ 345788 w 477264"/>
              <a:gd name="connsiteY9" fmla="*/ 933858 h 982498"/>
              <a:gd name="connsiteX10" fmla="*/ 238632 w 477264"/>
              <a:gd name="connsiteY10" fmla="*/ 933858 h 982498"/>
              <a:gd name="connsiteX11" fmla="*/ 262952 w 477264"/>
              <a:gd name="connsiteY11" fmla="*/ 958178 h 982498"/>
              <a:gd name="connsiteX12" fmla="*/ 238632 w 477264"/>
              <a:gd name="connsiteY12" fmla="*/ 982498 h 982498"/>
              <a:gd name="connsiteX13" fmla="*/ 214312 w 477264"/>
              <a:gd name="connsiteY13" fmla="*/ 958178 h 982498"/>
              <a:gd name="connsiteX14" fmla="*/ 238632 w 477264"/>
              <a:gd name="connsiteY14" fmla="*/ 933858 h 982498"/>
              <a:gd name="connsiteX15" fmla="*/ 131476 w 477264"/>
              <a:gd name="connsiteY15" fmla="*/ 933858 h 982498"/>
              <a:gd name="connsiteX16" fmla="*/ 155796 w 477264"/>
              <a:gd name="connsiteY16" fmla="*/ 958178 h 982498"/>
              <a:gd name="connsiteX17" fmla="*/ 131476 w 477264"/>
              <a:gd name="connsiteY17" fmla="*/ 982498 h 982498"/>
              <a:gd name="connsiteX18" fmla="*/ 107156 w 477264"/>
              <a:gd name="connsiteY18" fmla="*/ 958178 h 982498"/>
              <a:gd name="connsiteX19" fmla="*/ 131476 w 477264"/>
              <a:gd name="connsiteY19" fmla="*/ 933858 h 982498"/>
              <a:gd name="connsiteX20" fmla="*/ 24320 w 477264"/>
              <a:gd name="connsiteY20" fmla="*/ 933858 h 982498"/>
              <a:gd name="connsiteX21" fmla="*/ 48640 w 477264"/>
              <a:gd name="connsiteY21" fmla="*/ 958178 h 982498"/>
              <a:gd name="connsiteX22" fmla="*/ 24320 w 477264"/>
              <a:gd name="connsiteY22" fmla="*/ 982498 h 982498"/>
              <a:gd name="connsiteX23" fmla="*/ 0 w 477264"/>
              <a:gd name="connsiteY23" fmla="*/ 958178 h 982498"/>
              <a:gd name="connsiteX24" fmla="*/ 24320 w 477264"/>
              <a:gd name="connsiteY24" fmla="*/ 933858 h 982498"/>
              <a:gd name="connsiteX25" fmla="*/ 452944 w 477264"/>
              <a:gd name="connsiteY25" fmla="*/ 778215 h 982498"/>
              <a:gd name="connsiteX26" fmla="*/ 477264 w 477264"/>
              <a:gd name="connsiteY26" fmla="*/ 802535 h 982498"/>
              <a:gd name="connsiteX27" fmla="*/ 452944 w 477264"/>
              <a:gd name="connsiteY27" fmla="*/ 826855 h 982498"/>
              <a:gd name="connsiteX28" fmla="*/ 428624 w 477264"/>
              <a:gd name="connsiteY28" fmla="*/ 802535 h 982498"/>
              <a:gd name="connsiteX29" fmla="*/ 452944 w 477264"/>
              <a:gd name="connsiteY29" fmla="*/ 778215 h 982498"/>
              <a:gd name="connsiteX30" fmla="*/ 345788 w 477264"/>
              <a:gd name="connsiteY30" fmla="*/ 778215 h 982498"/>
              <a:gd name="connsiteX31" fmla="*/ 370108 w 477264"/>
              <a:gd name="connsiteY31" fmla="*/ 802535 h 982498"/>
              <a:gd name="connsiteX32" fmla="*/ 345788 w 477264"/>
              <a:gd name="connsiteY32" fmla="*/ 826855 h 982498"/>
              <a:gd name="connsiteX33" fmla="*/ 321468 w 477264"/>
              <a:gd name="connsiteY33" fmla="*/ 802535 h 982498"/>
              <a:gd name="connsiteX34" fmla="*/ 345788 w 477264"/>
              <a:gd name="connsiteY34" fmla="*/ 778215 h 982498"/>
              <a:gd name="connsiteX35" fmla="*/ 238632 w 477264"/>
              <a:gd name="connsiteY35" fmla="*/ 778215 h 982498"/>
              <a:gd name="connsiteX36" fmla="*/ 262952 w 477264"/>
              <a:gd name="connsiteY36" fmla="*/ 802535 h 982498"/>
              <a:gd name="connsiteX37" fmla="*/ 238632 w 477264"/>
              <a:gd name="connsiteY37" fmla="*/ 826855 h 982498"/>
              <a:gd name="connsiteX38" fmla="*/ 214312 w 477264"/>
              <a:gd name="connsiteY38" fmla="*/ 802535 h 982498"/>
              <a:gd name="connsiteX39" fmla="*/ 238632 w 477264"/>
              <a:gd name="connsiteY39" fmla="*/ 778215 h 982498"/>
              <a:gd name="connsiteX40" fmla="*/ 131476 w 477264"/>
              <a:gd name="connsiteY40" fmla="*/ 778215 h 982498"/>
              <a:gd name="connsiteX41" fmla="*/ 155796 w 477264"/>
              <a:gd name="connsiteY41" fmla="*/ 802535 h 982498"/>
              <a:gd name="connsiteX42" fmla="*/ 131476 w 477264"/>
              <a:gd name="connsiteY42" fmla="*/ 826855 h 982498"/>
              <a:gd name="connsiteX43" fmla="*/ 107156 w 477264"/>
              <a:gd name="connsiteY43" fmla="*/ 802535 h 982498"/>
              <a:gd name="connsiteX44" fmla="*/ 131476 w 477264"/>
              <a:gd name="connsiteY44" fmla="*/ 778215 h 982498"/>
              <a:gd name="connsiteX45" fmla="*/ 24320 w 477264"/>
              <a:gd name="connsiteY45" fmla="*/ 778215 h 982498"/>
              <a:gd name="connsiteX46" fmla="*/ 48640 w 477264"/>
              <a:gd name="connsiteY46" fmla="*/ 802535 h 982498"/>
              <a:gd name="connsiteX47" fmla="*/ 24320 w 477264"/>
              <a:gd name="connsiteY47" fmla="*/ 826855 h 982498"/>
              <a:gd name="connsiteX48" fmla="*/ 0 w 477264"/>
              <a:gd name="connsiteY48" fmla="*/ 802535 h 982498"/>
              <a:gd name="connsiteX49" fmla="*/ 24320 w 477264"/>
              <a:gd name="connsiteY49" fmla="*/ 778215 h 982498"/>
              <a:gd name="connsiteX50" fmla="*/ 452944 w 477264"/>
              <a:gd name="connsiteY50" fmla="*/ 622572 h 982498"/>
              <a:gd name="connsiteX51" fmla="*/ 477264 w 477264"/>
              <a:gd name="connsiteY51" fmla="*/ 646892 h 982498"/>
              <a:gd name="connsiteX52" fmla="*/ 452944 w 477264"/>
              <a:gd name="connsiteY52" fmla="*/ 671212 h 982498"/>
              <a:gd name="connsiteX53" fmla="*/ 428624 w 477264"/>
              <a:gd name="connsiteY53" fmla="*/ 646892 h 982498"/>
              <a:gd name="connsiteX54" fmla="*/ 452944 w 477264"/>
              <a:gd name="connsiteY54" fmla="*/ 622572 h 982498"/>
              <a:gd name="connsiteX55" fmla="*/ 345788 w 477264"/>
              <a:gd name="connsiteY55" fmla="*/ 622572 h 982498"/>
              <a:gd name="connsiteX56" fmla="*/ 370108 w 477264"/>
              <a:gd name="connsiteY56" fmla="*/ 646892 h 982498"/>
              <a:gd name="connsiteX57" fmla="*/ 345788 w 477264"/>
              <a:gd name="connsiteY57" fmla="*/ 671212 h 982498"/>
              <a:gd name="connsiteX58" fmla="*/ 321468 w 477264"/>
              <a:gd name="connsiteY58" fmla="*/ 646892 h 982498"/>
              <a:gd name="connsiteX59" fmla="*/ 345788 w 477264"/>
              <a:gd name="connsiteY59" fmla="*/ 622572 h 982498"/>
              <a:gd name="connsiteX60" fmla="*/ 238632 w 477264"/>
              <a:gd name="connsiteY60" fmla="*/ 622572 h 982498"/>
              <a:gd name="connsiteX61" fmla="*/ 262952 w 477264"/>
              <a:gd name="connsiteY61" fmla="*/ 646892 h 982498"/>
              <a:gd name="connsiteX62" fmla="*/ 238632 w 477264"/>
              <a:gd name="connsiteY62" fmla="*/ 671212 h 982498"/>
              <a:gd name="connsiteX63" fmla="*/ 214312 w 477264"/>
              <a:gd name="connsiteY63" fmla="*/ 646892 h 982498"/>
              <a:gd name="connsiteX64" fmla="*/ 238632 w 477264"/>
              <a:gd name="connsiteY64" fmla="*/ 622572 h 982498"/>
              <a:gd name="connsiteX65" fmla="*/ 131476 w 477264"/>
              <a:gd name="connsiteY65" fmla="*/ 622572 h 982498"/>
              <a:gd name="connsiteX66" fmla="*/ 155796 w 477264"/>
              <a:gd name="connsiteY66" fmla="*/ 646892 h 982498"/>
              <a:gd name="connsiteX67" fmla="*/ 131476 w 477264"/>
              <a:gd name="connsiteY67" fmla="*/ 671212 h 982498"/>
              <a:gd name="connsiteX68" fmla="*/ 107156 w 477264"/>
              <a:gd name="connsiteY68" fmla="*/ 646892 h 982498"/>
              <a:gd name="connsiteX69" fmla="*/ 131476 w 477264"/>
              <a:gd name="connsiteY69" fmla="*/ 622572 h 982498"/>
              <a:gd name="connsiteX70" fmla="*/ 24320 w 477264"/>
              <a:gd name="connsiteY70" fmla="*/ 622572 h 982498"/>
              <a:gd name="connsiteX71" fmla="*/ 48640 w 477264"/>
              <a:gd name="connsiteY71" fmla="*/ 646892 h 982498"/>
              <a:gd name="connsiteX72" fmla="*/ 24320 w 477264"/>
              <a:gd name="connsiteY72" fmla="*/ 671212 h 982498"/>
              <a:gd name="connsiteX73" fmla="*/ 0 w 477264"/>
              <a:gd name="connsiteY73" fmla="*/ 646892 h 982498"/>
              <a:gd name="connsiteX74" fmla="*/ 24320 w 477264"/>
              <a:gd name="connsiteY74" fmla="*/ 622572 h 982498"/>
              <a:gd name="connsiteX75" fmla="*/ 24320 w 477264"/>
              <a:gd name="connsiteY75" fmla="*/ 466929 h 982498"/>
              <a:gd name="connsiteX76" fmla="*/ 48640 w 477264"/>
              <a:gd name="connsiteY76" fmla="*/ 491249 h 982498"/>
              <a:gd name="connsiteX77" fmla="*/ 24320 w 477264"/>
              <a:gd name="connsiteY77" fmla="*/ 515569 h 982498"/>
              <a:gd name="connsiteX78" fmla="*/ 0 w 477264"/>
              <a:gd name="connsiteY78" fmla="*/ 491249 h 982498"/>
              <a:gd name="connsiteX79" fmla="*/ 24320 w 477264"/>
              <a:gd name="connsiteY79" fmla="*/ 466929 h 982498"/>
              <a:gd name="connsiteX80" fmla="*/ 131476 w 477264"/>
              <a:gd name="connsiteY80" fmla="*/ 466929 h 982498"/>
              <a:gd name="connsiteX81" fmla="*/ 155796 w 477264"/>
              <a:gd name="connsiteY81" fmla="*/ 491249 h 982498"/>
              <a:gd name="connsiteX82" fmla="*/ 131476 w 477264"/>
              <a:gd name="connsiteY82" fmla="*/ 515569 h 982498"/>
              <a:gd name="connsiteX83" fmla="*/ 107156 w 477264"/>
              <a:gd name="connsiteY83" fmla="*/ 491249 h 982498"/>
              <a:gd name="connsiteX84" fmla="*/ 131476 w 477264"/>
              <a:gd name="connsiteY84" fmla="*/ 466929 h 982498"/>
              <a:gd name="connsiteX85" fmla="*/ 238632 w 477264"/>
              <a:gd name="connsiteY85" fmla="*/ 466929 h 982498"/>
              <a:gd name="connsiteX86" fmla="*/ 262952 w 477264"/>
              <a:gd name="connsiteY86" fmla="*/ 491249 h 982498"/>
              <a:gd name="connsiteX87" fmla="*/ 238632 w 477264"/>
              <a:gd name="connsiteY87" fmla="*/ 515569 h 982498"/>
              <a:gd name="connsiteX88" fmla="*/ 214312 w 477264"/>
              <a:gd name="connsiteY88" fmla="*/ 491249 h 982498"/>
              <a:gd name="connsiteX89" fmla="*/ 238632 w 477264"/>
              <a:gd name="connsiteY89" fmla="*/ 466929 h 982498"/>
              <a:gd name="connsiteX90" fmla="*/ 345788 w 477264"/>
              <a:gd name="connsiteY90" fmla="*/ 466929 h 982498"/>
              <a:gd name="connsiteX91" fmla="*/ 370108 w 477264"/>
              <a:gd name="connsiteY91" fmla="*/ 491249 h 982498"/>
              <a:gd name="connsiteX92" fmla="*/ 345788 w 477264"/>
              <a:gd name="connsiteY92" fmla="*/ 515569 h 982498"/>
              <a:gd name="connsiteX93" fmla="*/ 321468 w 477264"/>
              <a:gd name="connsiteY93" fmla="*/ 491249 h 982498"/>
              <a:gd name="connsiteX94" fmla="*/ 345788 w 477264"/>
              <a:gd name="connsiteY94" fmla="*/ 466929 h 982498"/>
              <a:gd name="connsiteX95" fmla="*/ 452944 w 477264"/>
              <a:gd name="connsiteY95" fmla="*/ 466929 h 982498"/>
              <a:gd name="connsiteX96" fmla="*/ 477264 w 477264"/>
              <a:gd name="connsiteY96" fmla="*/ 491249 h 982498"/>
              <a:gd name="connsiteX97" fmla="*/ 452944 w 477264"/>
              <a:gd name="connsiteY97" fmla="*/ 515569 h 982498"/>
              <a:gd name="connsiteX98" fmla="*/ 428624 w 477264"/>
              <a:gd name="connsiteY98" fmla="*/ 491249 h 982498"/>
              <a:gd name="connsiteX99" fmla="*/ 452944 w 477264"/>
              <a:gd name="connsiteY99" fmla="*/ 466929 h 982498"/>
              <a:gd name="connsiteX100" fmla="*/ 24320 w 477264"/>
              <a:gd name="connsiteY100" fmla="*/ 311287 h 982498"/>
              <a:gd name="connsiteX101" fmla="*/ 48640 w 477264"/>
              <a:gd name="connsiteY101" fmla="*/ 335607 h 982498"/>
              <a:gd name="connsiteX102" fmla="*/ 24320 w 477264"/>
              <a:gd name="connsiteY102" fmla="*/ 359926 h 982498"/>
              <a:gd name="connsiteX103" fmla="*/ 0 w 477264"/>
              <a:gd name="connsiteY103" fmla="*/ 335607 h 982498"/>
              <a:gd name="connsiteX104" fmla="*/ 24320 w 477264"/>
              <a:gd name="connsiteY104" fmla="*/ 311287 h 982498"/>
              <a:gd name="connsiteX105" fmla="*/ 131476 w 477264"/>
              <a:gd name="connsiteY105" fmla="*/ 311286 h 982498"/>
              <a:gd name="connsiteX106" fmla="*/ 155796 w 477264"/>
              <a:gd name="connsiteY106" fmla="*/ 335606 h 982498"/>
              <a:gd name="connsiteX107" fmla="*/ 131476 w 477264"/>
              <a:gd name="connsiteY107" fmla="*/ 359926 h 982498"/>
              <a:gd name="connsiteX108" fmla="*/ 107156 w 477264"/>
              <a:gd name="connsiteY108" fmla="*/ 335606 h 982498"/>
              <a:gd name="connsiteX109" fmla="*/ 131476 w 477264"/>
              <a:gd name="connsiteY109" fmla="*/ 311286 h 982498"/>
              <a:gd name="connsiteX110" fmla="*/ 238632 w 477264"/>
              <a:gd name="connsiteY110" fmla="*/ 311286 h 982498"/>
              <a:gd name="connsiteX111" fmla="*/ 262952 w 477264"/>
              <a:gd name="connsiteY111" fmla="*/ 335606 h 982498"/>
              <a:gd name="connsiteX112" fmla="*/ 238632 w 477264"/>
              <a:gd name="connsiteY112" fmla="*/ 359926 h 982498"/>
              <a:gd name="connsiteX113" fmla="*/ 214312 w 477264"/>
              <a:gd name="connsiteY113" fmla="*/ 335606 h 982498"/>
              <a:gd name="connsiteX114" fmla="*/ 238632 w 477264"/>
              <a:gd name="connsiteY114" fmla="*/ 311286 h 982498"/>
              <a:gd name="connsiteX115" fmla="*/ 345788 w 477264"/>
              <a:gd name="connsiteY115" fmla="*/ 311286 h 982498"/>
              <a:gd name="connsiteX116" fmla="*/ 370108 w 477264"/>
              <a:gd name="connsiteY116" fmla="*/ 335606 h 982498"/>
              <a:gd name="connsiteX117" fmla="*/ 345788 w 477264"/>
              <a:gd name="connsiteY117" fmla="*/ 359926 h 982498"/>
              <a:gd name="connsiteX118" fmla="*/ 321468 w 477264"/>
              <a:gd name="connsiteY118" fmla="*/ 335606 h 982498"/>
              <a:gd name="connsiteX119" fmla="*/ 345788 w 477264"/>
              <a:gd name="connsiteY119" fmla="*/ 311286 h 982498"/>
              <a:gd name="connsiteX120" fmla="*/ 452944 w 477264"/>
              <a:gd name="connsiteY120" fmla="*/ 311286 h 982498"/>
              <a:gd name="connsiteX121" fmla="*/ 477264 w 477264"/>
              <a:gd name="connsiteY121" fmla="*/ 335606 h 982498"/>
              <a:gd name="connsiteX122" fmla="*/ 452944 w 477264"/>
              <a:gd name="connsiteY122" fmla="*/ 359926 h 982498"/>
              <a:gd name="connsiteX123" fmla="*/ 428624 w 477264"/>
              <a:gd name="connsiteY123" fmla="*/ 335606 h 982498"/>
              <a:gd name="connsiteX124" fmla="*/ 452944 w 477264"/>
              <a:gd name="connsiteY124" fmla="*/ 311286 h 982498"/>
              <a:gd name="connsiteX125" fmla="*/ 24320 w 477264"/>
              <a:gd name="connsiteY125" fmla="*/ 155643 h 982498"/>
              <a:gd name="connsiteX126" fmla="*/ 48640 w 477264"/>
              <a:gd name="connsiteY126" fmla="*/ 179963 h 982498"/>
              <a:gd name="connsiteX127" fmla="*/ 24320 w 477264"/>
              <a:gd name="connsiteY127" fmla="*/ 204283 h 982498"/>
              <a:gd name="connsiteX128" fmla="*/ 0 w 477264"/>
              <a:gd name="connsiteY128" fmla="*/ 179963 h 982498"/>
              <a:gd name="connsiteX129" fmla="*/ 24320 w 477264"/>
              <a:gd name="connsiteY129" fmla="*/ 155643 h 982498"/>
              <a:gd name="connsiteX130" fmla="*/ 131476 w 477264"/>
              <a:gd name="connsiteY130" fmla="*/ 155643 h 982498"/>
              <a:gd name="connsiteX131" fmla="*/ 155796 w 477264"/>
              <a:gd name="connsiteY131" fmla="*/ 179963 h 982498"/>
              <a:gd name="connsiteX132" fmla="*/ 131476 w 477264"/>
              <a:gd name="connsiteY132" fmla="*/ 204283 h 982498"/>
              <a:gd name="connsiteX133" fmla="*/ 107156 w 477264"/>
              <a:gd name="connsiteY133" fmla="*/ 179963 h 982498"/>
              <a:gd name="connsiteX134" fmla="*/ 131476 w 477264"/>
              <a:gd name="connsiteY134" fmla="*/ 155643 h 982498"/>
              <a:gd name="connsiteX135" fmla="*/ 238632 w 477264"/>
              <a:gd name="connsiteY135" fmla="*/ 155643 h 982498"/>
              <a:gd name="connsiteX136" fmla="*/ 262952 w 477264"/>
              <a:gd name="connsiteY136" fmla="*/ 179963 h 982498"/>
              <a:gd name="connsiteX137" fmla="*/ 238632 w 477264"/>
              <a:gd name="connsiteY137" fmla="*/ 204283 h 982498"/>
              <a:gd name="connsiteX138" fmla="*/ 214312 w 477264"/>
              <a:gd name="connsiteY138" fmla="*/ 179963 h 982498"/>
              <a:gd name="connsiteX139" fmla="*/ 238632 w 477264"/>
              <a:gd name="connsiteY139" fmla="*/ 155643 h 982498"/>
              <a:gd name="connsiteX140" fmla="*/ 345788 w 477264"/>
              <a:gd name="connsiteY140" fmla="*/ 155643 h 982498"/>
              <a:gd name="connsiteX141" fmla="*/ 370108 w 477264"/>
              <a:gd name="connsiteY141" fmla="*/ 179963 h 982498"/>
              <a:gd name="connsiteX142" fmla="*/ 345788 w 477264"/>
              <a:gd name="connsiteY142" fmla="*/ 204283 h 982498"/>
              <a:gd name="connsiteX143" fmla="*/ 321468 w 477264"/>
              <a:gd name="connsiteY143" fmla="*/ 179963 h 982498"/>
              <a:gd name="connsiteX144" fmla="*/ 345788 w 477264"/>
              <a:gd name="connsiteY144" fmla="*/ 155643 h 982498"/>
              <a:gd name="connsiteX145" fmla="*/ 452944 w 477264"/>
              <a:gd name="connsiteY145" fmla="*/ 155643 h 982498"/>
              <a:gd name="connsiteX146" fmla="*/ 477264 w 477264"/>
              <a:gd name="connsiteY146" fmla="*/ 179963 h 982498"/>
              <a:gd name="connsiteX147" fmla="*/ 452944 w 477264"/>
              <a:gd name="connsiteY147" fmla="*/ 204283 h 982498"/>
              <a:gd name="connsiteX148" fmla="*/ 428624 w 477264"/>
              <a:gd name="connsiteY148" fmla="*/ 179963 h 982498"/>
              <a:gd name="connsiteX149" fmla="*/ 452944 w 477264"/>
              <a:gd name="connsiteY149" fmla="*/ 155643 h 982498"/>
              <a:gd name="connsiteX150" fmla="*/ 452944 w 477264"/>
              <a:gd name="connsiteY150" fmla="*/ 0 h 982498"/>
              <a:gd name="connsiteX151" fmla="*/ 477264 w 477264"/>
              <a:gd name="connsiteY151" fmla="*/ 24320 h 982498"/>
              <a:gd name="connsiteX152" fmla="*/ 452944 w 477264"/>
              <a:gd name="connsiteY152" fmla="*/ 48640 h 982498"/>
              <a:gd name="connsiteX153" fmla="*/ 428624 w 477264"/>
              <a:gd name="connsiteY153" fmla="*/ 24320 h 982498"/>
              <a:gd name="connsiteX154" fmla="*/ 452944 w 477264"/>
              <a:gd name="connsiteY154" fmla="*/ 0 h 982498"/>
              <a:gd name="connsiteX155" fmla="*/ 345788 w 477264"/>
              <a:gd name="connsiteY155" fmla="*/ 0 h 982498"/>
              <a:gd name="connsiteX156" fmla="*/ 370108 w 477264"/>
              <a:gd name="connsiteY156" fmla="*/ 24320 h 982498"/>
              <a:gd name="connsiteX157" fmla="*/ 345788 w 477264"/>
              <a:gd name="connsiteY157" fmla="*/ 48640 h 982498"/>
              <a:gd name="connsiteX158" fmla="*/ 321468 w 477264"/>
              <a:gd name="connsiteY158" fmla="*/ 24320 h 982498"/>
              <a:gd name="connsiteX159" fmla="*/ 345788 w 477264"/>
              <a:gd name="connsiteY159" fmla="*/ 0 h 982498"/>
              <a:gd name="connsiteX160" fmla="*/ 238632 w 477264"/>
              <a:gd name="connsiteY160" fmla="*/ 0 h 982498"/>
              <a:gd name="connsiteX161" fmla="*/ 262952 w 477264"/>
              <a:gd name="connsiteY161" fmla="*/ 24320 h 982498"/>
              <a:gd name="connsiteX162" fmla="*/ 238632 w 477264"/>
              <a:gd name="connsiteY162" fmla="*/ 48640 h 982498"/>
              <a:gd name="connsiteX163" fmla="*/ 214312 w 477264"/>
              <a:gd name="connsiteY163" fmla="*/ 24320 h 982498"/>
              <a:gd name="connsiteX164" fmla="*/ 238632 w 477264"/>
              <a:gd name="connsiteY164" fmla="*/ 0 h 982498"/>
              <a:gd name="connsiteX165" fmla="*/ 131476 w 477264"/>
              <a:gd name="connsiteY165" fmla="*/ 0 h 982498"/>
              <a:gd name="connsiteX166" fmla="*/ 155796 w 477264"/>
              <a:gd name="connsiteY166" fmla="*/ 24320 h 982498"/>
              <a:gd name="connsiteX167" fmla="*/ 131476 w 477264"/>
              <a:gd name="connsiteY167" fmla="*/ 48640 h 982498"/>
              <a:gd name="connsiteX168" fmla="*/ 107156 w 477264"/>
              <a:gd name="connsiteY168" fmla="*/ 24320 h 982498"/>
              <a:gd name="connsiteX169" fmla="*/ 131476 w 477264"/>
              <a:gd name="connsiteY169" fmla="*/ 0 h 982498"/>
              <a:gd name="connsiteX170" fmla="*/ 24320 w 477264"/>
              <a:gd name="connsiteY170" fmla="*/ 0 h 982498"/>
              <a:gd name="connsiteX171" fmla="*/ 48640 w 477264"/>
              <a:gd name="connsiteY171" fmla="*/ 24320 h 982498"/>
              <a:gd name="connsiteX172" fmla="*/ 24320 w 477264"/>
              <a:gd name="connsiteY172" fmla="*/ 48640 h 982498"/>
              <a:gd name="connsiteX173" fmla="*/ 0 w 477264"/>
              <a:gd name="connsiteY173" fmla="*/ 24320 h 982498"/>
              <a:gd name="connsiteX174" fmla="*/ 24320 w 477264"/>
              <a:gd name="connsiteY174" fmla="*/ 0 h 98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Lst>
            <a:rect l="l" t="t" r="r" b="b"/>
            <a:pathLst>
              <a:path w="477264" h="982498">
                <a:moveTo>
                  <a:pt x="452944" y="933858"/>
                </a:moveTo>
                <a:cubicBezTo>
                  <a:pt x="466376" y="933858"/>
                  <a:pt x="477264" y="944746"/>
                  <a:pt x="477264" y="958178"/>
                </a:cubicBezTo>
                <a:cubicBezTo>
                  <a:pt x="477264" y="971610"/>
                  <a:pt x="466376" y="982498"/>
                  <a:pt x="452944" y="982498"/>
                </a:cubicBezTo>
                <a:cubicBezTo>
                  <a:pt x="439512" y="982498"/>
                  <a:pt x="428624" y="971610"/>
                  <a:pt x="428624" y="958178"/>
                </a:cubicBezTo>
                <a:cubicBezTo>
                  <a:pt x="428624" y="944746"/>
                  <a:pt x="439512" y="933858"/>
                  <a:pt x="452944" y="933858"/>
                </a:cubicBezTo>
                <a:close/>
                <a:moveTo>
                  <a:pt x="345788" y="933858"/>
                </a:moveTo>
                <a:cubicBezTo>
                  <a:pt x="359220" y="933858"/>
                  <a:pt x="370108" y="944746"/>
                  <a:pt x="370108" y="958178"/>
                </a:cubicBezTo>
                <a:cubicBezTo>
                  <a:pt x="370108" y="971610"/>
                  <a:pt x="359220" y="982498"/>
                  <a:pt x="345788" y="982498"/>
                </a:cubicBezTo>
                <a:cubicBezTo>
                  <a:pt x="332356" y="982498"/>
                  <a:pt x="321468" y="971610"/>
                  <a:pt x="321468" y="958178"/>
                </a:cubicBezTo>
                <a:cubicBezTo>
                  <a:pt x="321468" y="944746"/>
                  <a:pt x="332356" y="933858"/>
                  <a:pt x="345788" y="933858"/>
                </a:cubicBezTo>
                <a:close/>
                <a:moveTo>
                  <a:pt x="238632" y="933858"/>
                </a:moveTo>
                <a:cubicBezTo>
                  <a:pt x="252064" y="933858"/>
                  <a:pt x="262952" y="944746"/>
                  <a:pt x="262952" y="958178"/>
                </a:cubicBezTo>
                <a:cubicBezTo>
                  <a:pt x="262952" y="971610"/>
                  <a:pt x="252064" y="982498"/>
                  <a:pt x="238632" y="982498"/>
                </a:cubicBezTo>
                <a:cubicBezTo>
                  <a:pt x="225200" y="982498"/>
                  <a:pt x="214312" y="971610"/>
                  <a:pt x="214312" y="958178"/>
                </a:cubicBezTo>
                <a:cubicBezTo>
                  <a:pt x="214312" y="944746"/>
                  <a:pt x="225200" y="933858"/>
                  <a:pt x="238632" y="933858"/>
                </a:cubicBezTo>
                <a:close/>
                <a:moveTo>
                  <a:pt x="131476" y="933858"/>
                </a:moveTo>
                <a:cubicBezTo>
                  <a:pt x="144908" y="933858"/>
                  <a:pt x="155796" y="944746"/>
                  <a:pt x="155796" y="958178"/>
                </a:cubicBezTo>
                <a:cubicBezTo>
                  <a:pt x="155796" y="971610"/>
                  <a:pt x="144908" y="982498"/>
                  <a:pt x="131476" y="982498"/>
                </a:cubicBezTo>
                <a:cubicBezTo>
                  <a:pt x="118044" y="982498"/>
                  <a:pt x="107156" y="971610"/>
                  <a:pt x="107156" y="958178"/>
                </a:cubicBezTo>
                <a:cubicBezTo>
                  <a:pt x="107156" y="944746"/>
                  <a:pt x="118044" y="933858"/>
                  <a:pt x="131476" y="933858"/>
                </a:cubicBezTo>
                <a:close/>
                <a:moveTo>
                  <a:pt x="24320" y="933858"/>
                </a:moveTo>
                <a:cubicBezTo>
                  <a:pt x="37752" y="933858"/>
                  <a:pt x="48640" y="944746"/>
                  <a:pt x="48640" y="958178"/>
                </a:cubicBezTo>
                <a:cubicBezTo>
                  <a:pt x="48640" y="971610"/>
                  <a:pt x="37752" y="982498"/>
                  <a:pt x="24320" y="982498"/>
                </a:cubicBezTo>
                <a:cubicBezTo>
                  <a:pt x="10888" y="982498"/>
                  <a:pt x="0" y="971610"/>
                  <a:pt x="0" y="958178"/>
                </a:cubicBezTo>
                <a:cubicBezTo>
                  <a:pt x="0" y="944746"/>
                  <a:pt x="10888" y="933858"/>
                  <a:pt x="24320" y="933858"/>
                </a:cubicBezTo>
                <a:close/>
                <a:moveTo>
                  <a:pt x="452944" y="778215"/>
                </a:moveTo>
                <a:cubicBezTo>
                  <a:pt x="466376" y="778215"/>
                  <a:pt x="477264" y="789103"/>
                  <a:pt x="477264" y="802535"/>
                </a:cubicBezTo>
                <a:cubicBezTo>
                  <a:pt x="477264" y="815967"/>
                  <a:pt x="466376" y="826855"/>
                  <a:pt x="452944" y="826855"/>
                </a:cubicBezTo>
                <a:cubicBezTo>
                  <a:pt x="439512" y="826855"/>
                  <a:pt x="428624" y="815967"/>
                  <a:pt x="428624" y="802535"/>
                </a:cubicBezTo>
                <a:cubicBezTo>
                  <a:pt x="428624" y="789103"/>
                  <a:pt x="439512" y="778215"/>
                  <a:pt x="452944" y="778215"/>
                </a:cubicBezTo>
                <a:close/>
                <a:moveTo>
                  <a:pt x="345788" y="778215"/>
                </a:moveTo>
                <a:cubicBezTo>
                  <a:pt x="359220" y="778215"/>
                  <a:pt x="370108" y="789103"/>
                  <a:pt x="370108" y="802535"/>
                </a:cubicBezTo>
                <a:cubicBezTo>
                  <a:pt x="370108" y="815967"/>
                  <a:pt x="359220" y="826855"/>
                  <a:pt x="345788" y="826855"/>
                </a:cubicBezTo>
                <a:cubicBezTo>
                  <a:pt x="332356" y="826855"/>
                  <a:pt x="321468" y="815967"/>
                  <a:pt x="321468" y="802535"/>
                </a:cubicBezTo>
                <a:cubicBezTo>
                  <a:pt x="321468" y="789103"/>
                  <a:pt x="332356" y="778215"/>
                  <a:pt x="345788" y="778215"/>
                </a:cubicBezTo>
                <a:close/>
                <a:moveTo>
                  <a:pt x="238632" y="778215"/>
                </a:moveTo>
                <a:cubicBezTo>
                  <a:pt x="252064" y="778215"/>
                  <a:pt x="262952" y="789103"/>
                  <a:pt x="262952" y="802535"/>
                </a:cubicBezTo>
                <a:cubicBezTo>
                  <a:pt x="262952" y="815967"/>
                  <a:pt x="252064" y="826855"/>
                  <a:pt x="238632" y="826855"/>
                </a:cubicBezTo>
                <a:cubicBezTo>
                  <a:pt x="225200" y="826855"/>
                  <a:pt x="214312" y="815967"/>
                  <a:pt x="214312" y="802535"/>
                </a:cubicBezTo>
                <a:cubicBezTo>
                  <a:pt x="214312" y="789103"/>
                  <a:pt x="225200" y="778215"/>
                  <a:pt x="238632" y="778215"/>
                </a:cubicBezTo>
                <a:close/>
                <a:moveTo>
                  <a:pt x="131476" y="778215"/>
                </a:moveTo>
                <a:cubicBezTo>
                  <a:pt x="144908" y="778215"/>
                  <a:pt x="155796" y="789103"/>
                  <a:pt x="155796" y="802535"/>
                </a:cubicBezTo>
                <a:cubicBezTo>
                  <a:pt x="155796" y="815967"/>
                  <a:pt x="144908" y="826855"/>
                  <a:pt x="131476" y="826855"/>
                </a:cubicBezTo>
                <a:cubicBezTo>
                  <a:pt x="118044" y="826855"/>
                  <a:pt x="107156" y="815967"/>
                  <a:pt x="107156" y="802535"/>
                </a:cubicBezTo>
                <a:cubicBezTo>
                  <a:pt x="107156" y="789103"/>
                  <a:pt x="118044" y="778215"/>
                  <a:pt x="131476" y="778215"/>
                </a:cubicBezTo>
                <a:close/>
                <a:moveTo>
                  <a:pt x="24320" y="778215"/>
                </a:moveTo>
                <a:cubicBezTo>
                  <a:pt x="37752" y="778215"/>
                  <a:pt x="48640" y="789103"/>
                  <a:pt x="48640" y="802535"/>
                </a:cubicBezTo>
                <a:cubicBezTo>
                  <a:pt x="48640" y="815967"/>
                  <a:pt x="37752" y="826855"/>
                  <a:pt x="24320" y="826855"/>
                </a:cubicBezTo>
                <a:cubicBezTo>
                  <a:pt x="10888" y="826855"/>
                  <a:pt x="0" y="815967"/>
                  <a:pt x="0" y="802535"/>
                </a:cubicBezTo>
                <a:cubicBezTo>
                  <a:pt x="0" y="789103"/>
                  <a:pt x="10888" y="778215"/>
                  <a:pt x="24320" y="778215"/>
                </a:cubicBezTo>
                <a:close/>
                <a:moveTo>
                  <a:pt x="452944" y="622572"/>
                </a:moveTo>
                <a:cubicBezTo>
                  <a:pt x="466376" y="622572"/>
                  <a:pt x="477264" y="633460"/>
                  <a:pt x="477264" y="646892"/>
                </a:cubicBezTo>
                <a:cubicBezTo>
                  <a:pt x="477264" y="660324"/>
                  <a:pt x="466376" y="671212"/>
                  <a:pt x="452944" y="671212"/>
                </a:cubicBezTo>
                <a:cubicBezTo>
                  <a:pt x="439512" y="671212"/>
                  <a:pt x="428624" y="660324"/>
                  <a:pt x="428624" y="646892"/>
                </a:cubicBezTo>
                <a:cubicBezTo>
                  <a:pt x="428624" y="633460"/>
                  <a:pt x="439512" y="622572"/>
                  <a:pt x="452944" y="622572"/>
                </a:cubicBezTo>
                <a:close/>
                <a:moveTo>
                  <a:pt x="345788" y="622572"/>
                </a:moveTo>
                <a:cubicBezTo>
                  <a:pt x="359220" y="622572"/>
                  <a:pt x="370108" y="633460"/>
                  <a:pt x="370108" y="646892"/>
                </a:cubicBezTo>
                <a:cubicBezTo>
                  <a:pt x="370108" y="660324"/>
                  <a:pt x="359220" y="671212"/>
                  <a:pt x="345788" y="671212"/>
                </a:cubicBezTo>
                <a:cubicBezTo>
                  <a:pt x="332356" y="671212"/>
                  <a:pt x="321468" y="660324"/>
                  <a:pt x="321468" y="646892"/>
                </a:cubicBezTo>
                <a:cubicBezTo>
                  <a:pt x="321468" y="633460"/>
                  <a:pt x="332356" y="622572"/>
                  <a:pt x="345788" y="622572"/>
                </a:cubicBezTo>
                <a:close/>
                <a:moveTo>
                  <a:pt x="238632" y="622572"/>
                </a:moveTo>
                <a:cubicBezTo>
                  <a:pt x="252064" y="622572"/>
                  <a:pt x="262952" y="633460"/>
                  <a:pt x="262952" y="646892"/>
                </a:cubicBezTo>
                <a:cubicBezTo>
                  <a:pt x="262952" y="660324"/>
                  <a:pt x="252064" y="671212"/>
                  <a:pt x="238632" y="671212"/>
                </a:cubicBezTo>
                <a:cubicBezTo>
                  <a:pt x="225200" y="671212"/>
                  <a:pt x="214312" y="660324"/>
                  <a:pt x="214312" y="646892"/>
                </a:cubicBezTo>
                <a:cubicBezTo>
                  <a:pt x="214312" y="633460"/>
                  <a:pt x="225200" y="622572"/>
                  <a:pt x="238632" y="622572"/>
                </a:cubicBezTo>
                <a:close/>
                <a:moveTo>
                  <a:pt x="131476" y="622572"/>
                </a:moveTo>
                <a:cubicBezTo>
                  <a:pt x="144908" y="622572"/>
                  <a:pt x="155796" y="633460"/>
                  <a:pt x="155796" y="646892"/>
                </a:cubicBezTo>
                <a:cubicBezTo>
                  <a:pt x="155796" y="660324"/>
                  <a:pt x="144908" y="671212"/>
                  <a:pt x="131476" y="671212"/>
                </a:cubicBezTo>
                <a:cubicBezTo>
                  <a:pt x="118044" y="671212"/>
                  <a:pt x="107156" y="660324"/>
                  <a:pt x="107156" y="646892"/>
                </a:cubicBezTo>
                <a:cubicBezTo>
                  <a:pt x="107156" y="633460"/>
                  <a:pt x="118044" y="622572"/>
                  <a:pt x="131476" y="622572"/>
                </a:cubicBezTo>
                <a:close/>
                <a:moveTo>
                  <a:pt x="24320" y="622572"/>
                </a:moveTo>
                <a:cubicBezTo>
                  <a:pt x="37752" y="622572"/>
                  <a:pt x="48640" y="633460"/>
                  <a:pt x="48640" y="646892"/>
                </a:cubicBezTo>
                <a:cubicBezTo>
                  <a:pt x="48640" y="660324"/>
                  <a:pt x="37752" y="671212"/>
                  <a:pt x="24320" y="671212"/>
                </a:cubicBezTo>
                <a:cubicBezTo>
                  <a:pt x="10888" y="671212"/>
                  <a:pt x="0" y="660324"/>
                  <a:pt x="0" y="646892"/>
                </a:cubicBezTo>
                <a:cubicBezTo>
                  <a:pt x="0" y="633460"/>
                  <a:pt x="10888" y="622572"/>
                  <a:pt x="24320" y="622572"/>
                </a:cubicBezTo>
                <a:close/>
                <a:moveTo>
                  <a:pt x="24320" y="466929"/>
                </a:moveTo>
                <a:cubicBezTo>
                  <a:pt x="37752" y="466929"/>
                  <a:pt x="48640" y="477817"/>
                  <a:pt x="48640" y="491249"/>
                </a:cubicBezTo>
                <a:cubicBezTo>
                  <a:pt x="48640" y="504681"/>
                  <a:pt x="37752" y="515569"/>
                  <a:pt x="24320" y="515569"/>
                </a:cubicBezTo>
                <a:cubicBezTo>
                  <a:pt x="10888" y="515569"/>
                  <a:pt x="0" y="504681"/>
                  <a:pt x="0" y="491249"/>
                </a:cubicBezTo>
                <a:cubicBezTo>
                  <a:pt x="0" y="477817"/>
                  <a:pt x="10888" y="466929"/>
                  <a:pt x="24320" y="466929"/>
                </a:cubicBezTo>
                <a:close/>
                <a:moveTo>
                  <a:pt x="131476" y="466929"/>
                </a:moveTo>
                <a:cubicBezTo>
                  <a:pt x="144908" y="466929"/>
                  <a:pt x="155796" y="477817"/>
                  <a:pt x="155796" y="491249"/>
                </a:cubicBezTo>
                <a:cubicBezTo>
                  <a:pt x="155796" y="504681"/>
                  <a:pt x="144908" y="515569"/>
                  <a:pt x="131476" y="515569"/>
                </a:cubicBezTo>
                <a:cubicBezTo>
                  <a:pt x="118044" y="515569"/>
                  <a:pt x="107156" y="504681"/>
                  <a:pt x="107156" y="491249"/>
                </a:cubicBezTo>
                <a:cubicBezTo>
                  <a:pt x="107156" y="477817"/>
                  <a:pt x="118044" y="466929"/>
                  <a:pt x="131476" y="466929"/>
                </a:cubicBezTo>
                <a:close/>
                <a:moveTo>
                  <a:pt x="238632" y="466929"/>
                </a:moveTo>
                <a:cubicBezTo>
                  <a:pt x="252064" y="466929"/>
                  <a:pt x="262952" y="477817"/>
                  <a:pt x="262952" y="491249"/>
                </a:cubicBezTo>
                <a:cubicBezTo>
                  <a:pt x="262952" y="504681"/>
                  <a:pt x="252064" y="515569"/>
                  <a:pt x="238632" y="515569"/>
                </a:cubicBezTo>
                <a:cubicBezTo>
                  <a:pt x="225200" y="515569"/>
                  <a:pt x="214312" y="504681"/>
                  <a:pt x="214312" y="491249"/>
                </a:cubicBezTo>
                <a:cubicBezTo>
                  <a:pt x="214312" y="477817"/>
                  <a:pt x="225200" y="466929"/>
                  <a:pt x="238632" y="466929"/>
                </a:cubicBezTo>
                <a:close/>
                <a:moveTo>
                  <a:pt x="345788" y="466929"/>
                </a:moveTo>
                <a:cubicBezTo>
                  <a:pt x="359220" y="466929"/>
                  <a:pt x="370108" y="477817"/>
                  <a:pt x="370108" y="491249"/>
                </a:cubicBezTo>
                <a:cubicBezTo>
                  <a:pt x="370108" y="504681"/>
                  <a:pt x="359220" y="515569"/>
                  <a:pt x="345788" y="515569"/>
                </a:cubicBezTo>
                <a:cubicBezTo>
                  <a:pt x="332356" y="515569"/>
                  <a:pt x="321468" y="504681"/>
                  <a:pt x="321468" y="491249"/>
                </a:cubicBezTo>
                <a:cubicBezTo>
                  <a:pt x="321468" y="477817"/>
                  <a:pt x="332356" y="466929"/>
                  <a:pt x="345788" y="466929"/>
                </a:cubicBezTo>
                <a:close/>
                <a:moveTo>
                  <a:pt x="452944" y="466929"/>
                </a:moveTo>
                <a:cubicBezTo>
                  <a:pt x="466376" y="466929"/>
                  <a:pt x="477264" y="477817"/>
                  <a:pt x="477264" y="491249"/>
                </a:cubicBezTo>
                <a:cubicBezTo>
                  <a:pt x="477264" y="504681"/>
                  <a:pt x="466376" y="515569"/>
                  <a:pt x="452944" y="515569"/>
                </a:cubicBezTo>
                <a:cubicBezTo>
                  <a:pt x="439512" y="515569"/>
                  <a:pt x="428624" y="504681"/>
                  <a:pt x="428624" y="491249"/>
                </a:cubicBezTo>
                <a:cubicBezTo>
                  <a:pt x="428624" y="477817"/>
                  <a:pt x="439512" y="466929"/>
                  <a:pt x="452944" y="466929"/>
                </a:cubicBezTo>
                <a:close/>
                <a:moveTo>
                  <a:pt x="24320" y="311287"/>
                </a:moveTo>
                <a:cubicBezTo>
                  <a:pt x="37752" y="311287"/>
                  <a:pt x="48640" y="322175"/>
                  <a:pt x="48640" y="335607"/>
                </a:cubicBezTo>
                <a:cubicBezTo>
                  <a:pt x="48640" y="349038"/>
                  <a:pt x="37752" y="359926"/>
                  <a:pt x="24320" y="359926"/>
                </a:cubicBezTo>
                <a:cubicBezTo>
                  <a:pt x="10888" y="359926"/>
                  <a:pt x="0" y="349038"/>
                  <a:pt x="0" y="335607"/>
                </a:cubicBezTo>
                <a:cubicBezTo>
                  <a:pt x="0" y="322175"/>
                  <a:pt x="10888" y="311287"/>
                  <a:pt x="24320" y="311287"/>
                </a:cubicBezTo>
                <a:close/>
                <a:moveTo>
                  <a:pt x="131476" y="311286"/>
                </a:moveTo>
                <a:cubicBezTo>
                  <a:pt x="144908" y="311286"/>
                  <a:pt x="155796" y="322174"/>
                  <a:pt x="155796" y="335606"/>
                </a:cubicBezTo>
                <a:cubicBezTo>
                  <a:pt x="155796" y="349038"/>
                  <a:pt x="144908" y="359926"/>
                  <a:pt x="131476" y="359926"/>
                </a:cubicBezTo>
                <a:cubicBezTo>
                  <a:pt x="118044" y="359926"/>
                  <a:pt x="107156" y="349038"/>
                  <a:pt x="107156" y="335606"/>
                </a:cubicBezTo>
                <a:cubicBezTo>
                  <a:pt x="107156" y="322174"/>
                  <a:pt x="118044" y="311286"/>
                  <a:pt x="131476" y="311286"/>
                </a:cubicBezTo>
                <a:close/>
                <a:moveTo>
                  <a:pt x="238632" y="311286"/>
                </a:moveTo>
                <a:cubicBezTo>
                  <a:pt x="252064" y="311286"/>
                  <a:pt x="262952" y="322174"/>
                  <a:pt x="262952" y="335606"/>
                </a:cubicBezTo>
                <a:cubicBezTo>
                  <a:pt x="262952" y="349038"/>
                  <a:pt x="252064" y="359926"/>
                  <a:pt x="238632" y="359926"/>
                </a:cubicBezTo>
                <a:cubicBezTo>
                  <a:pt x="225200" y="359926"/>
                  <a:pt x="214312" y="349038"/>
                  <a:pt x="214312" y="335606"/>
                </a:cubicBezTo>
                <a:cubicBezTo>
                  <a:pt x="214312" y="322174"/>
                  <a:pt x="225200" y="311286"/>
                  <a:pt x="238632" y="311286"/>
                </a:cubicBezTo>
                <a:close/>
                <a:moveTo>
                  <a:pt x="345788" y="311286"/>
                </a:moveTo>
                <a:cubicBezTo>
                  <a:pt x="359220" y="311286"/>
                  <a:pt x="370108" y="322174"/>
                  <a:pt x="370108" y="335606"/>
                </a:cubicBezTo>
                <a:cubicBezTo>
                  <a:pt x="370108" y="349038"/>
                  <a:pt x="359220" y="359926"/>
                  <a:pt x="345788" y="359926"/>
                </a:cubicBezTo>
                <a:cubicBezTo>
                  <a:pt x="332356" y="359926"/>
                  <a:pt x="321468" y="349038"/>
                  <a:pt x="321468" y="335606"/>
                </a:cubicBezTo>
                <a:cubicBezTo>
                  <a:pt x="321468" y="322174"/>
                  <a:pt x="332356" y="311286"/>
                  <a:pt x="345788" y="311286"/>
                </a:cubicBezTo>
                <a:close/>
                <a:moveTo>
                  <a:pt x="452944" y="311286"/>
                </a:moveTo>
                <a:cubicBezTo>
                  <a:pt x="466376" y="311286"/>
                  <a:pt x="477264" y="322174"/>
                  <a:pt x="477264" y="335606"/>
                </a:cubicBezTo>
                <a:cubicBezTo>
                  <a:pt x="477264" y="349038"/>
                  <a:pt x="466376" y="359926"/>
                  <a:pt x="452944" y="359926"/>
                </a:cubicBezTo>
                <a:cubicBezTo>
                  <a:pt x="439512" y="359926"/>
                  <a:pt x="428624" y="349038"/>
                  <a:pt x="428624" y="335606"/>
                </a:cubicBezTo>
                <a:cubicBezTo>
                  <a:pt x="428624" y="322174"/>
                  <a:pt x="439512" y="311286"/>
                  <a:pt x="452944" y="311286"/>
                </a:cubicBezTo>
                <a:close/>
                <a:moveTo>
                  <a:pt x="24320" y="155643"/>
                </a:moveTo>
                <a:cubicBezTo>
                  <a:pt x="37752" y="155643"/>
                  <a:pt x="48640" y="166531"/>
                  <a:pt x="48640" y="179963"/>
                </a:cubicBezTo>
                <a:cubicBezTo>
                  <a:pt x="48640" y="193395"/>
                  <a:pt x="37752" y="204283"/>
                  <a:pt x="24320" y="204283"/>
                </a:cubicBezTo>
                <a:cubicBezTo>
                  <a:pt x="10888" y="204283"/>
                  <a:pt x="0" y="193395"/>
                  <a:pt x="0" y="179963"/>
                </a:cubicBezTo>
                <a:cubicBezTo>
                  <a:pt x="0" y="166531"/>
                  <a:pt x="10888" y="155643"/>
                  <a:pt x="24320" y="155643"/>
                </a:cubicBezTo>
                <a:close/>
                <a:moveTo>
                  <a:pt x="131476" y="155643"/>
                </a:moveTo>
                <a:cubicBezTo>
                  <a:pt x="144908" y="155643"/>
                  <a:pt x="155796" y="166531"/>
                  <a:pt x="155796" y="179963"/>
                </a:cubicBezTo>
                <a:cubicBezTo>
                  <a:pt x="155796" y="193395"/>
                  <a:pt x="144908" y="204283"/>
                  <a:pt x="131476" y="204283"/>
                </a:cubicBezTo>
                <a:cubicBezTo>
                  <a:pt x="118044" y="204283"/>
                  <a:pt x="107156" y="193395"/>
                  <a:pt x="107156" y="179963"/>
                </a:cubicBezTo>
                <a:cubicBezTo>
                  <a:pt x="107156" y="166531"/>
                  <a:pt x="118044" y="155643"/>
                  <a:pt x="131476" y="155643"/>
                </a:cubicBezTo>
                <a:close/>
                <a:moveTo>
                  <a:pt x="238632" y="155643"/>
                </a:moveTo>
                <a:cubicBezTo>
                  <a:pt x="252064" y="155643"/>
                  <a:pt x="262952" y="166531"/>
                  <a:pt x="262952" y="179963"/>
                </a:cubicBezTo>
                <a:cubicBezTo>
                  <a:pt x="262952" y="193395"/>
                  <a:pt x="252064" y="204283"/>
                  <a:pt x="238632" y="204283"/>
                </a:cubicBezTo>
                <a:cubicBezTo>
                  <a:pt x="225200" y="204283"/>
                  <a:pt x="214312" y="193395"/>
                  <a:pt x="214312" y="179963"/>
                </a:cubicBezTo>
                <a:cubicBezTo>
                  <a:pt x="214312" y="166531"/>
                  <a:pt x="225200" y="155643"/>
                  <a:pt x="238632" y="155643"/>
                </a:cubicBezTo>
                <a:close/>
                <a:moveTo>
                  <a:pt x="345788" y="155643"/>
                </a:moveTo>
                <a:cubicBezTo>
                  <a:pt x="359220" y="155643"/>
                  <a:pt x="370108" y="166531"/>
                  <a:pt x="370108" y="179963"/>
                </a:cubicBezTo>
                <a:cubicBezTo>
                  <a:pt x="370108" y="193395"/>
                  <a:pt x="359220" y="204283"/>
                  <a:pt x="345788" y="204283"/>
                </a:cubicBezTo>
                <a:cubicBezTo>
                  <a:pt x="332356" y="204283"/>
                  <a:pt x="321468" y="193395"/>
                  <a:pt x="321468" y="179963"/>
                </a:cubicBezTo>
                <a:cubicBezTo>
                  <a:pt x="321468" y="166531"/>
                  <a:pt x="332356" y="155643"/>
                  <a:pt x="345788" y="155643"/>
                </a:cubicBezTo>
                <a:close/>
                <a:moveTo>
                  <a:pt x="452944" y="155643"/>
                </a:moveTo>
                <a:cubicBezTo>
                  <a:pt x="466376" y="155643"/>
                  <a:pt x="477264" y="166531"/>
                  <a:pt x="477264" y="179963"/>
                </a:cubicBezTo>
                <a:cubicBezTo>
                  <a:pt x="477264" y="193395"/>
                  <a:pt x="466376" y="204283"/>
                  <a:pt x="452944" y="204283"/>
                </a:cubicBezTo>
                <a:cubicBezTo>
                  <a:pt x="439512" y="204283"/>
                  <a:pt x="428624" y="193395"/>
                  <a:pt x="428624" y="179963"/>
                </a:cubicBezTo>
                <a:cubicBezTo>
                  <a:pt x="428624" y="166531"/>
                  <a:pt x="439512" y="155643"/>
                  <a:pt x="452944" y="155643"/>
                </a:cubicBezTo>
                <a:close/>
                <a:moveTo>
                  <a:pt x="452944" y="0"/>
                </a:moveTo>
                <a:cubicBezTo>
                  <a:pt x="466376" y="0"/>
                  <a:pt x="477264" y="10888"/>
                  <a:pt x="477264" y="24320"/>
                </a:cubicBezTo>
                <a:cubicBezTo>
                  <a:pt x="477264" y="37752"/>
                  <a:pt x="466376" y="48640"/>
                  <a:pt x="452944" y="48640"/>
                </a:cubicBezTo>
                <a:cubicBezTo>
                  <a:pt x="439512" y="48640"/>
                  <a:pt x="428624" y="37752"/>
                  <a:pt x="428624" y="24320"/>
                </a:cubicBezTo>
                <a:cubicBezTo>
                  <a:pt x="428624" y="10888"/>
                  <a:pt x="439512" y="0"/>
                  <a:pt x="452944" y="0"/>
                </a:cubicBezTo>
                <a:close/>
                <a:moveTo>
                  <a:pt x="345788" y="0"/>
                </a:moveTo>
                <a:cubicBezTo>
                  <a:pt x="359220" y="0"/>
                  <a:pt x="370108" y="10888"/>
                  <a:pt x="370108" y="24320"/>
                </a:cubicBezTo>
                <a:cubicBezTo>
                  <a:pt x="370108" y="37752"/>
                  <a:pt x="359220" y="48640"/>
                  <a:pt x="345788" y="48640"/>
                </a:cubicBezTo>
                <a:cubicBezTo>
                  <a:pt x="332356" y="48640"/>
                  <a:pt x="321468" y="37752"/>
                  <a:pt x="321468" y="24320"/>
                </a:cubicBezTo>
                <a:cubicBezTo>
                  <a:pt x="321468" y="10888"/>
                  <a:pt x="332356" y="0"/>
                  <a:pt x="345788" y="0"/>
                </a:cubicBezTo>
                <a:close/>
                <a:moveTo>
                  <a:pt x="238632" y="0"/>
                </a:moveTo>
                <a:cubicBezTo>
                  <a:pt x="252064" y="0"/>
                  <a:pt x="262952" y="10888"/>
                  <a:pt x="262952" y="24320"/>
                </a:cubicBezTo>
                <a:cubicBezTo>
                  <a:pt x="262952" y="37752"/>
                  <a:pt x="252064" y="48640"/>
                  <a:pt x="238632" y="48640"/>
                </a:cubicBezTo>
                <a:cubicBezTo>
                  <a:pt x="225200" y="48640"/>
                  <a:pt x="214312" y="37752"/>
                  <a:pt x="214312" y="24320"/>
                </a:cubicBezTo>
                <a:cubicBezTo>
                  <a:pt x="214312" y="10888"/>
                  <a:pt x="225200" y="0"/>
                  <a:pt x="238632" y="0"/>
                </a:cubicBezTo>
                <a:close/>
                <a:moveTo>
                  <a:pt x="131476" y="0"/>
                </a:moveTo>
                <a:cubicBezTo>
                  <a:pt x="144908" y="0"/>
                  <a:pt x="155796" y="10888"/>
                  <a:pt x="155796" y="24320"/>
                </a:cubicBezTo>
                <a:cubicBezTo>
                  <a:pt x="155796" y="37752"/>
                  <a:pt x="144908" y="48640"/>
                  <a:pt x="131476" y="48640"/>
                </a:cubicBezTo>
                <a:cubicBezTo>
                  <a:pt x="118044" y="48640"/>
                  <a:pt x="107156" y="37752"/>
                  <a:pt x="107156" y="24320"/>
                </a:cubicBezTo>
                <a:cubicBezTo>
                  <a:pt x="107156" y="10888"/>
                  <a:pt x="118044" y="0"/>
                  <a:pt x="131476" y="0"/>
                </a:cubicBezTo>
                <a:close/>
                <a:moveTo>
                  <a:pt x="24320" y="0"/>
                </a:moveTo>
                <a:cubicBezTo>
                  <a:pt x="37752" y="0"/>
                  <a:pt x="48640" y="10888"/>
                  <a:pt x="48640" y="24320"/>
                </a:cubicBezTo>
                <a:cubicBezTo>
                  <a:pt x="48640" y="37752"/>
                  <a:pt x="37752" y="48640"/>
                  <a:pt x="24320" y="48640"/>
                </a:cubicBezTo>
                <a:cubicBezTo>
                  <a:pt x="10888" y="48640"/>
                  <a:pt x="0" y="37752"/>
                  <a:pt x="0" y="24320"/>
                </a:cubicBezTo>
                <a:cubicBezTo>
                  <a:pt x="0" y="10888"/>
                  <a:pt x="10888" y="0"/>
                  <a:pt x="24320" y="0"/>
                </a:cubicBezTo>
                <a:close/>
              </a:path>
            </a:pathLst>
          </a:custGeom>
          <a:gradFill flip="none" rotWithShape="1">
            <a:gsLst>
              <a:gs pos="0">
                <a:srgbClr val="FFFFFF"/>
              </a:gs>
              <a:gs pos="100000">
                <a:srgbClr val="FFFFF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TextBox 17"/>
          <p:cNvSpPr txBox="1"/>
          <p:nvPr/>
        </p:nvSpPr>
        <p:spPr>
          <a:xfrm>
            <a:off x="1062709" y="4522852"/>
            <a:ext cx="5458012" cy="328936"/>
          </a:xfrm>
          <a:prstGeom prst="rect">
            <a:avLst/>
          </a:prstGeom>
          <a:noFill/>
        </p:spPr>
        <p:txBody>
          <a:bodyPr wrap="square" rtlCol="0">
            <a:spAutoFit/>
          </a:bodyPr>
          <a:lstStyle/>
          <a:p>
            <a:pPr algn="dist">
              <a:lnSpc>
                <a:spcPct val="120000"/>
              </a:lnSpc>
            </a:pPr>
            <a:r>
              <a:rPr lang="en-US" altLang="zh-CN" sz="1400" dirty="0">
                <a:solidFill>
                  <a:schemeClr val="bg1"/>
                </a:solidFill>
                <a:latin typeface="思源黑体 CN Medium" panose="020B0600000000000000" pitchFamily="34" charset="-122"/>
                <a:ea typeface="思源黑体 CN Medium" panose="020B0600000000000000" pitchFamily="34" charset="-122"/>
                <a:cs typeface="阿里巴巴普惠体 M" panose="00020600040101010101" pitchFamily="18" charset="-122"/>
                <a:sym typeface="思源黑体 CN Medium" panose="020B0600000000000000" pitchFamily="34" charset="-122"/>
              </a:rPr>
              <a:t> The Development Path of Digital Economy</a:t>
            </a:r>
            <a:endParaRPr lang="en-US" altLang="zh-CN" sz="1400" dirty="0">
              <a:solidFill>
                <a:schemeClr val="bg1"/>
              </a:solidFill>
              <a:latin typeface="思源黑体 CN Medium" panose="020B0600000000000000" pitchFamily="34" charset="-122"/>
              <a:ea typeface="思源黑体 CN Medium" panose="020B0600000000000000" pitchFamily="34" charset="-122"/>
              <a:cs typeface="阿里巴巴普惠体 M" panose="00020600040101010101" pitchFamily="18" charset="-122"/>
              <a:sym typeface="思源黑体 CN Medium" panose="020B0600000000000000" pitchFamily="34" charset="-122"/>
            </a:endParaRPr>
          </a:p>
        </p:txBody>
      </p:sp>
      <p:grpSp>
        <p:nvGrpSpPr>
          <p:cNvPr id="5" name="图形"/>
          <p:cNvGrpSpPr/>
          <p:nvPr/>
        </p:nvGrpSpPr>
        <p:grpSpPr>
          <a:xfrm>
            <a:off x="1739899" y="5430498"/>
            <a:ext cx="3892550" cy="365125"/>
            <a:chOff x="1001" y="7481"/>
            <a:chExt cx="6130" cy="575"/>
          </a:xfrm>
        </p:grpSpPr>
        <p:sp>
          <p:nvSpPr>
            <p:cNvPr id="6" name="图形"/>
            <p:cNvSpPr/>
            <p:nvPr>
              <p:custDataLst>
                <p:tags r:id="rId2"/>
              </p:custDataLst>
            </p:nvPr>
          </p:nvSpPr>
          <p:spPr>
            <a:xfrm>
              <a:off x="4124" y="7489"/>
              <a:ext cx="1267" cy="56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rgbClr val="285BDB"/>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rPr>
                <a:t>时间</a:t>
              </a:r>
              <a:endParaRPr kumimoji="0" lang="zh-CN" altLang="en-US" sz="1400" i="0" u="none" strike="noStrike" kern="1200" cap="none" spc="0" normalizeH="0" baseline="0" noProof="0" dirty="0">
                <a:ln>
                  <a:noFill/>
                </a:ln>
                <a:solidFill>
                  <a:srgbClr val="285BDB"/>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endParaRPr>
            </a:p>
          </p:txBody>
        </p:sp>
        <p:sp>
          <p:nvSpPr>
            <p:cNvPr id="7" name="图形"/>
            <p:cNvSpPr/>
            <p:nvPr>
              <p:custDataLst>
                <p:tags r:id="rId3"/>
              </p:custDataLst>
            </p:nvPr>
          </p:nvSpPr>
          <p:spPr>
            <a:xfrm>
              <a:off x="1001" y="7481"/>
              <a:ext cx="1243" cy="56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1200" cap="none" spc="0" normalizeH="0" baseline="0" noProof="0" dirty="0">
                  <a:ln>
                    <a:noFill/>
                  </a:ln>
                  <a:solidFill>
                    <a:srgbClr val="285BDB"/>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rPr>
                <a:t>汇报</a:t>
              </a:r>
              <a:endParaRPr kumimoji="0" lang="zh-CN" altLang="en-US" sz="1400" i="0" u="none" strike="noStrike" kern="1200" cap="none" spc="0" normalizeH="0" baseline="0" noProof="0" dirty="0">
                <a:ln>
                  <a:noFill/>
                </a:ln>
                <a:solidFill>
                  <a:srgbClr val="285BDB"/>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endParaRPr>
            </a:p>
          </p:txBody>
        </p:sp>
        <p:sp>
          <p:nvSpPr>
            <p:cNvPr id="8" name="图形"/>
            <p:cNvSpPr/>
            <p:nvPr>
              <p:custDataLst>
                <p:tags r:id="rId4"/>
              </p:custDataLst>
            </p:nvPr>
          </p:nvSpPr>
          <p:spPr>
            <a:xfrm>
              <a:off x="2690" y="7577"/>
              <a:ext cx="1625" cy="387"/>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rPr>
                <a:t>XXX</a:t>
              </a:r>
              <a:endParaRPr kumimoji="0" lang="zh-CN" altLang="en-US" sz="16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endParaRPr>
            </a:p>
          </p:txBody>
        </p:sp>
        <p:sp>
          <p:nvSpPr>
            <p:cNvPr id="9" name="图形"/>
            <p:cNvSpPr/>
            <p:nvPr>
              <p:custDataLst>
                <p:tags r:id="rId5"/>
              </p:custDataLst>
            </p:nvPr>
          </p:nvSpPr>
          <p:spPr>
            <a:xfrm>
              <a:off x="5860" y="7633"/>
              <a:ext cx="1271" cy="387"/>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rPr>
                <a:t>2025.6</a:t>
              </a:r>
              <a:endParaRPr kumimoji="0" lang="zh-CN" altLang="en-US" sz="1600" b="1"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思源宋体 CN Heavy" panose="02020900000000000000" charset="-122"/>
                <a:sym typeface="思源黑体 CN Medium" panose="020B0600000000000000" pitchFamily="34" charset="-122"/>
              </a:endParaRPr>
            </a:p>
          </p:txBody>
        </p:sp>
        <p:cxnSp>
          <p:nvCxnSpPr>
            <p:cNvPr id="10" name="图形"/>
            <p:cNvCxnSpPr/>
            <p:nvPr>
              <p:custDataLst>
                <p:tags r:id="rId6"/>
              </p:custDataLst>
            </p:nvPr>
          </p:nvCxnSpPr>
          <p:spPr>
            <a:xfrm>
              <a:off x="2412" y="7577"/>
              <a:ext cx="0" cy="405"/>
            </a:xfrm>
            <a:prstGeom prst="line">
              <a:avLst/>
            </a:prstGeom>
            <a:ln w="63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图形"/>
            <p:cNvCxnSpPr/>
            <p:nvPr>
              <p:custDataLst>
                <p:tags r:id="rId7"/>
              </p:custDataLst>
            </p:nvPr>
          </p:nvCxnSpPr>
          <p:spPr>
            <a:xfrm>
              <a:off x="5572" y="7645"/>
              <a:ext cx="0" cy="405"/>
            </a:xfrm>
            <a:prstGeom prst="line">
              <a:avLst/>
            </a:prstGeom>
            <a:ln w="63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704337" y="1229396"/>
            <a:ext cx="5754124" cy="2912319"/>
            <a:chOff x="704337" y="1502608"/>
            <a:chExt cx="5754124" cy="2912319"/>
          </a:xfrm>
        </p:grpSpPr>
        <p:sp>
          <p:nvSpPr>
            <p:cNvPr id="13" name="文本框 12"/>
            <p:cNvSpPr txBox="1"/>
            <p:nvPr/>
          </p:nvSpPr>
          <p:spPr>
            <a:xfrm>
              <a:off x="1025844" y="1502608"/>
              <a:ext cx="5070155" cy="1569660"/>
            </a:xfrm>
            <a:prstGeom prst="rect">
              <a:avLst/>
            </a:prstGeom>
            <a:noFill/>
          </p:spPr>
          <p:txBody>
            <a:bodyPr wrap="square" rtlCol="0">
              <a:spAutoFit/>
            </a:bodyPr>
            <a:lstStyle/>
            <a:p>
              <a:r>
                <a:rPr lang="zh-CN" altLang="en-US" sz="9600" b="1" dirty="0">
                  <a:gradFill>
                    <a:gsLst>
                      <a:gs pos="1000">
                        <a:srgbClr val="285BDB"/>
                      </a:gs>
                      <a:gs pos="24000">
                        <a:srgbClr val="FFFFFF"/>
                      </a:gs>
                    </a:gsLst>
                    <a:lin ang="5400000" scaled="0"/>
                  </a:gradFill>
                  <a:latin typeface="思源宋体 CN Heavy" panose="02020900000000000000" charset="-122"/>
                  <a:ea typeface="思源宋体 CN Heavy" panose="02020900000000000000" charset="-122"/>
                  <a:sym typeface="思源黑体 CN Medium" panose="020B0600000000000000" pitchFamily="34" charset="-122"/>
                </a:rPr>
                <a:t>演示完毕</a:t>
              </a:r>
              <a:endParaRPr lang="zh-CN" altLang="en-US" sz="9000" b="1" dirty="0">
                <a:solidFill>
                  <a:schemeClr val="bg1"/>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4" name="文本框 13"/>
            <p:cNvSpPr txBox="1"/>
            <p:nvPr/>
          </p:nvSpPr>
          <p:spPr>
            <a:xfrm>
              <a:off x="1059711" y="2715056"/>
              <a:ext cx="4801314" cy="1477328"/>
            </a:xfrm>
            <a:prstGeom prst="rect">
              <a:avLst/>
            </a:prstGeom>
            <a:noFill/>
          </p:spPr>
          <p:txBody>
            <a:bodyPr wrap="none" rtlCol="0">
              <a:spAutoFit/>
            </a:bodyPr>
            <a:lstStyle/>
            <a:p>
              <a:r>
                <a:rPr lang="zh-CN" altLang="en-US" sz="9000" dirty="0">
                  <a:solidFill>
                    <a:schemeClr val="bg1"/>
                  </a:solidFill>
                  <a:latin typeface="思源宋体 CN Heavy" panose="02020900000000000000" charset="-122"/>
                  <a:ea typeface="思源宋体 CN Heavy" panose="02020900000000000000" charset="-122"/>
                  <a:sym typeface="思源黑体 CN Medium" panose="020B0600000000000000" pitchFamily="34" charset="-122"/>
                </a:rPr>
                <a:t>谢谢观看</a:t>
              </a:r>
              <a:endParaRPr lang="zh-CN" altLang="en-US" sz="9000" dirty="0">
                <a:solidFill>
                  <a:schemeClr val="bg1"/>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5" name="任意多边形: 形状 14"/>
            <p:cNvSpPr/>
            <p:nvPr/>
          </p:nvSpPr>
          <p:spPr>
            <a:xfrm>
              <a:off x="704337" y="1575201"/>
              <a:ext cx="388032" cy="275263"/>
            </a:xfrm>
            <a:custGeom>
              <a:avLst/>
              <a:gdLst>
                <a:gd name="connsiteX0" fmla="*/ 308908 w 388032"/>
                <a:gd name="connsiteY0" fmla="*/ 0 h 275263"/>
                <a:gd name="connsiteX1" fmla="*/ 352371 w 388032"/>
                <a:gd name="connsiteY1" fmla="*/ 22288 h 275263"/>
                <a:gd name="connsiteX2" fmla="*/ 323396 w 388032"/>
                <a:gd name="connsiteY2" fmla="*/ 57950 h 275263"/>
                <a:gd name="connsiteX3" fmla="*/ 307794 w 388032"/>
                <a:gd name="connsiteY3" fmla="*/ 86925 h 275263"/>
                <a:gd name="connsiteX4" fmla="*/ 301107 w 388032"/>
                <a:gd name="connsiteY4" fmla="*/ 112557 h 275263"/>
                <a:gd name="connsiteX5" fmla="*/ 362401 w 388032"/>
                <a:gd name="connsiteY5" fmla="*/ 135960 h 275263"/>
                <a:gd name="connsiteX6" fmla="*/ 388032 w 388032"/>
                <a:gd name="connsiteY6" fmla="*/ 191681 h 275263"/>
                <a:gd name="connsiteX7" fmla="*/ 381346 w 388032"/>
                <a:gd name="connsiteY7" fmla="*/ 222328 h 275263"/>
                <a:gd name="connsiteX8" fmla="*/ 362958 w 388032"/>
                <a:gd name="connsiteY8" fmla="*/ 249074 h 275263"/>
                <a:gd name="connsiteX9" fmla="*/ 335097 w 388032"/>
                <a:gd name="connsiteY9" fmla="*/ 268019 h 275263"/>
                <a:gd name="connsiteX10" fmla="*/ 301107 w 388032"/>
                <a:gd name="connsiteY10" fmla="*/ 275263 h 275263"/>
                <a:gd name="connsiteX11" fmla="*/ 252630 w 388032"/>
                <a:gd name="connsiteY11" fmla="*/ 259104 h 275263"/>
                <a:gd name="connsiteX12" fmla="*/ 221983 w 388032"/>
                <a:gd name="connsiteY12" fmla="*/ 220656 h 275263"/>
                <a:gd name="connsiteX13" fmla="*/ 219197 w 388032"/>
                <a:gd name="connsiteY13" fmla="*/ 140975 h 275263"/>
                <a:gd name="connsiteX14" fmla="*/ 250958 w 388032"/>
                <a:gd name="connsiteY14" fmla="*/ 70208 h 275263"/>
                <a:gd name="connsiteX15" fmla="*/ 308908 w 388032"/>
                <a:gd name="connsiteY15" fmla="*/ 0 h 275263"/>
                <a:gd name="connsiteX16" fmla="*/ 94939 w 388032"/>
                <a:gd name="connsiteY16" fmla="*/ 0 h 275263"/>
                <a:gd name="connsiteX17" fmla="*/ 138401 w 388032"/>
                <a:gd name="connsiteY17" fmla="*/ 22288 h 275263"/>
                <a:gd name="connsiteX18" fmla="*/ 109426 w 388032"/>
                <a:gd name="connsiteY18" fmla="*/ 57950 h 275263"/>
                <a:gd name="connsiteX19" fmla="*/ 93824 w 388032"/>
                <a:gd name="connsiteY19" fmla="*/ 86925 h 275263"/>
                <a:gd name="connsiteX20" fmla="*/ 87138 w 388032"/>
                <a:gd name="connsiteY20" fmla="*/ 112557 h 275263"/>
                <a:gd name="connsiteX21" fmla="*/ 148431 w 388032"/>
                <a:gd name="connsiteY21" fmla="*/ 135960 h 275263"/>
                <a:gd name="connsiteX22" fmla="*/ 174063 w 388032"/>
                <a:gd name="connsiteY22" fmla="*/ 191681 h 275263"/>
                <a:gd name="connsiteX23" fmla="*/ 167376 w 388032"/>
                <a:gd name="connsiteY23" fmla="*/ 222328 h 275263"/>
                <a:gd name="connsiteX24" fmla="*/ 148988 w 388032"/>
                <a:gd name="connsiteY24" fmla="*/ 249074 h 275263"/>
                <a:gd name="connsiteX25" fmla="*/ 121128 w 388032"/>
                <a:gd name="connsiteY25" fmla="*/ 268019 h 275263"/>
                <a:gd name="connsiteX26" fmla="*/ 87138 w 388032"/>
                <a:gd name="connsiteY26" fmla="*/ 275263 h 275263"/>
                <a:gd name="connsiteX27" fmla="*/ 38660 w 388032"/>
                <a:gd name="connsiteY27" fmla="*/ 259104 h 275263"/>
                <a:gd name="connsiteX28" fmla="*/ 8014 w 388032"/>
                <a:gd name="connsiteY28" fmla="*/ 220656 h 275263"/>
                <a:gd name="connsiteX29" fmla="*/ 5228 w 388032"/>
                <a:gd name="connsiteY29" fmla="*/ 140975 h 275263"/>
                <a:gd name="connsiteX30" fmla="*/ 36989 w 388032"/>
                <a:gd name="connsiteY30" fmla="*/ 70208 h 275263"/>
                <a:gd name="connsiteX31" fmla="*/ 94939 w 388032"/>
                <a:gd name="connsiteY31" fmla="*/ 0 h 27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8032" h="275263">
                  <a:moveTo>
                    <a:pt x="308908" y="0"/>
                  </a:moveTo>
                  <a:lnTo>
                    <a:pt x="352371" y="22288"/>
                  </a:lnTo>
                  <a:cubicBezTo>
                    <a:pt x="339741" y="34918"/>
                    <a:pt x="330082" y="46806"/>
                    <a:pt x="323396" y="57950"/>
                  </a:cubicBezTo>
                  <a:cubicBezTo>
                    <a:pt x="316709" y="69094"/>
                    <a:pt x="311509" y="78752"/>
                    <a:pt x="307794" y="86925"/>
                  </a:cubicBezTo>
                  <a:cubicBezTo>
                    <a:pt x="304079" y="96583"/>
                    <a:pt x="301850" y="105127"/>
                    <a:pt x="301107" y="112557"/>
                  </a:cubicBezTo>
                  <a:cubicBezTo>
                    <a:pt x="324882" y="112557"/>
                    <a:pt x="345313" y="120358"/>
                    <a:pt x="362401" y="135960"/>
                  </a:cubicBezTo>
                  <a:cubicBezTo>
                    <a:pt x="379488" y="151562"/>
                    <a:pt x="388032" y="170135"/>
                    <a:pt x="388032" y="191681"/>
                  </a:cubicBezTo>
                  <a:cubicBezTo>
                    <a:pt x="388032" y="202082"/>
                    <a:pt x="385804" y="212298"/>
                    <a:pt x="381346" y="222328"/>
                  </a:cubicBezTo>
                  <a:cubicBezTo>
                    <a:pt x="376888" y="232357"/>
                    <a:pt x="370759" y="241273"/>
                    <a:pt x="362958" y="249074"/>
                  </a:cubicBezTo>
                  <a:cubicBezTo>
                    <a:pt x="355157" y="256875"/>
                    <a:pt x="345870" y="263190"/>
                    <a:pt x="335097" y="268019"/>
                  </a:cubicBezTo>
                  <a:cubicBezTo>
                    <a:pt x="324324" y="272848"/>
                    <a:pt x="312995" y="275263"/>
                    <a:pt x="301107" y="275263"/>
                  </a:cubicBezTo>
                  <a:cubicBezTo>
                    <a:pt x="283276" y="275263"/>
                    <a:pt x="267117" y="269876"/>
                    <a:pt x="252630" y="259104"/>
                  </a:cubicBezTo>
                  <a:cubicBezTo>
                    <a:pt x="238142" y="248331"/>
                    <a:pt x="227927" y="235515"/>
                    <a:pt x="221983" y="220656"/>
                  </a:cubicBezTo>
                  <a:cubicBezTo>
                    <a:pt x="212325" y="193910"/>
                    <a:pt x="211396" y="167349"/>
                    <a:pt x="219197" y="140975"/>
                  </a:cubicBezTo>
                  <a:cubicBezTo>
                    <a:pt x="226998" y="114600"/>
                    <a:pt x="237585" y="91011"/>
                    <a:pt x="250958" y="70208"/>
                  </a:cubicBezTo>
                  <a:cubicBezTo>
                    <a:pt x="266560" y="45691"/>
                    <a:pt x="285877" y="22288"/>
                    <a:pt x="308908" y="0"/>
                  </a:cubicBezTo>
                  <a:close/>
                  <a:moveTo>
                    <a:pt x="94939" y="0"/>
                  </a:moveTo>
                  <a:lnTo>
                    <a:pt x="138401" y="22288"/>
                  </a:lnTo>
                  <a:cubicBezTo>
                    <a:pt x="125771" y="34918"/>
                    <a:pt x="116113" y="46806"/>
                    <a:pt x="109426" y="57950"/>
                  </a:cubicBezTo>
                  <a:cubicBezTo>
                    <a:pt x="102740" y="69094"/>
                    <a:pt x="97539" y="78752"/>
                    <a:pt x="93824" y="86925"/>
                  </a:cubicBezTo>
                  <a:cubicBezTo>
                    <a:pt x="90110" y="96583"/>
                    <a:pt x="87881" y="105127"/>
                    <a:pt x="87138" y="112557"/>
                  </a:cubicBezTo>
                  <a:cubicBezTo>
                    <a:pt x="110912" y="112557"/>
                    <a:pt x="131343" y="120358"/>
                    <a:pt x="148431" y="135960"/>
                  </a:cubicBezTo>
                  <a:cubicBezTo>
                    <a:pt x="165519" y="151562"/>
                    <a:pt x="174063" y="170135"/>
                    <a:pt x="174063" y="191681"/>
                  </a:cubicBezTo>
                  <a:cubicBezTo>
                    <a:pt x="174063" y="202082"/>
                    <a:pt x="171834" y="212298"/>
                    <a:pt x="167376" y="222328"/>
                  </a:cubicBezTo>
                  <a:cubicBezTo>
                    <a:pt x="162919" y="232357"/>
                    <a:pt x="156789" y="241273"/>
                    <a:pt x="148988" y="249074"/>
                  </a:cubicBezTo>
                  <a:cubicBezTo>
                    <a:pt x="141187" y="256875"/>
                    <a:pt x="131901" y="263190"/>
                    <a:pt x="121128" y="268019"/>
                  </a:cubicBezTo>
                  <a:cubicBezTo>
                    <a:pt x="110355" y="272848"/>
                    <a:pt x="99025" y="275263"/>
                    <a:pt x="87138" y="275263"/>
                  </a:cubicBezTo>
                  <a:cubicBezTo>
                    <a:pt x="69307" y="275263"/>
                    <a:pt x="53148" y="269876"/>
                    <a:pt x="38660" y="259104"/>
                  </a:cubicBezTo>
                  <a:cubicBezTo>
                    <a:pt x="24173" y="248331"/>
                    <a:pt x="13957" y="235515"/>
                    <a:pt x="8014" y="220656"/>
                  </a:cubicBezTo>
                  <a:cubicBezTo>
                    <a:pt x="-1645" y="193910"/>
                    <a:pt x="-2573" y="167349"/>
                    <a:pt x="5228" y="140975"/>
                  </a:cubicBezTo>
                  <a:cubicBezTo>
                    <a:pt x="13028" y="114600"/>
                    <a:pt x="23616" y="91011"/>
                    <a:pt x="36989" y="70208"/>
                  </a:cubicBezTo>
                  <a:cubicBezTo>
                    <a:pt x="52591" y="45691"/>
                    <a:pt x="71907" y="22288"/>
                    <a:pt x="94939"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6" name="任意多边形: 形状 15"/>
            <p:cNvSpPr/>
            <p:nvPr/>
          </p:nvSpPr>
          <p:spPr>
            <a:xfrm>
              <a:off x="6070429" y="2828264"/>
              <a:ext cx="388032" cy="275263"/>
            </a:xfrm>
            <a:custGeom>
              <a:avLst/>
              <a:gdLst>
                <a:gd name="connsiteX0" fmla="*/ 300893 w 388032"/>
                <a:gd name="connsiteY0" fmla="*/ 0 h 275263"/>
                <a:gd name="connsiteX1" fmla="*/ 349371 w 388032"/>
                <a:gd name="connsiteY1" fmla="*/ 16159 h 275263"/>
                <a:gd name="connsiteX2" fmla="*/ 380018 w 388032"/>
                <a:gd name="connsiteY2" fmla="*/ 54607 h 275263"/>
                <a:gd name="connsiteX3" fmla="*/ 382804 w 388032"/>
                <a:gd name="connsiteY3" fmla="*/ 134845 h 275263"/>
                <a:gd name="connsiteX4" fmla="*/ 351042 w 388032"/>
                <a:gd name="connsiteY4" fmla="*/ 205054 h 275263"/>
                <a:gd name="connsiteX5" fmla="*/ 293092 w 388032"/>
                <a:gd name="connsiteY5" fmla="*/ 275263 h 275263"/>
                <a:gd name="connsiteX6" fmla="*/ 249630 w 388032"/>
                <a:gd name="connsiteY6" fmla="*/ 252974 h 275263"/>
                <a:gd name="connsiteX7" fmla="*/ 278605 w 388032"/>
                <a:gd name="connsiteY7" fmla="*/ 217313 h 275263"/>
                <a:gd name="connsiteX8" fmla="*/ 294207 w 388032"/>
                <a:gd name="connsiteY8" fmla="*/ 188338 h 275263"/>
                <a:gd name="connsiteX9" fmla="*/ 300893 w 388032"/>
                <a:gd name="connsiteY9" fmla="*/ 162706 h 275263"/>
                <a:gd name="connsiteX10" fmla="*/ 239600 w 388032"/>
                <a:gd name="connsiteY10" fmla="*/ 139303 h 275263"/>
                <a:gd name="connsiteX11" fmla="*/ 213968 w 388032"/>
                <a:gd name="connsiteY11" fmla="*/ 83582 h 275263"/>
                <a:gd name="connsiteX12" fmla="*/ 220655 w 388032"/>
                <a:gd name="connsiteY12" fmla="*/ 52935 h 275263"/>
                <a:gd name="connsiteX13" fmla="*/ 239043 w 388032"/>
                <a:gd name="connsiteY13" fmla="*/ 26189 h 275263"/>
                <a:gd name="connsiteX14" fmla="*/ 266903 w 388032"/>
                <a:gd name="connsiteY14" fmla="*/ 7244 h 275263"/>
                <a:gd name="connsiteX15" fmla="*/ 300893 w 388032"/>
                <a:gd name="connsiteY15" fmla="*/ 0 h 275263"/>
                <a:gd name="connsiteX16" fmla="*/ 86925 w 388032"/>
                <a:gd name="connsiteY16" fmla="*/ 0 h 275263"/>
                <a:gd name="connsiteX17" fmla="*/ 135402 w 388032"/>
                <a:gd name="connsiteY17" fmla="*/ 16159 h 275263"/>
                <a:gd name="connsiteX18" fmla="*/ 166049 w 388032"/>
                <a:gd name="connsiteY18" fmla="*/ 54607 h 275263"/>
                <a:gd name="connsiteX19" fmla="*/ 168835 w 388032"/>
                <a:gd name="connsiteY19" fmla="*/ 134845 h 275263"/>
                <a:gd name="connsiteX20" fmla="*/ 137074 w 388032"/>
                <a:gd name="connsiteY20" fmla="*/ 205054 h 275263"/>
                <a:gd name="connsiteX21" fmla="*/ 79124 w 388032"/>
                <a:gd name="connsiteY21" fmla="*/ 275263 h 275263"/>
                <a:gd name="connsiteX22" fmla="*/ 35661 w 388032"/>
                <a:gd name="connsiteY22" fmla="*/ 252974 h 275263"/>
                <a:gd name="connsiteX23" fmla="*/ 64636 w 388032"/>
                <a:gd name="connsiteY23" fmla="*/ 217313 h 275263"/>
                <a:gd name="connsiteX24" fmla="*/ 80238 w 388032"/>
                <a:gd name="connsiteY24" fmla="*/ 188338 h 275263"/>
                <a:gd name="connsiteX25" fmla="*/ 86925 w 388032"/>
                <a:gd name="connsiteY25" fmla="*/ 162706 h 275263"/>
                <a:gd name="connsiteX26" fmla="*/ 25631 w 388032"/>
                <a:gd name="connsiteY26" fmla="*/ 139303 h 275263"/>
                <a:gd name="connsiteX27" fmla="*/ 0 w 388032"/>
                <a:gd name="connsiteY27" fmla="*/ 83582 h 275263"/>
                <a:gd name="connsiteX28" fmla="*/ 6686 w 388032"/>
                <a:gd name="connsiteY28" fmla="*/ 52935 h 275263"/>
                <a:gd name="connsiteX29" fmla="*/ 25074 w 388032"/>
                <a:gd name="connsiteY29" fmla="*/ 26189 h 275263"/>
                <a:gd name="connsiteX30" fmla="*/ 52935 w 388032"/>
                <a:gd name="connsiteY30" fmla="*/ 7244 h 275263"/>
                <a:gd name="connsiteX31" fmla="*/ 86925 w 388032"/>
                <a:gd name="connsiteY31" fmla="*/ 0 h 27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8032" h="275263">
                  <a:moveTo>
                    <a:pt x="300893" y="0"/>
                  </a:moveTo>
                  <a:cubicBezTo>
                    <a:pt x="318724" y="0"/>
                    <a:pt x="334883" y="5386"/>
                    <a:pt x="349371" y="16159"/>
                  </a:cubicBezTo>
                  <a:cubicBezTo>
                    <a:pt x="363858" y="26932"/>
                    <a:pt x="374074" y="39748"/>
                    <a:pt x="380018" y="54607"/>
                  </a:cubicBezTo>
                  <a:cubicBezTo>
                    <a:pt x="389676" y="82096"/>
                    <a:pt x="390605" y="108842"/>
                    <a:pt x="382804" y="134845"/>
                  </a:cubicBezTo>
                  <a:cubicBezTo>
                    <a:pt x="375003" y="160848"/>
                    <a:pt x="364416" y="184251"/>
                    <a:pt x="351042" y="205054"/>
                  </a:cubicBezTo>
                  <a:cubicBezTo>
                    <a:pt x="335441" y="229571"/>
                    <a:pt x="316124" y="252974"/>
                    <a:pt x="293092" y="275263"/>
                  </a:cubicBezTo>
                  <a:lnTo>
                    <a:pt x="249630" y="252974"/>
                  </a:lnTo>
                  <a:cubicBezTo>
                    <a:pt x="262260" y="240344"/>
                    <a:pt x="271918" y="228457"/>
                    <a:pt x="278605" y="217313"/>
                  </a:cubicBezTo>
                  <a:cubicBezTo>
                    <a:pt x="285291" y="206168"/>
                    <a:pt x="290492" y="196510"/>
                    <a:pt x="294207" y="188338"/>
                  </a:cubicBezTo>
                  <a:cubicBezTo>
                    <a:pt x="297922" y="179422"/>
                    <a:pt x="300151" y="170878"/>
                    <a:pt x="300893" y="162706"/>
                  </a:cubicBezTo>
                  <a:cubicBezTo>
                    <a:pt x="277119" y="162706"/>
                    <a:pt x="256688" y="154905"/>
                    <a:pt x="239600" y="139303"/>
                  </a:cubicBezTo>
                  <a:cubicBezTo>
                    <a:pt x="222512" y="123701"/>
                    <a:pt x="213968" y="105127"/>
                    <a:pt x="213968" y="83582"/>
                  </a:cubicBezTo>
                  <a:cubicBezTo>
                    <a:pt x="213968" y="73180"/>
                    <a:pt x="216197" y="62965"/>
                    <a:pt x="220655" y="52935"/>
                  </a:cubicBezTo>
                  <a:cubicBezTo>
                    <a:pt x="225113" y="42905"/>
                    <a:pt x="231242" y="33990"/>
                    <a:pt x="239043" y="26189"/>
                  </a:cubicBezTo>
                  <a:cubicBezTo>
                    <a:pt x="246844" y="18388"/>
                    <a:pt x="256131" y="12073"/>
                    <a:pt x="266903" y="7244"/>
                  </a:cubicBezTo>
                  <a:cubicBezTo>
                    <a:pt x="277676" y="2414"/>
                    <a:pt x="289006" y="0"/>
                    <a:pt x="300893" y="0"/>
                  </a:cubicBezTo>
                  <a:close/>
                  <a:moveTo>
                    <a:pt x="86925" y="0"/>
                  </a:moveTo>
                  <a:cubicBezTo>
                    <a:pt x="104756" y="0"/>
                    <a:pt x="120915" y="5386"/>
                    <a:pt x="135402" y="16159"/>
                  </a:cubicBezTo>
                  <a:cubicBezTo>
                    <a:pt x="149890" y="26932"/>
                    <a:pt x="160105" y="39748"/>
                    <a:pt x="166049" y="54607"/>
                  </a:cubicBezTo>
                  <a:cubicBezTo>
                    <a:pt x="175707" y="82096"/>
                    <a:pt x="176636" y="108842"/>
                    <a:pt x="168835" y="134845"/>
                  </a:cubicBezTo>
                  <a:cubicBezTo>
                    <a:pt x="161034" y="160848"/>
                    <a:pt x="150447" y="184251"/>
                    <a:pt x="137074" y="205054"/>
                  </a:cubicBezTo>
                  <a:cubicBezTo>
                    <a:pt x="121472" y="229571"/>
                    <a:pt x="102155" y="252974"/>
                    <a:pt x="79124" y="275263"/>
                  </a:cubicBezTo>
                  <a:lnTo>
                    <a:pt x="35661" y="252974"/>
                  </a:lnTo>
                  <a:cubicBezTo>
                    <a:pt x="48291" y="240344"/>
                    <a:pt x="57950" y="228457"/>
                    <a:pt x="64636" y="217313"/>
                  </a:cubicBezTo>
                  <a:cubicBezTo>
                    <a:pt x="71323" y="206168"/>
                    <a:pt x="76523" y="196510"/>
                    <a:pt x="80238" y="188338"/>
                  </a:cubicBezTo>
                  <a:cubicBezTo>
                    <a:pt x="83953" y="179422"/>
                    <a:pt x="86182" y="170878"/>
                    <a:pt x="86925" y="162706"/>
                  </a:cubicBezTo>
                  <a:cubicBezTo>
                    <a:pt x="63150" y="162706"/>
                    <a:pt x="42719" y="154905"/>
                    <a:pt x="25631" y="139303"/>
                  </a:cubicBezTo>
                  <a:cubicBezTo>
                    <a:pt x="8543" y="123701"/>
                    <a:pt x="0" y="105127"/>
                    <a:pt x="0" y="83582"/>
                  </a:cubicBezTo>
                  <a:cubicBezTo>
                    <a:pt x="0" y="73180"/>
                    <a:pt x="2228" y="62965"/>
                    <a:pt x="6686" y="52935"/>
                  </a:cubicBezTo>
                  <a:cubicBezTo>
                    <a:pt x="11144" y="42905"/>
                    <a:pt x="17273" y="33990"/>
                    <a:pt x="25074" y="26189"/>
                  </a:cubicBezTo>
                  <a:cubicBezTo>
                    <a:pt x="32875" y="18388"/>
                    <a:pt x="42162" y="12073"/>
                    <a:pt x="52935" y="7244"/>
                  </a:cubicBezTo>
                  <a:cubicBezTo>
                    <a:pt x="63708" y="2414"/>
                    <a:pt x="75038" y="0"/>
                    <a:pt x="86925"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latin typeface="思源宋体 CN Heavy" panose="02020900000000000000" charset="-122"/>
                <a:ea typeface="思源宋体 CN Heavy" panose="02020900000000000000" charset="-122"/>
                <a:sym typeface="思源黑体 CN Medium" panose="020B0600000000000000" pitchFamily="34" charset="-122"/>
              </a:endParaRPr>
            </a:p>
          </p:txBody>
        </p:sp>
        <p:sp>
          <p:nvSpPr>
            <p:cNvPr id="17" name="文本框 16"/>
            <p:cNvSpPr txBox="1"/>
            <p:nvPr/>
          </p:nvSpPr>
          <p:spPr>
            <a:xfrm>
              <a:off x="5099868" y="3956019"/>
              <a:ext cx="184731" cy="458908"/>
            </a:xfrm>
            <a:prstGeom prst="rect">
              <a:avLst/>
            </a:prstGeom>
            <a:noFill/>
          </p:spPr>
          <p:txBody>
            <a:bodyPr wrap="none" rtlCol="0">
              <a:spAutoFit/>
            </a:bodyPr>
            <a:lstStyle/>
            <a:p>
              <a:pPr>
                <a:lnSpc>
                  <a:spcPct val="150000"/>
                </a:lnSpc>
              </a:pPr>
              <a:endParaRPr lang="zh-CN" altLang="en-US" dirty="0">
                <a:solidFill>
                  <a:schemeClr val="bg1"/>
                </a:solidFill>
                <a:latin typeface="思源宋体 CN Heavy" panose="02020900000000000000" charset="-122"/>
                <a:ea typeface="思源宋体 CN Heavy" panose="02020900000000000000" charset="-122"/>
                <a:sym typeface="思源黑体 CN Medium" panose="020B06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PA" val="v5.2.10"/>
</p:tagLst>
</file>

<file path=ppt/tags/tag8.xml><?xml version="1.0" encoding="utf-8"?>
<p:tagLst xmlns:p="http://schemas.openxmlformats.org/presentationml/2006/main">
  <p:tag name="PA" val="v5.2.10"/>
</p:tagLst>
</file>

<file path=ppt/tags/tag9.xml><?xml version="1.0" encoding="utf-8"?>
<p:tagLst xmlns:p="http://schemas.openxmlformats.org/presentationml/2006/main">
  <p:tag name="PA" val="v5.2.11"/>
</p:tagLst>
</file>

<file path=ppt/tags/tag10.xml><?xml version="1.0" encoding="utf-8"?>
<p:tagLst xmlns:p="http://schemas.openxmlformats.org/presentationml/2006/main">
  <p:tag name="PA" val="v5.2.10"/>
</p:tagLst>
</file>

<file path=ppt/tags/tag11.xml><?xml version="1.0" encoding="utf-8"?>
<p:tagLst xmlns:p="http://schemas.openxmlformats.org/presentationml/2006/main">
  <p:tag name="TABLE_ENDDRAG_ORIGIN_RECT" val="501*349"/>
  <p:tag name="TABLE_ENDDRAG_RECT" val="309*156*501*349"/>
</p:tagLst>
</file>

<file path=ppt/tags/tag12.xml><?xml version="1.0" encoding="utf-8"?>
<p:tagLst xmlns:p="http://schemas.openxmlformats.org/presentationml/2006/main">
  <p:tag name="MD-PA" val="v1.0.0"/>
</p:tagLst>
</file>

<file path=ppt/tags/tag13.xml><?xml version="1.0" encoding="utf-8"?>
<p:tagLst xmlns:p="http://schemas.openxmlformats.org/presentationml/2006/main">
  <p:tag name="MD-PA" val="v1.0.0"/>
</p:tagLst>
</file>

<file path=ppt/tags/tag14.xml><?xml version="1.0" encoding="utf-8"?>
<p:tagLst xmlns:p="http://schemas.openxmlformats.org/presentationml/2006/main">
  <p:tag name="MD-PA" val="v1.0.0"/>
</p:tagLst>
</file>

<file path=ppt/tags/tag15.xml><?xml version="1.0" encoding="utf-8"?>
<p:tagLst xmlns:p="http://schemas.openxmlformats.org/presentationml/2006/main">
  <p:tag name="MD-PA" val="v1.0.0"/>
</p:tagLst>
</file>

<file path=ppt/tags/tag16.xml><?xml version="1.0" encoding="utf-8"?>
<p:tagLst xmlns:p="http://schemas.openxmlformats.org/presentationml/2006/main">
  <p:tag name="MD-PA" val="v1.0.0"/>
</p:tagLst>
</file>

<file path=ppt/tags/tag17.xml><?xml version="1.0" encoding="utf-8"?>
<p:tagLst xmlns:p="http://schemas.openxmlformats.org/presentationml/2006/main">
  <p:tag name="MD-PA" val="v1.0.0"/>
</p:tagLst>
</file>

<file path=ppt/tags/tag18.xml><?xml version="1.0" encoding="utf-8"?>
<p:tagLst xmlns:p="http://schemas.openxmlformats.org/presentationml/2006/main">
  <p:tag name="MD-PA" val="v1.0.0"/>
</p:tagLst>
</file>

<file path=ppt/tags/tag19.xml><?xml version="1.0" encoding="utf-8"?>
<p:tagLst xmlns:p="http://schemas.openxmlformats.org/presentationml/2006/main">
  <p:tag name="MD-PA" val="v1.0.0"/>
</p:tagLst>
</file>

<file path=ppt/tags/tag20.xml><?xml version="1.0" encoding="utf-8"?>
<p:tagLst xmlns:p="http://schemas.openxmlformats.org/presentationml/2006/main">
  <p:tag name="MD-PA" val="v1.0.0"/>
</p:tagLst>
</file>

<file path=ppt/tags/tag21.xml><?xml version="1.0" encoding="utf-8"?>
<p:tagLst xmlns:p="http://schemas.openxmlformats.org/presentationml/2006/main">
  <p:tag name="MD-PA" val="v1.0.0"/>
</p:tagLst>
</file>

<file path=ppt/tags/tag22.xml><?xml version="1.0" encoding="utf-8"?>
<p:tagLst xmlns:p="http://schemas.openxmlformats.org/presentationml/2006/main">
  <p:tag name="MD-PA" val="v1.0.0"/>
</p:tagLst>
</file>

<file path=ppt/tags/tag23.xml><?xml version="1.0" encoding="utf-8"?>
<p:tagLst xmlns:p="http://schemas.openxmlformats.org/presentationml/2006/main">
  <p:tag name="MD-PA" val="v1.0.0"/>
</p:tagLst>
</file>

<file path=ppt/tags/tag24.xml><?xml version="1.0" encoding="utf-8"?>
<p:tagLst xmlns:p="http://schemas.openxmlformats.org/presentationml/2006/main">
  <p:tag name="MD-PA" val="v1.0.0"/>
</p:tagLst>
</file>

<file path=ppt/tags/tag25.xml><?xml version="1.0" encoding="utf-8"?>
<p:tagLst xmlns:p="http://schemas.openxmlformats.org/presentationml/2006/main">
  <p:tag name="MD-PA" val="v1.0.0"/>
</p:tagLst>
</file>

<file path=ppt/tags/tag26.xml><?xml version="1.0" encoding="utf-8"?>
<p:tagLst xmlns:p="http://schemas.openxmlformats.org/presentationml/2006/main">
  <p:tag name="MD-PA" val="v1.0.0"/>
</p:tagLst>
</file>

<file path=ppt/tags/tag27.xml><?xml version="1.0" encoding="utf-8"?>
<p:tagLst xmlns:p="http://schemas.openxmlformats.org/presentationml/2006/main">
  <p:tag name="MD-PA" val="v1.0.0"/>
</p:tagLst>
</file>

<file path=ppt/tags/tag28.xml><?xml version="1.0" encoding="utf-8"?>
<p:tagLst xmlns:p="http://schemas.openxmlformats.org/presentationml/2006/main">
  <p:tag name="MD-PA" val="v1.0.0"/>
</p:tagLst>
</file>

<file path=ppt/tags/tag29.xml><?xml version="1.0" encoding="utf-8"?>
<p:tagLst xmlns:p="http://schemas.openxmlformats.org/presentationml/2006/main">
  <p:tag name="MD-PA" val="v1.0.0"/>
</p:tagLst>
</file>

<file path=ppt/tags/tag30.xml><?xml version="1.0" encoding="utf-8"?>
<p:tagLst xmlns:p="http://schemas.openxmlformats.org/presentationml/2006/main">
  <p:tag name="MD-PA" val="v1.0.0"/>
</p:tagLst>
</file>

<file path=ppt/tags/tag31.xml><?xml version="1.0" encoding="utf-8"?>
<p:tagLst xmlns:p="http://schemas.openxmlformats.org/presentationml/2006/main">
  <p:tag name="MD-PA" val="v1.0.0"/>
</p:tagLst>
</file>

<file path=ppt/tags/tag32.xml><?xml version="1.0" encoding="utf-8"?>
<p:tagLst xmlns:p="http://schemas.openxmlformats.org/presentationml/2006/main">
  <p:tag name="MD-PA" val="v1.0.0"/>
</p:tagLst>
</file>

<file path=ppt/tags/tag33.xml><?xml version="1.0" encoding="utf-8"?>
<p:tagLst xmlns:p="http://schemas.openxmlformats.org/presentationml/2006/main">
  <p:tag name="MD-PA" val="v1.0.0"/>
</p:tagLst>
</file>

<file path=ppt/tags/tag34.xml><?xml version="1.0" encoding="utf-8"?>
<p:tagLst xmlns:p="http://schemas.openxmlformats.org/presentationml/2006/main">
  <p:tag name="MD-PA" val="v1.0.0"/>
</p:tagLst>
</file>

<file path=ppt/tags/tag35.xml><?xml version="1.0" encoding="utf-8"?>
<p:tagLst xmlns:p="http://schemas.openxmlformats.org/presentationml/2006/main">
  <p:tag name="MD-PA" val="v1.0.0"/>
</p:tagLst>
</file>

<file path=ppt/tags/tag36.xml><?xml version="1.0" encoding="utf-8"?>
<p:tagLst xmlns:p="http://schemas.openxmlformats.org/presentationml/2006/main">
  <p:tag name="MD-PA" val="v1.0.0"/>
</p:tagLst>
</file>

<file path=ppt/tags/tag37.xml><?xml version="1.0" encoding="utf-8"?>
<p:tagLst xmlns:p="http://schemas.openxmlformats.org/presentationml/2006/main">
  <p:tag name="MD-PA" val="v1.0.0"/>
</p:tagLst>
</file>

<file path=ppt/tags/tag38.xml><?xml version="1.0" encoding="utf-8"?>
<p:tagLst xmlns:p="http://schemas.openxmlformats.org/presentationml/2006/main">
  <p:tag name="MD-PA" val="v1.0.0"/>
</p:tagLst>
</file>

<file path=ppt/tags/tag39.xml><?xml version="1.0" encoding="utf-8"?>
<p:tagLst xmlns:p="http://schemas.openxmlformats.org/presentationml/2006/main">
  <p:tag name="PA" val="v5.2.10"/>
</p:tagLst>
</file>

<file path=ppt/tags/tag40.xml><?xml version="1.0" encoding="utf-8"?>
<p:tagLst xmlns:p="http://schemas.openxmlformats.org/presentationml/2006/main">
  <p:tag name="PA" val="v5.2.10"/>
</p:tagLst>
</file>

<file path=ppt/tags/tag41.xml><?xml version="1.0" encoding="utf-8"?>
<p:tagLst xmlns:p="http://schemas.openxmlformats.org/presentationml/2006/main">
  <p:tag name="PA" val="v5.2.11"/>
</p:tagLst>
</file>

<file path=ppt/tags/tag42.xml><?xml version="1.0" encoding="utf-8"?>
<p:tagLst xmlns:p="http://schemas.openxmlformats.org/presentationml/2006/main">
  <p:tag name="PA" val="v5.2.10"/>
</p:tagLst>
</file>

<file path=ppt/tags/tag43.xml><?xml version="1.0" encoding="utf-8"?>
<p:tagLst xmlns:p="http://schemas.openxmlformats.org/presentationml/2006/main">
  <p:tag name="MD-PA" val="v1.0.0"/>
</p:tagLst>
</file>

<file path=ppt/tags/tag44.xml><?xml version="1.0" encoding="utf-8"?>
<p:tagLst xmlns:p="http://schemas.openxmlformats.org/presentationml/2006/main">
  <p:tag name="PA" val="v5.2.10"/>
</p:tagLst>
</file>

<file path=ppt/tags/tag45.xml><?xml version="1.0" encoding="utf-8"?>
<p:tagLst xmlns:p="http://schemas.openxmlformats.org/presentationml/2006/main">
  <p:tag name="PA" val="v5.2.10"/>
</p:tagLst>
</file>

<file path=ppt/tags/tag46.xml><?xml version="1.0" encoding="utf-8"?>
<p:tagLst xmlns:p="http://schemas.openxmlformats.org/presentationml/2006/main">
  <p:tag name="PA" val="v5.2.11"/>
</p:tagLst>
</file>

<file path=ppt/tags/tag47.xml><?xml version="1.0" encoding="utf-8"?>
<p:tagLst xmlns:p="http://schemas.openxmlformats.org/presentationml/2006/main">
  <p:tag name="PA" val="v5.2.10"/>
</p:tagLst>
</file>

<file path=ppt/tags/tag48.xml><?xml version="1.0" encoding="utf-8"?>
<p:tagLst xmlns:p="http://schemas.openxmlformats.org/presentationml/2006/main">
  <p:tag name="MD-PA" val="v1.0.0"/>
</p:tagLst>
</file>

<file path=ppt/tags/tag49.xml><?xml version="1.0" encoding="utf-8"?>
<p:tagLst xmlns:p="http://schemas.openxmlformats.org/presentationml/2006/main">
  <p:tag name="MD-PA" val="v1.0.0"/>
</p:tagLst>
</file>

<file path=ppt/tags/tag50.xml><?xml version="1.0" encoding="utf-8"?>
<p:tagLst xmlns:p="http://schemas.openxmlformats.org/presentationml/2006/main">
  <p:tag name="PA" val="v5.2.10"/>
</p:tagLst>
</file>

<file path=ppt/tags/tag51.xml><?xml version="1.0" encoding="utf-8"?>
<p:tagLst xmlns:p="http://schemas.openxmlformats.org/presentationml/2006/main">
  <p:tag name="PA" val="v5.2.10"/>
</p:tagLst>
</file>

<file path=ppt/tags/tag52.xml><?xml version="1.0" encoding="utf-8"?>
<p:tagLst xmlns:p="http://schemas.openxmlformats.org/presentationml/2006/main">
  <p:tag name="PA" val="v5.2.11"/>
</p:tagLst>
</file>

<file path=ppt/tags/tag53.xml><?xml version="1.0" encoding="utf-8"?>
<p:tagLst xmlns:p="http://schemas.openxmlformats.org/presentationml/2006/main">
  <p:tag name="PA" val="v5.2.10"/>
</p:tagLst>
</file>

<file path=ppt/tags/tag54.xml><?xml version="1.0" encoding="utf-8"?>
<p:tagLst xmlns:p="http://schemas.openxmlformats.org/presentationml/2006/main">
  <p:tag name="MD-PA" val="v1.0.0"/>
</p:tagLst>
</file>

<file path=ppt/tags/tag55.xml><?xml version="1.0" encoding="utf-8"?>
<p:tagLst xmlns:p="http://schemas.openxmlformats.org/presentationml/2006/main">
  <p:tag name="MD-PA" val="v1.0.0"/>
</p:tagLst>
</file>

<file path=ppt/tags/tag56.xml><?xml version="1.0" encoding="utf-8"?>
<p:tagLst xmlns:p="http://schemas.openxmlformats.org/presentationml/2006/main">
  <p:tag name="MD-PA" val="v1.0.0"/>
</p:tagLst>
</file>

<file path=ppt/tags/tag57.xml><?xml version="1.0" encoding="utf-8"?>
<p:tagLst xmlns:p="http://schemas.openxmlformats.org/presentationml/2006/main">
  <p:tag name="MD-PA" val="v1.0.0"/>
</p:tagLst>
</file>

<file path=ppt/tags/tag58.xml><?xml version="1.0" encoding="utf-8"?>
<p:tagLst xmlns:p="http://schemas.openxmlformats.org/presentationml/2006/main">
  <p:tag name="MD-PA" val="v1.0.0"/>
</p:tagLst>
</file>

<file path=ppt/tags/tag59.xml><?xml version="1.0" encoding="utf-8"?>
<p:tagLst xmlns:p="http://schemas.openxmlformats.org/presentationml/2006/main">
  <p:tag name="MD-PA" val="v1.0.0"/>
</p:tagLst>
</file>

<file path=ppt/tags/tag60.xml><?xml version="1.0" encoding="utf-8"?>
<p:tagLst xmlns:p="http://schemas.openxmlformats.org/presentationml/2006/main">
  <p:tag name="MD-PA" val="v1.0.0"/>
</p:tagLst>
</file>

<file path=ppt/tags/tag61.xml><?xml version="1.0" encoding="utf-8"?>
<p:tagLst xmlns:p="http://schemas.openxmlformats.org/presentationml/2006/main">
  <p:tag name="MD-PA" val="v1.0.0"/>
</p:tagLst>
</file>

<file path=ppt/tags/tag62.xml><?xml version="1.0" encoding="utf-8"?>
<p:tagLst xmlns:p="http://schemas.openxmlformats.org/presentationml/2006/main">
  <p:tag name="MD-PA" val="v1.0.0"/>
</p:tagLst>
</file>

<file path=ppt/tags/tag63.xml><?xml version="1.0" encoding="utf-8"?>
<p:tagLst xmlns:p="http://schemas.openxmlformats.org/presentationml/2006/main">
  <p:tag name="MD-PA" val="v1.0.0"/>
</p:tagLst>
</file>

<file path=ppt/tags/tag64.xml><?xml version="1.0" encoding="utf-8"?>
<p:tagLst xmlns:p="http://schemas.openxmlformats.org/presentationml/2006/main">
  <p:tag name="MD-PA" val="v1.0.0"/>
</p:tagLst>
</file>

<file path=ppt/tags/tag65.xml><?xml version="1.0" encoding="utf-8"?>
<p:tagLst xmlns:p="http://schemas.openxmlformats.org/presentationml/2006/main">
  <p:tag name="MD-PA" val="v1.0.0"/>
</p:tagLst>
</file>

<file path=ppt/tags/tag66.xml><?xml version="1.0" encoding="utf-8"?>
<p:tagLst xmlns:p="http://schemas.openxmlformats.org/presentationml/2006/main">
  <p:tag name="MD-PA" val="v1.0.0"/>
</p:tagLst>
</file>

<file path=ppt/tags/tag67.xml><?xml version="1.0" encoding="utf-8"?>
<p:tagLst xmlns:p="http://schemas.openxmlformats.org/presentationml/2006/main">
  <p:tag name="MD-PA" val="v1.0.0"/>
</p:tagLst>
</file>

<file path=ppt/tags/tag68.xml><?xml version="1.0" encoding="utf-8"?>
<p:tagLst xmlns:p="http://schemas.openxmlformats.org/presentationml/2006/main">
  <p:tag name="MD-PA" val="v1.0.0"/>
</p:tagLst>
</file>

<file path=ppt/tags/tag69.xml><?xml version="1.0" encoding="utf-8"?>
<p:tagLst xmlns:p="http://schemas.openxmlformats.org/presentationml/2006/main">
  <p:tag name="MD-PA" val="v1.0.0"/>
</p:tagLst>
</file>

<file path=ppt/tags/tag70.xml><?xml version="1.0" encoding="utf-8"?>
<p:tagLst xmlns:p="http://schemas.openxmlformats.org/presentationml/2006/main">
  <p:tag name="MD-PA" val="v1.0.0"/>
</p:tagLst>
</file>

<file path=ppt/tags/tag71.xml><?xml version="1.0" encoding="utf-8"?>
<p:tagLst xmlns:p="http://schemas.openxmlformats.org/presentationml/2006/main">
  <p:tag name="MD-PA" val="v1.0.0"/>
</p:tagLst>
</file>

<file path=ppt/tags/tag72.xml><?xml version="1.0" encoding="utf-8"?>
<p:tagLst xmlns:p="http://schemas.openxmlformats.org/presentationml/2006/main">
  <p:tag name="MD-PA" val="v1.0.0"/>
</p:tagLst>
</file>

<file path=ppt/tags/tag73.xml><?xml version="1.0" encoding="utf-8"?>
<p:tagLst xmlns:p="http://schemas.openxmlformats.org/presentationml/2006/main">
  <p:tag name="MD-PA" val="v1.0.0"/>
</p:tagLst>
</file>

<file path=ppt/tags/tag74.xml><?xml version="1.0" encoding="utf-8"?>
<p:tagLst xmlns:p="http://schemas.openxmlformats.org/presentationml/2006/main">
  <p:tag name="MD-PA" val="v1.0.0"/>
</p:tagLst>
</file>

<file path=ppt/tags/tag75.xml><?xml version="1.0" encoding="utf-8"?>
<p:tagLst xmlns:p="http://schemas.openxmlformats.org/presentationml/2006/main">
  <p:tag name="MD-PA" val="v1.0.0"/>
</p:tagLst>
</file>

<file path=ppt/tags/tag76.xml><?xml version="1.0" encoding="utf-8"?>
<p:tagLst xmlns:p="http://schemas.openxmlformats.org/presentationml/2006/main">
  <p:tag name="MD-PA" val="v1.0.0"/>
</p:tagLst>
</file>

<file path=ppt/tags/tag77.xml><?xml version="1.0" encoding="utf-8"?>
<p:tagLst xmlns:p="http://schemas.openxmlformats.org/presentationml/2006/main">
  <p:tag name="MD-PA" val="v1.0.0"/>
</p:tagLst>
</file>

<file path=ppt/tags/tag78.xml><?xml version="1.0" encoding="utf-8"?>
<p:tagLst xmlns:p="http://schemas.openxmlformats.org/presentationml/2006/main">
  <p:tag name="MD-PA" val="v1.0.0"/>
</p:tagLst>
</file>

<file path=ppt/tags/tag79.xml><?xml version="1.0" encoding="utf-8"?>
<p:tagLst xmlns:p="http://schemas.openxmlformats.org/presentationml/2006/main">
  <p:tag name="MD-PA" val="v1.0.0"/>
</p:tagLst>
</file>

<file path=ppt/tags/tag80.xml><?xml version="1.0" encoding="utf-8"?>
<p:tagLst xmlns:p="http://schemas.openxmlformats.org/presentationml/2006/main">
  <p:tag name="MD-PA" val="v1.0.0"/>
</p:tagLst>
</file>

<file path=ppt/tags/tag81.xml><?xml version="1.0" encoding="utf-8"?>
<p:tagLst xmlns:p="http://schemas.openxmlformats.org/presentationml/2006/main">
  <p:tag name="MD-PA" val="v1.0.0"/>
</p:tagLst>
</file>

<file path=ppt/tags/tag82.xml><?xml version="1.0" encoding="utf-8"?>
<p:tagLst xmlns:p="http://schemas.openxmlformats.org/presentationml/2006/main">
  <p:tag name="MD-PA" val="v1.0.0"/>
</p:tagLst>
</file>

<file path=ppt/tags/tag83.xml><?xml version="1.0" encoding="utf-8"?>
<p:tagLst xmlns:p="http://schemas.openxmlformats.org/presentationml/2006/main">
  <p:tag name="MD-PA" val="v1.0.0"/>
</p:tagLst>
</file>

<file path=ppt/tags/tag84.xml><?xml version="1.0" encoding="utf-8"?>
<p:tagLst xmlns:p="http://schemas.openxmlformats.org/presentationml/2006/main">
  <p:tag name="MD-PA" val="v1.0.0"/>
</p:tagLst>
</file>

<file path=ppt/tags/tag85.xml><?xml version="1.0" encoding="utf-8"?>
<p:tagLst xmlns:p="http://schemas.openxmlformats.org/presentationml/2006/main">
  <p:tag name="MD-PA" val="v1.0.0"/>
</p:tagLst>
</file>

<file path=ppt/tags/tag86.xml><?xml version="1.0" encoding="utf-8"?>
<p:tagLst xmlns:p="http://schemas.openxmlformats.org/presentationml/2006/main">
  <p:tag name="MD-PA" val="v1.0.0"/>
</p:tagLst>
</file>

<file path=ppt/tags/tag87.xml><?xml version="1.0" encoding="utf-8"?>
<p:tagLst xmlns:p="http://schemas.openxmlformats.org/presentationml/2006/main">
  <p:tag name="MD-PA" val="v1.0.0"/>
</p:tagLst>
</file>

<file path=ppt/tags/tag88.xml><?xml version="1.0" encoding="utf-8"?>
<p:tagLst xmlns:p="http://schemas.openxmlformats.org/presentationml/2006/main">
  <p:tag name="MD-PA" val="v1.0.0"/>
</p:tagLst>
</file>

<file path=ppt/tags/tag89.xml><?xml version="1.0" encoding="utf-8"?>
<p:tagLst xmlns:p="http://schemas.openxmlformats.org/presentationml/2006/main">
  <p:tag name="MD-PA" val="v1.0.0"/>
</p:tagLst>
</file>

<file path=ppt/tags/tag90.xml><?xml version="1.0" encoding="utf-8"?>
<p:tagLst xmlns:p="http://schemas.openxmlformats.org/presentationml/2006/main">
  <p:tag name="MD-PA" val="v1.0.0"/>
</p:tagLst>
</file>

<file path=ppt/tags/tag91.xml><?xml version="1.0" encoding="utf-8"?>
<p:tagLst xmlns:p="http://schemas.openxmlformats.org/presentationml/2006/main">
  <p:tag name="MD-PA" val="v1.0.0"/>
</p:tagLst>
</file>

<file path=ppt/tags/tag92.xml><?xml version="1.0" encoding="utf-8"?>
<p:tagLst xmlns:p="http://schemas.openxmlformats.org/presentationml/2006/main">
  <p:tag name="MD-PA" val="v1.0.0"/>
</p:tagLst>
</file>

<file path=ppt/tags/tag93.xml><?xml version="1.0" encoding="utf-8"?>
<p:tagLst xmlns:p="http://schemas.openxmlformats.org/presentationml/2006/main">
  <p:tag name="MD-PA" val="v1.0.0"/>
</p:tagLst>
</file>

<file path=ppt/tags/tag94.xml><?xml version="1.0" encoding="utf-8"?>
<p:tagLst xmlns:p="http://schemas.openxmlformats.org/presentationml/2006/main">
  <p:tag name="MD-PA" val="v1.0.0"/>
</p:tagLst>
</file>

<file path=ppt/tags/tag95.xml><?xml version="1.0" encoding="utf-8"?>
<p:tagLst xmlns:p="http://schemas.openxmlformats.org/presentationml/2006/main">
  <p:tag name="MD-PA" val="v1.0.0"/>
</p:tagLst>
</file>

<file path=ppt/tags/tag96.xml><?xml version="1.0" encoding="utf-8"?>
<p:tagLst xmlns:p="http://schemas.openxmlformats.org/presentationml/2006/main">
  <p:tag name="MD-PA" val="v1.0.0"/>
</p:tagLst>
</file>

<file path=ppt/tags/tag97.xml><?xml version="1.0" encoding="utf-8"?>
<p:tagLst xmlns:p="http://schemas.openxmlformats.org/presentationml/2006/main">
  <p:tag name="MD-PA" val="v1.0.0"/>
</p:tagLst>
</file>

<file path=ppt/tags/tag98.xml><?xml version="1.0" encoding="utf-8"?>
<p:tagLst xmlns:p="http://schemas.openxmlformats.org/presentationml/2006/main">
  <p:tag name="MD-PA" val="v1.0.0"/>
</p:tagLst>
</file>

<file path=ppt/tags/tag99.xml><?xml version="1.0" encoding="utf-8"?>
<p:tagLst xmlns:p="http://schemas.openxmlformats.org/presentationml/2006/main">
  <p:tag name="MD-PA" val="v1.0.0"/>
</p:tagLst>
</file>

<file path=ppt/tags/tag100.xml><?xml version="1.0" encoding="utf-8"?>
<p:tagLst xmlns:p="http://schemas.openxmlformats.org/presentationml/2006/main">
  <p:tag name="MD-PA" val="v1.0.0"/>
</p:tagLst>
</file>

<file path=ppt/tags/tag101.xml><?xml version="1.0" encoding="utf-8"?>
<p:tagLst xmlns:p="http://schemas.openxmlformats.org/presentationml/2006/main">
  <p:tag name="MD-PA" val="v1.0.0"/>
</p:tagLst>
</file>

<file path=ppt/tags/tag102.xml><?xml version="1.0" encoding="utf-8"?>
<p:tagLst xmlns:p="http://schemas.openxmlformats.org/presentationml/2006/main">
  <p:tag name="MD-PA" val="v1.0.0"/>
</p:tagLst>
</file>

<file path=ppt/tags/tag103.xml><?xml version="1.0" encoding="utf-8"?>
<p:tagLst xmlns:p="http://schemas.openxmlformats.org/presentationml/2006/main">
  <p:tag name="MD-PA" val="v1.0.0"/>
</p:tagLst>
</file>

<file path=ppt/tags/tag104.xml><?xml version="1.0" encoding="utf-8"?>
<p:tagLst xmlns:p="http://schemas.openxmlformats.org/presentationml/2006/main">
  <p:tag name="MD-PA" val="v1.0.0"/>
</p:tagLst>
</file>

<file path=ppt/tags/tag105.xml><?xml version="1.0" encoding="utf-8"?>
<p:tagLst xmlns:p="http://schemas.openxmlformats.org/presentationml/2006/main">
  <p:tag name="MD-PA" val="v1.0.0"/>
</p:tagLst>
</file>

<file path=ppt/tags/tag106.xml><?xml version="1.0" encoding="utf-8"?>
<p:tagLst xmlns:p="http://schemas.openxmlformats.org/presentationml/2006/main">
  <p:tag name="MD-PA" val="v1.0.0"/>
</p:tagLst>
</file>

<file path=ppt/tags/tag107.xml><?xml version="1.0" encoding="utf-8"?>
<p:tagLst xmlns:p="http://schemas.openxmlformats.org/presentationml/2006/main">
  <p:tag name="MD-PA" val="v1.0.0"/>
</p:tagLst>
</file>

<file path=ppt/tags/tag108.xml><?xml version="1.0" encoding="utf-8"?>
<p:tagLst xmlns:p="http://schemas.openxmlformats.org/presentationml/2006/main">
  <p:tag name="MD-PA" val="v1.0.0"/>
</p:tagLst>
</file>

<file path=ppt/tags/tag109.xml><?xml version="1.0" encoding="utf-8"?>
<p:tagLst xmlns:p="http://schemas.openxmlformats.org/presentationml/2006/main">
  <p:tag name="MD-PA" val="v1.0.0"/>
</p:tagLst>
</file>

<file path=ppt/tags/tag110.xml><?xml version="1.0" encoding="utf-8"?>
<p:tagLst xmlns:p="http://schemas.openxmlformats.org/presentationml/2006/main">
  <p:tag name="MD-PA" val="v1.0.0"/>
</p:tagLst>
</file>

<file path=ppt/tags/tag111.xml><?xml version="1.0" encoding="utf-8"?>
<p:tagLst xmlns:p="http://schemas.openxmlformats.org/presentationml/2006/main">
  <p:tag name="MD-PA" val="v1.0.0"/>
</p:tagLst>
</file>

<file path=ppt/tags/tag112.xml><?xml version="1.0" encoding="utf-8"?>
<p:tagLst xmlns:p="http://schemas.openxmlformats.org/presentationml/2006/main">
  <p:tag name="MD-PA" val="v1.0.0"/>
</p:tagLst>
</file>

<file path=ppt/tags/tag113.xml><?xml version="1.0" encoding="utf-8"?>
<p:tagLst xmlns:p="http://schemas.openxmlformats.org/presentationml/2006/main">
  <p:tag name="MD-PA" val="v1.0.0"/>
</p:tagLst>
</file>

<file path=ppt/tags/tag114.xml><?xml version="1.0" encoding="utf-8"?>
<p:tagLst xmlns:p="http://schemas.openxmlformats.org/presentationml/2006/main">
  <p:tag name="MD-PA" val="v1.0.0"/>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自定义 2743">
      <a:dk1>
        <a:srgbClr val="262626"/>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15153</Words>
  <Application>WPS 演示</Application>
  <PresentationFormat>宽屏</PresentationFormat>
  <Paragraphs>981</Paragraphs>
  <Slides>70</Slides>
  <Notes>12</Notes>
  <HiddenSlides>0</HiddenSlides>
  <MMClips>0</MMClips>
  <ScaleCrop>false</ScaleCrop>
  <HeadingPairs>
    <vt:vector size="6" baseType="variant">
      <vt:variant>
        <vt:lpstr>已用的字体</vt:lpstr>
      </vt:variant>
      <vt:variant>
        <vt:i4>28</vt:i4>
      </vt:variant>
      <vt:variant>
        <vt:lpstr>主题</vt:lpstr>
      </vt:variant>
      <vt:variant>
        <vt:i4>2</vt:i4>
      </vt:variant>
      <vt:variant>
        <vt:lpstr>幻灯片标题</vt:lpstr>
      </vt:variant>
      <vt:variant>
        <vt:i4>70</vt:i4>
      </vt:variant>
    </vt:vector>
  </HeadingPairs>
  <TitlesOfParts>
    <vt:vector size="100" baseType="lpstr">
      <vt:lpstr>Arial</vt:lpstr>
      <vt:lpstr>宋体</vt:lpstr>
      <vt:lpstr>Wingdings</vt:lpstr>
      <vt:lpstr>思源黑体 CN Medium</vt:lpstr>
      <vt:lpstr>黑体</vt:lpstr>
      <vt:lpstr>阿里巴巴普惠体 H</vt:lpstr>
      <vt:lpstr>阿里巴巴普惠体 M</vt:lpstr>
      <vt:lpstr>思源宋体 CN Heavy</vt:lpstr>
      <vt:lpstr>汉仪旗黑-50S</vt:lpstr>
      <vt:lpstr>Segoe UI</vt:lpstr>
      <vt:lpstr>阿里巴巴普惠体 B</vt:lpstr>
      <vt:lpstr>思源黑体 CN Normal</vt:lpstr>
      <vt:lpstr>等线</vt:lpstr>
      <vt:lpstr>微软雅黑</vt:lpstr>
      <vt:lpstr>Arial Unicode MS</vt:lpstr>
      <vt:lpstr>等线 Light</vt:lpstr>
      <vt:lpstr>Calibri Light</vt:lpstr>
      <vt:lpstr>Symbol</vt:lpstr>
      <vt:lpstr>思源黑体 CN Bold</vt:lpstr>
      <vt:lpstr>思源黑体 CN Normal</vt:lpstr>
      <vt:lpstr>字魂105号-简雅黑</vt:lpstr>
      <vt:lpstr>Segoe UI</vt:lpstr>
      <vt:lpstr>Times New Roman</vt:lpstr>
      <vt:lpstr>Calibri</vt:lpstr>
      <vt:lpstr>FZFSK--GBK1-0</vt:lpstr>
      <vt:lpstr>TimesNewRomanPSMT</vt:lpstr>
      <vt:lpstr>FZHTK--GBK1-0</vt:lpstr>
      <vt:lpstr>ksdb</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宽带互联网接入量</vt:lpstr>
      <vt:lpstr>接入他国（国际）宽带规模</vt:lpstr>
      <vt:lpstr>PowerPoint 演示文稿</vt:lpstr>
      <vt:lpstr>PowerPoint 演示文稿</vt:lpstr>
      <vt:lpstr>人工智能核心产业规模</vt:lpstr>
      <vt:lpstr>PowerPoint 演示文稿</vt:lpstr>
      <vt:lpstr>人工智能垂直场景</vt:lpstr>
      <vt:lpstr>新兴潜力AI垂直场景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我国数字经济对于其他经济体的优势（1）</vt:lpstr>
      <vt:lpstr>我国数字经济对于其他经济体的优势（2）</vt:lpstr>
      <vt:lpstr>我国数字经济对于其他经济体的优势（3）</vt:lpstr>
      <vt:lpstr>PowerPoint 演示文稿</vt:lpstr>
      <vt:lpstr>我国数字经济相对于传统产业的新优势(1)</vt:lpstr>
      <vt:lpstr>我国数字经济相对于传统产业的新优势(2)</vt:lpstr>
      <vt:lpstr>我国数字经济相对于传统产业的新优势(3)</vt:lpstr>
      <vt:lpstr>我国发展数字经济的关键路径与政策支撑 </vt:lpstr>
      <vt:lpstr>总结：数字经济发展的关键路径与政策</vt:lpstr>
      <vt:lpstr>总结：数字经济发展的关键路径与政策(2)</vt:lpstr>
      <vt:lpstr>总结：数字经济发展的关键路径与政策(3)</vt:lpstr>
      <vt:lpstr>总结：数字经济发展的关键路径与政策(4)</vt:lpstr>
      <vt:lpstr>总结：数字经济发展的关键路径与政策(5)</vt:lpstr>
      <vt:lpstr>政策来源全称列表</vt:lpstr>
      <vt:lpstr>政策来源全称列表</vt:lpstr>
      <vt:lpstr>总结：数字经济发展的关键路径与政策(6)</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SZ.Han</cp:lastModifiedBy>
  <cp:revision>50</cp:revision>
  <dcterms:created xsi:type="dcterms:W3CDTF">2025-06-15T14:05:00Z</dcterms:created>
  <dcterms:modified xsi:type="dcterms:W3CDTF">2025-08-06T01:53:51Z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6BAF04EDD1C14A2D9539C740FDF69B91_12</vt:lpwstr>
  </property>
  <property fmtid="{D5CDD505-2E9C-101B-9397-08002B2CF9AE}" pid="3" name="KSOProductBuildVer">
    <vt:lpwstr>2052-12.1.0.21541</vt:lpwstr>
  </property>
</Properties>
</file>